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b53b9ddddc4170" /><Relationship Type="http://schemas.openxmlformats.org/officeDocument/2006/relationships/extended-properties" Target="/docProps/app.xml" Id="Rb98ac43187324a28" /><Relationship Type="http://schemas.openxmlformats.org/officeDocument/2006/relationships/officeDocument" Target="/ppt/presentation.xml" Id="Rd79bfbbb883e4b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e15ddc9d494737"/>
  </p:sldMasterIdLst>
  <p:notesMasterIdLst>
    <p:notesMasterId xmlns:r="http://schemas.openxmlformats.org/officeDocument/2006/relationships" r:id="Rb59bb81da27543c6"/>
  </p:notesMasterIdLst>
  <p:sldIdLst>
    <p:sldId xmlns:r="http://schemas.openxmlformats.org/officeDocument/2006/relationships" id="256" r:id="Rfa480ed98f44484b"/>
    <p:sldId xmlns:r="http://schemas.openxmlformats.org/officeDocument/2006/relationships" id="257" r:id="R0eb4b637e1644b11"/>
    <p:sldId xmlns:r="http://schemas.openxmlformats.org/officeDocument/2006/relationships" id="258" r:id="R7feedb210b534bf1"/>
    <p:sldId xmlns:r="http://schemas.openxmlformats.org/officeDocument/2006/relationships" id="259" r:id="R25ea8ebcda8c40a9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15ddc9d494737" /><Relationship Type="http://schemas.openxmlformats.org/officeDocument/2006/relationships/theme" Target="/ppt/theme/theme1.xml" Id="R0ef6a934b5784521" /><Relationship Type="http://schemas.openxmlformats.org/officeDocument/2006/relationships/notesMaster" Target="/ppt/notesMasters/notesMaster1.xml" Id="Rb59bb81da27543c6" /><Relationship Type="http://schemas.openxmlformats.org/officeDocument/2006/relationships/presProps" Target="/ppt/presProps.xml" Id="Read8ece93d9d45fd" /><Relationship Type="http://schemas.openxmlformats.org/officeDocument/2006/relationships/viewProps" Target="/ppt/viewProps.xml" Id="Ra5b0a34312ca41af" /><Relationship Type="http://schemas.openxmlformats.org/officeDocument/2006/relationships/tableStyles" Target="/ppt/tableStyles.xml" Id="R3d6230c7a24c40dc" /><Relationship Type="http://schemas.openxmlformats.org/officeDocument/2006/relationships/slide" Target="/ppt/slides/slide1.xml" Id="Rfa480ed98f44484b" /><Relationship Type="http://schemas.openxmlformats.org/officeDocument/2006/relationships/slide" Target="/ppt/slides/slide2.xml" Id="R0eb4b637e1644b11" /><Relationship Type="http://schemas.openxmlformats.org/officeDocument/2006/relationships/slide" Target="/ppt/slides/slide3.xml" Id="R7feedb210b534bf1" /><Relationship Type="http://schemas.openxmlformats.org/officeDocument/2006/relationships/slide" Target="/ppt/slides/slide4.xml" Id="R25ea8ebcda8c40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2cbb10b87514c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9a4315b2464532" /><Relationship Type="http://schemas.openxmlformats.org/officeDocument/2006/relationships/notesMaster" Target="/ppt/notesMasters/notesMaster1.xml" Id="Rcfe53e6463fb4f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d1b64f5bd54328" /><Relationship Type="http://schemas.openxmlformats.org/officeDocument/2006/relationships/notesMaster" Target="/ppt/notesMasters/notesMaster1.xml" Id="Ra8061f7a99eb44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dbba9ae8c24d42" /><Relationship Type="http://schemas.openxmlformats.org/officeDocument/2006/relationships/notesMaster" Target="/ppt/notesMasters/notesMaster1.xml" Id="Re886bdfae9e840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c57389c822486c" /><Relationship Type="http://schemas.openxmlformats.org/officeDocument/2006/relationships/notesMaster" Target="/ppt/notesMasters/notesMaster1.xml" Id="Rfa2a080de7c54d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07e38f0684f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ae4b39b6ee4f9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8babef8114f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1ffb2b03d344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d1b0cabd5c4d0a" /></Relationships>
</file>

<file path=ppt/slideLayouts/slideLayout2.xml><?xml version="1.0" encoding="utf-8"?>
<p:sldLayout xmlns:p="http://schemas.openxmlformats.org/presentationml/2006/main" type="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E1A75F7B-7C9F-4917-B6AA-A80C0D3266D6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1AD8FF3B-D544-4E53-95B9-38D8461CB6AA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457200" y="1183005"/>
            <a:ext cx="3977640" cy="33947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0D4DD773-5EB4-40F8-AC67-A4819F8A3F70}"/>
              </a:ext>
            </a:extLst>
          </p:cNvPr>
          <p:cNvSpPr/>
          <p:nvPr>
            <p:ph idx="3"/>
          </p:nvPr>
        </p:nvSpPr>
        <p:spPr>
          <a:xfrm xmlns:a="http://schemas.openxmlformats.org/drawingml/2006/main">
            <a:off x="4709159" y="1183005"/>
            <a:ext cx="3977640" cy="33947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52EDB4E1-733B-45D1-A911-9668DFA1010F}"/>
              </a:ext>
            </a:extLst>
          </p:cNvPr>
          <p:cNvSpPr/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A9468075-19A5-44DD-929F-FDB97B0A9C46}"/>
              </a:ext>
            </a:extLst>
          </p:cNvPr>
          <p:cNvSpPr/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0403C0C6-76E1-4CE0-B67D-E54316084711}"/>
              </a:ext>
            </a:extLst>
          </p:cNvPr>
          <p:cNvSpPr/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842E4E20-B921-45CE-AAB6-E921D688222E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FEBCD418-1A65-49AA-B469-D9FCA2D466CC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b="0" i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2402D683-3543-4519-8525-32BB6F05543D}"/>
              </a:ext>
            </a:extLst>
          </p:cNvPr>
          <p:cNvSpPr/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B9158997-6D1A-4BFF-ADD1-ABC8EB940D8A}"/>
              </a:ext>
            </a:extLst>
          </p:cNvPr>
          <p:cNvSpPr/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7E573441-9B7A-419F-B659-8403F5127DB4}"/>
              </a:ext>
            </a:extLst>
          </p:cNvPr>
          <p:cNvSpPr/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obj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39CE6E6C-6324-46E3-868D-40D4D10A319A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685800" y="1594485"/>
            <a:ext cx="7772400" cy="10801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D49F1804-3E4B-4A85-A306-ABE5618FBAC1}"/>
              </a:ext>
            </a:extLst>
          </p:cNvPr>
          <p:cNvSpPr/>
          <p:nvPr>
            <p:ph type="subTitle" idx="4"/>
          </p:nvPr>
        </p:nvSpPr>
        <p:spPr>
          <a:xfrm xmlns:a="http://schemas.openxmlformats.org/drawingml/2006/main">
            <a:off x="1371600" y="2880360"/>
            <a:ext cx="6400798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784992B6-5502-4B18-ACA7-3EF3538AD8B2}"/>
              </a:ext>
            </a:extLst>
          </p:cNvPr>
          <p:cNvSpPr/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1BEFCFFC-A242-48F9-A5B1-7D7E900FC665}"/>
              </a:ext>
            </a:extLst>
          </p:cNvPr>
          <p:cNvSpPr/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007CB2B8-5A08-46BD-974A-75CF3329AA3A}"/>
              </a:ext>
            </a:extLst>
          </p:cNvPr>
          <p:cNvSpPr/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EE9EADEA-DAC8-4A3C-A28C-D4EA3AD08F52}"/>
              </a:ext>
            </a:extLst>
          </p:cNvPr>
          <p:cNvSpPr/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4900673C-9309-409A-AD80-16D5FBDC4296}"/>
              </a:ext>
            </a:extLst>
          </p:cNvPr>
          <p:cNvSpPr/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A462632-F328-4872-B4FA-BF5809E06E18}"/>
              </a:ext>
            </a:extLst>
          </p:cNvPr>
          <p:cNvSpPr/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obj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3C36DB0-EFD8-4EC2-A1F9-F4B3576D6D58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1AFD958A-AFE3-4AEE-9A03-C48F5EF781BE}"/>
              </a:ext>
            </a:extLst>
          </p:cNvPr>
          <p:cNvSpPr/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D33F88E4-14F3-4AB9-9A1E-434DBA83D698}"/>
              </a:ext>
            </a:extLst>
          </p:cNvPr>
          <p:cNvSpPr/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AFF14FF2-84E9-4291-AED9-85A9605F19B0}"/>
              </a:ext>
            </a:extLst>
          </p:cNvPr>
          <p:cNvSpPr/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a3ff99278ed4f22" /><Relationship Type="http://schemas.openxmlformats.org/officeDocument/2006/relationships/slideLayout" Target="/ppt/slideLayouts/slideLayout2.xml" Id="R4ea01275ede24c24" /><Relationship Type="http://schemas.openxmlformats.org/officeDocument/2006/relationships/slideLayout" Target="/ppt/slideLayouts/slideLayout3.xml" Id="R429de84c3a3644c1" /><Relationship Type="http://schemas.openxmlformats.org/officeDocument/2006/relationships/slideLayout" Target="/ppt/slideLayouts/slideLayout4.xml" Id="R782929447fa94e6d" /><Relationship Type="http://schemas.openxmlformats.org/officeDocument/2006/relationships/slideLayout" Target="/ppt/slideLayouts/slideLayout5.xml" Id="R844fac1ec0474463" /><Relationship Type="http://schemas.openxmlformats.org/officeDocument/2006/relationships/slideLayout" Target="/ppt/slideLayouts/slideLayout6.xml" Id="Raff681e0ddaa42a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E5BE4822-0C4F-464B-A82D-7B9724D32150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1815" y="521822"/>
            <a:ext cx="8240369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ED3EC432-7BC3-42AC-B753-63FA9A049C76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312292" y="1347216"/>
            <a:ext cx="8519414" cy="27800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b="0" i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B079AC6A-4884-425B-9DDA-FBBB7D56C4A5}"/>
              </a:ext>
            </a:extLst>
          </p:cNvPr>
          <p:cNvSpPr/>
          <p:nvPr>
            <p:ph type="ftr" idx="5"/>
          </p:nvPr>
        </p:nvSpPr>
        <p:spPr>
          <a:xfrm xmlns:a="http://schemas.openxmlformats.org/drawingml/2006/main">
            <a:off x="3108960" y="4783455"/>
            <a:ext cx="2926079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F4D6B975-BEA5-4092-8608-C1B154FF03AB}"/>
              </a:ext>
            </a:extLst>
          </p:cNvPr>
          <p:cNvSpPr/>
          <p:nvPr>
            <p:ph type="dt" idx="6"/>
          </p:nvPr>
        </p:nvSpPr>
        <p:spPr>
          <a:xfrm xmlns:a="http://schemas.openxmlformats.org/drawingml/2006/main">
            <a:off x="457200" y="4783455"/>
            <a:ext cx="210312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E7151917-B081-418D-877C-55C8AF75311E}"/>
              </a:ext>
            </a:extLst>
          </p:cNvPr>
          <p:cNvSpPr/>
          <p:nvPr>
            <p:ph type="sldNum" idx="7"/>
          </p:nvPr>
        </p:nvSpPr>
        <p:spPr>
          <a:xfrm xmlns:a="http://schemas.openxmlformats.org/drawingml/2006/main">
            <a:off x="6583680" y="4783455"/>
            <a:ext cx="210312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a01275ede24c24"/>
    <p:sldLayoutId xmlns:r="http://schemas.openxmlformats.org/officeDocument/2006/relationships" id="2147483650" r:id="R429de84c3a3644c1"/>
    <p:sldLayoutId xmlns:r="http://schemas.openxmlformats.org/officeDocument/2006/relationships" id="2147483651" r:id="R782929447fa94e6d"/>
    <p:sldLayoutId xmlns:r="http://schemas.openxmlformats.org/officeDocument/2006/relationships" id="2147483652" r:id="R844fac1ec0474463"/>
    <p:sldLayoutId xmlns:r="http://schemas.openxmlformats.org/officeDocument/2006/relationships" id="2147483653" r:id="Raff681e0ddaa42aa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457200">
        <a:buNone/>
        <a:defRPr>
          <a:latin typeface="+mn-lt"/>
          <a:ea typeface="+mn-lt"/>
          <a:cs typeface="+mn-lt"/>
        </a:defRPr>
      </a:lvl2pPr>
      <a:lvl3pPr xmlns:a="http://schemas.openxmlformats.org/drawingml/2006/main" marL="914400">
        <a:buNone/>
        <a:defRPr>
          <a:latin typeface="+mn-lt"/>
          <a:ea typeface="+mn-lt"/>
          <a:cs typeface="+mn-lt"/>
        </a:defRPr>
      </a:lvl3pPr>
      <a:lvl4pPr xmlns:a="http://schemas.openxmlformats.org/drawingml/2006/main" marL="1371600">
        <a:buNone/>
        <a:defRPr>
          <a:latin typeface="+mn-lt"/>
          <a:ea typeface="+mn-lt"/>
          <a:cs typeface="+mn-lt"/>
        </a:defRPr>
      </a:lvl4pPr>
      <a:lvl5pPr xmlns:a="http://schemas.openxmlformats.org/drawingml/2006/main" marL="1828800">
        <a:buNone/>
        <a:defRPr>
          <a:latin typeface="+mn-lt"/>
          <a:ea typeface="+mn-lt"/>
          <a:cs typeface="+mn-lt"/>
        </a:defRPr>
      </a:lvl5pPr>
      <a:lvl6pPr xmlns:a="http://schemas.openxmlformats.org/drawingml/2006/main" marL="2286000">
        <a:buNone/>
        <a:defRPr>
          <a:latin typeface="+mn-lt"/>
          <a:ea typeface="+mn-lt"/>
          <a:cs typeface="+mn-lt"/>
        </a:defRPr>
      </a:lvl6pPr>
      <a:lvl7pPr xmlns:a="http://schemas.openxmlformats.org/drawingml/2006/main" marL="2743200">
        <a:buNone/>
        <a:defRPr>
          <a:latin typeface="+mn-lt"/>
          <a:ea typeface="+mn-lt"/>
          <a:cs typeface="+mn-lt"/>
        </a:defRPr>
      </a:lvl7pPr>
      <a:lvl8pPr xmlns:a="http://schemas.openxmlformats.org/drawingml/2006/main" marL="320040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ff4be130204ecb" /><Relationship Type="http://schemas.openxmlformats.org/officeDocument/2006/relationships/image" Target="/ppt/media/image.png" Id="R8133db0ff1a94af3" /><Relationship Type="http://schemas.openxmlformats.org/officeDocument/2006/relationships/image" Target="/ppt/media/image2.png" Id="R415bc0475c8b4742" /><Relationship Type="http://schemas.openxmlformats.org/officeDocument/2006/relationships/image" Target="/ppt/media/image3.png" Id="R3e62204df973410f" /><Relationship Type="http://schemas.openxmlformats.org/officeDocument/2006/relationships/image" Target="/ppt/media/image4.png" Id="Rabf1fff3cc594f15" /><Relationship Type="http://schemas.openxmlformats.org/officeDocument/2006/relationships/notesSlide" Target="/ppt/notesSlides/notesSlide1.xml" Id="R608c6dbe2e2e46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342dc26cbc40d3" /><Relationship Type="http://schemas.openxmlformats.org/officeDocument/2006/relationships/image" Target="/ppt/media/image.png" Id="Rb0bc7741e8444832" /><Relationship Type="http://schemas.openxmlformats.org/officeDocument/2006/relationships/image" Target="/ppt/media/image2.png" Id="R684421c3a9c949f6" /><Relationship Type="http://schemas.openxmlformats.org/officeDocument/2006/relationships/image" Target="/ppt/media/image3.png" Id="Rab0541b851b24f67" /><Relationship Type="http://schemas.openxmlformats.org/officeDocument/2006/relationships/image" Target="/ppt/media/image4.png" Id="Rbea404d8639947ff" /><Relationship Type="http://schemas.openxmlformats.org/officeDocument/2006/relationships/notesSlide" Target="/ppt/notesSlides/notesSlide2.xml" Id="R1cb38ea11e1f49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4bfbea435e4856" /><Relationship Type="http://schemas.openxmlformats.org/officeDocument/2006/relationships/image" Target="/ppt/media/image.png" Id="R789988406f6f47a1" /><Relationship Type="http://schemas.openxmlformats.org/officeDocument/2006/relationships/image" Target="/ppt/media/image2.png" Id="R5ed7fe7afa2a4fc8" /><Relationship Type="http://schemas.openxmlformats.org/officeDocument/2006/relationships/image" Target="/ppt/media/image3.png" Id="Ra76f6ad8444f43ad" /><Relationship Type="http://schemas.openxmlformats.org/officeDocument/2006/relationships/image" Target="/ppt/media/image4.png" Id="R24ba69992bda488c" /><Relationship Type="http://schemas.openxmlformats.org/officeDocument/2006/relationships/notesSlide" Target="/ppt/notesSlides/notesSlide3.xml" Id="Rd06629f606ac4e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8346cc35eb46b7" /><Relationship Type="http://schemas.openxmlformats.org/officeDocument/2006/relationships/image" Target="/ppt/media/image.png" Id="R5b62ea155d0a4ede" /><Relationship Type="http://schemas.openxmlformats.org/officeDocument/2006/relationships/image" Target="/ppt/media/image2.png" Id="Ra9d85de327d344d2" /><Relationship Type="http://schemas.openxmlformats.org/officeDocument/2006/relationships/image" Target="/ppt/media/image3.png" Id="R97d8c406f0fe40aa" /><Relationship Type="http://schemas.openxmlformats.org/officeDocument/2006/relationships/image" Target="/ppt/media/image4.png" Id="R27ce71fd6abd42ca" /><Relationship Type="http://schemas.openxmlformats.org/officeDocument/2006/relationships/notesSlide" Target="/ppt/notesSlides/notesSlide4.xml" Id="R95504c36cd7b492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05916841-B295-CA37-2753-CBDB85A9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76" y="1203960"/>
            <a:ext cx="2377440" cy="388620"/>
          </a:xfrm>
          <a:custGeom xmlns:a="http://schemas.openxmlformats.org/drawingml/2006/main">
            <a:rect l="l" t="t" r="r" b="b"/>
            <a:pathLst>
              <a:path w="2377440" h="388619">
                <a:moveTo>
                  <a:pt x="2182368" y="388619"/>
                </a:moveTo>
                <a:lnTo>
                  <a:pt x="193548" y="388619"/>
                </a:lnTo>
                <a:lnTo>
                  <a:pt x="177665" y="387999"/>
                </a:lnTo>
                <a:lnTo>
                  <a:pt x="132307" y="378793"/>
                </a:lnTo>
                <a:lnTo>
                  <a:pt x="91448" y="359624"/>
                </a:lnTo>
                <a:lnTo>
                  <a:pt x="56461" y="331847"/>
                </a:lnTo>
                <a:lnTo>
                  <a:pt x="28819" y="296980"/>
                </a:lnTo>
                <a:lnTo>
                  <a:pt x="9717" y="256191"/>
                </a:lnTo>
                <a:lnTo>
                  <a:pt x="589" y="210921"/>
                </a:lnTo>
                <a:lnTo>
                  <a:pt x="0" y="195071"/>
                </a:lnTo>
                <a:lnTo>
                  <a:pt x="589" y="179050"/>
                </a:lnTo>
                <a:lnTo>
                  <a:pt x="9717" y="133362"/>
                </a:lnTo>
                <a:lnTo>
                  <a:pt x="28819" y="92277"/>
                </a:lnTo>
                <a:lnTo>
                  <a:pt x="56610" y="57056"/>
                </a:lnTo>
                <a:lnTo>
                  <a:pt x="91531" y="29231"/>
                </a:lnTo>
                <a:lnTo>
                  <a:pt x="132336" y="9986"/>
                </a:lnTo>
                <a:lnTo>
                  <a:pt x="177667" y="667"/>
                </a:lnTo>
                <a:lnTo>
                  <a:pt x="193548" y="0"/>
                </a:lnTo>
                <a:lnTo>
                  <a:pt x="2182368" y="0"/>
                </a:lnTo>
                <a:lnTo>
                  <a:pt x="2229217" y="5712"/>
                </a:lnTo>
                <a:lnTo>
                  <a:pt x="2271943" y="21813"/>
                </a:lnTo>
                <a:lnTo>
                  <a:pt x="2309199" y="46965"/>
                </a:lnTo>
                <a:lnTo>
                  <a:pt x="2339631" y="79836"/>
                </a:lnTo>
                <a:lnTo>
                  <a:pt x="2361783" y="118838"/>
                </a:lnTo>
                <a:lnTo>
                  <a:pt x="2374515" y="162956"/>
                </a:lnTo>
                <a:lnTo>
                  <a:pt x="2377059" y="194475"/>
                </a:lnTo>
                <a:lnTo>
                  <a:pt x="2376414" y="210409"/>
                </a:lnTo>
                <a:lnTo>
                  <a:pt x="2367149" y="255886"/>
                </a:lnTo>
                <a:lnTo>
                  <a:pt x="2347930" y="296816"/>
                </a:lnTo>
                <a:lnTo>
                  <a:pt x="2320018" y="331922"/>
                </a:lnTo>
                <a:lnTo>
                  <a:pt x="2284953" y="359650"/>
                </a:lnTo>
                <a:lnTo>
                  <a:pt x="2243954" y="378798"/>
                </a:lnTo>
                <a:lnTo>
                  <a:pt x="2198356" y="387999"/>
                </a:lnTo>
                <a:lnTo>
                  <a:pt x="2182368" y="388619"/>
                </a:lnTo>
                <a:close/>
              </a:path>
            </a:pathLst>
          </a:custGeom>
          <a:solidFill xmlns:a="http://schemas.openxmlformats.org/drawingml/2006/main">
            <a:srgbClr val="00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24F10EE6-A96F-F2B0-324F-221BC932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859" y="1686598"/>
            <a:ext cx="3531285" cy="125477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8133db0ff1a94af3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DDCE0049-82CC-9491-B869-41D21C92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325" y="3088398"/>
            <a:ext cx="3458819" cy="125171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15bc0475c8b4742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0DEECB41-A312-380B-6325-A8C614FF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127" y="2209998"/>
            <a:ext cx="237490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核心发现</a:t>
            </a:r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43C93230-CEA0-CE0E-718C-54BFC73D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127" y="2415738"/>
            <a:ext cx="23749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高煤炭暴露地区在政策后显著降低能源和煤炭使用强度。</a:t>
            </a: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7CC93EB-3C9C-79E8-E643-6E27C9DE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129" y="3608738"/>
            <a:ext cx="2374900" cy="1384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解释边界</a:t>
            </a:r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5262670A-FECF-DE3F-6AFE-74A2172D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129" y="3814478"/>
            <a:ext cx="23749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绿色全要素生产率与全局ML指数不显著，不能写成生产率跃升。</a:t>
            </a: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D07B1F19-827F-8D85-40B1-B5CB2647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552" y="1306526"/>
            <a:ext cx="737235" cy="213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强度压降</a:t>
            </a: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A0518D75-6A3E-69DE-CC3A-9BB0FC20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35" y="173583"/>
            <a:ext cx="150418" cy="72155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e62204df973410f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8400D909-1BAC-436D-AE0A-6D1E491C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323" y="0"/>
            <a:ext cx="1979930" cy="1491615"/>
          </a:xfrm>
          <a:custGeom xmlns:a="http://schemas.openxmlformats.org/drawingml/2006/main">
            <a:rect l="l" t="t" r="r" b="b"/>
            <a:pathLst>
              <a:path w="1979929" h="1491615">
                <a:moveTo>
                  <a:pt x="1259903" y="1491615"/>
                </a:moveTo>
                <a:lnTo>
                  <a:pt x="1156551" y="1487437"/>
                </a:lnTo>
                <a:lnTo>
                  <a:pt x="1055500" y="1475121"/>
                </a:lnTo>
                <a:lnTo>
                  <a:pt x="957073" y="1454991"/>
                </a:lnTo>
                <a:lnTo>
                  <a:pt x="861596" y="1427370"/>
                </a:lnTo>
                <a:lnTo>
                  <a:pt x="769393" y="1392584"/>
                </a:lnTo>
                <a:lnTo>
                  <a:pt x="680788" y="1350957"/>
                </a:lnTo>
                <a:lnTo>
                  <a:pt x="596107" y="1302813"/>
                </a:lnTo>
                <a:lnTo>
                  <a:pt x="515689" y="1248488"/>
                </a:lnTo>
                <a:lnTo>
                  <a:pt x="439832" y="1188288"/>
                </a:lnTo>
                <a:lnTo>
                  <a:pt x="368871" y="1122545"/>
                </a:lnTo>
                <a:lnTo>
                  <a:pt x="303132" y="1051583"/>
                </a:lnTo>
                <a:lnTo>
                  <a:pt x="242939" y="975728"/>
                </a:lnTo>
                <a:lnTo>
                  <a:pt x="188617" y="895304"/>
                </a:lnTo>
                <a:lnTo>
                  <a:pt x="140490" y="810635"/>
                </a:lnTo>
                <a:lnTo>
                  <a:pt x="98883" y="722045"/>
                </a:lnTo>
                <a:lnTo>
                  <a:pt x="64120" y="629860"/>
                </a:lnTo>
                <a:lnTo>
                  <a:pt x="36525" y="534403"/>
                </a:lnTo>
                <a:lnTo>
                  <a:pt x="16424" y="435999"/>
                </a:lnTo>
                <a:lnTo>
                  <a:pt x="4141" y="334972"/>
                </a:lnTo>
                <a:lnTo>
                  <a:pt x="0" y="231647"/>
                </a:lnTo>
                <a:lnTo>
                  <a:pt x="4141" y="128269"/>
                </a:lnTo>
                <a:lnTo>
                  <a:pt x="16424" y="27193"/>
                </a:lnTo>
                <a:lnTo>
                  <a:pt x="21977" y="0"/>
                </a:lnTo>
                <a:lnTo>
                  <a:pt x="1979676" y="0"/>
                </a:lnTo>
                <a:lnTo>
                  <a:pt x="1979676" y="1264998"/>
                </a:lnTo>
                <a:lnTo>
                  <a:pt x="1923683" y="1302821"/>
                </a:lnTo>
                <a:lnTo>
                  <a:pt x="1839004" y="1350962"/>
                </a:lnTo>
                <a:lnTo>
                  <a:pt x="1750403" y="1392587"/>
                </a:lnTo>
                <a:lnTo>
                  <a:pt x="1658203" y="1427372"/>
                </a:lnTo>
                <a:lnTo>
                  <a:pt x="1562728" y="1454991"/>
                </a:lnTo>
                <a:lnTo>
                  <a:pt x="1464304" y="1475121"/>
                </a:lnTo>
                <a:lnTo>
                  <a:pt x="1363254" y="1487437"/>
                </a:lnTo>
                <a:lnTo>
                  <a:pt x="1259903" y="1491615"/>
                </a:lnTo>
                <a:close/>
              </a:path>
            </a:pathLst>
          </a:custGeom>
          <a:solidFill xmlns:a="http://schemas.openxmlformats.org/drawingml/2006/main">
            <a:srgbClr val="09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6805F477-6628-B7BD-D690-DA003E4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031" y="257809"/>
            <a:ext cx="878840" cy="879475"/>
          </a:xfrm>
          <a:custGeom xmlns:a="http://schemas.openxmlformats.org/drawingml/2006/main">
            <a:rect l="l" t="t" r="r" b="b"/>
            <a:pathLst>
              <a:path w="878840" h="879475">
                <a:moveTo>
                  <a:pt x="438975" y="879474"/>
                </a:moveTo>
                <a:lnTo>
                  <a:pt x="367645" y="873719"/>
                </a:lnTo>
                <a:lnTo>
                  <a:pt x="299980" y="857057"/>
                </a:lnTo>
                <a:lnTo>
                  <a:pt x="236889" y="830392"/>
                </a:lnTo>
                <a:lnTo>
                  <a:pt x="179284" y="794631"/>
                </a:lnTo>
                <a:lnTo>
                  <a:pt x="128077" y="750679"/>
                </a:lnTo>
                <a:lnTo>
                  <a:pt x="84181" y="699441"/>
                </a:lnTo>
                <a:lnTo>
                  <a:pt x="48581" y="641975"/>
                </a:lnTo>
                <a:lnTo>
                  <a:pt x="22046" y="578956"/>
                </a:lnTo>
                <a:lnTo>
                  <a:pt x="5548" y="511389"/>
                </a:lnTo>
                <a:lnTo>
                  <a:pt x="0" y="440181"/>
                </a:lnTo>
                <a:lnTo>
                  <a:pt x="1349" y="404053"/>
                </a:lnTo>
                <a:lnTo>
                  <a:pt x="12485" y="334335"/>
                </a:lnTo>
                <a:lnTo>
                  <a:pt x="34115" y="268758"/>
                </a:lnTo>
                <a:lnTo>
                  <a:pt x="65411" y="208101"/>
                </a:lnTo>
                <a:lnTo>
                  <a:pt x="105285" y="153560"/>
                </a:lnTo>
                <a:lnTo>
                  <a:pt x="152918" y="105852"/>
                </a:lnTo>
                <a:lnTo>
                  <a:pt x="207405" y="65882"/>
                </a:lnTo>
                <a:lnTo>
                  <a:pt x="267839" y="34556"/>
                </a:lnTo>
                <a:lnTo>
                  <a:pt x="333310" y="12779"/>
                </a:lnTo>
                <a:lnTo>
                  <a:pt x="402911" y="1457"/>
                </a:lnTo>
                <a:lnTo>
                  <a:pt x="438975" y="0"/>
                </a:lnTo>
                <a:lnTo>
                  <a:pt x="475041" y="1457"/>
                </a:lnTo>
                <a:lnTo>
                  <a:pt x="544655" y="12781"/>
                </a:lnTo>
                <a:lnTo>
                  <a:pt x="610156" y="34563"/>
                </a:lnTo>
                <a:lnTo>
                  <a:pt x="670639" y="65901"/>
                </a:lnTo>
                <a:lnTo>
                  <a:pt x="725196" y="105892"/>
                </a:lnTo>
                <a:lnTo>
                  <a:pt x="772919" y="153634"/>
                </a:lnTo>
                <a:lnTo>
                  <a:pt x="812900" y="208223"/>
                </a:lnTo>
                <a:lnTo>
                  <a:pt x="844156" y="268571"/>
                </a:lnTo>
                <a:lnTo>
                  <a:pt x="865933" y="334062"/>
                </a:lnTo>
                <a:lnTo>
                  <a:pt x="877255" y="403671"/>
                </a:lnTo>
                <a:lnTo>
                  <a:pt x="878713" y="439737"/>
                </a:lnTo>
                <a:lnTo>
                  <a:pt x="877255" y="475803"/>
                </a:lnTo>
                <a:lnTo>
                  <a:pt x="865933" y="545412"/>
                </a:lnTo>
                <a:lnTo>
                  <a:pt x="844156" y="610903"/>
                </a:lnTo>
                <a:lnTo>
                  <a:pt x="812748" y="671495"/>
                </a:lnTo>
                <a:lnTo>
                  <a:pt x="772792" y="725988"/>
                </a:lnTo>
                <a:lnTo>
                  <a:pt x="725101" y="773663"/>
                </a:lnTo>
                <a:lnTo>
                  <a:pt x="670577" y="813611"/>
                </a:lnTo>
                <a:lnTo>
                  <a:pt x="610123" y="844925"/>
                </a:lnTo>
                <a:lnTo>
                  <a:pt x="544642" y="866696"/>
                </a:lnTo>
                <a:lnTo>
                  <a:pt x="475039" y="878017"/>
                </a:lnTo>
                <a:lnTo>
                  <a:pt x="438975" y="879474"/>
                </a:lnTo>
                <a:close/>
              </a:path>
            </a:pathLst>
          </a:custGeom>
          <a:solidFill xmlns:a="http://schemas.openxmlformats.org/drawingml/2006/main">
            <a:srgbClr val="09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3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f1fff3cc594f15"/>
          <a:stretch xmlns:a="http://schemas.openxmlformats.org/drawingml/2006/main"/>
        </p:blipFill>
        <p:spPr>
          <a:xfrm xmlns:a="http://schemas.openxmlformats.org/drawingml/2006/main">
            <a:off x="7429308" y="395637"/>
            <a:ext cx="1483997" cy="339652"/>
          </a:xfrm>
          <a:prstGeom xmlns:a="http://schemas.openxmlformats.org/drawingml/2006/main" prst="rect">
            <a:avLst/>
          </a:prstGeom>
        </p:spPr>
      </p:pic>
      <p:sp>
        <p:nvSpPr>
          <p:cNvPr id="26" name="object 3">
            <a:extLst xmlns:a="http://schemas.openxmlformats.org/drawingml/2006/main">
              <a:ext uri="{FF2B5EF4-FFF2-40B4-BE49-F238E27FC236}">
                <a16:creationId xmlns:a16="http://schemas.microsoft.com/office/drawing/2014/main" id="{8BEEF823-C43E-56B1-2C2C-A384C6A2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79" y="308642"/>
            <a:ext cx="1950085" cy="153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ts val="1200"/>
              </a:lnSpc>
              <a:buNone/>
            </a:pPr>
            <a:r>
              <a:rPr sz="1050">
                <a:latin typeface="微软雅黑"/>
                <a:ea typeface="微软雅黑"/>
                <a:cs typeface="微软雅黑"/>
              </a:rPr>
              <a:t>EMPIRICAL RESULTS  /  01</a:t>
            </a:r>
          </a:p>
        </p:txBody>
      </p:sp>
      <p:sp>
        <p:nvSpPr>
          <p:cNvPr id="27" name="object 4">
            <a:extLst xmlns:a="http://schemas.openxmlformats.org/drawingml/2006/main">
              <a:ext uri="{FF2B5EF4-FFF2-40B4-BE49-F238E27FC236}">
                <a16:creationId xmlns:a16="http://schemas.microsoft.com/office/drawing/2014/main" id="{E9CE6BC3-B49E-225F-BBB4-426173F8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" y="468630"/>
            <a:ext cx="1950085" cy="547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12700">
              <a:lnSpc>
                <a:spcPts val="2155"/>
              </a:lnSpc>
              <a:buNone/>
            </a:pPr>
            <a:r>
              <a:t>约束性治理：能源强度压降</a:t>
            </a:r>
          </a:p>
        </p:txBody>
      </p:sp>
      <p:sp>
        <p:nvSpPr>
          <p:cNvPr id="23" name="object 5">
            <a:extLst xmlns:a="http://schemas.openxmlformats.org/drawingml/2006/main">
              <a:ext uri="{FF2B5EF4-FFF2-40B4-BE49-F238E27FC236}">
                <a16:creationId xmlns:a16="http://schemas.microsoft.com/office/drawing/2014/main" id="{A5F73BBC-C87C-8DF7-AA80-E561BC5E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0"/>
            <a:ext cx="3286125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注：括号内为标准误；省份和年份固定效应均已控制。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1000125" y="2095500"/>
          <a:ext xmlns:a="http://schemas.openxmlformats.org/drawingml/2006/main" cx="3286125" cy="1600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1000125"/>
                <a:gridCol w="762000"/>
              </a:tblGrid>
              <a:tr h="320040">
                <a:tc>
                  <a:txBody>
                    <a:bodyPr/>
                    <a:lstStyle/>
                    <a:p>
                      <a:r>
                        <a:rPr sz="750" b="1">
                          <a:latin typeface="微软雅黑"/>
                          <a:ea typeface="微软雅黑"/>
                          <a:cs typeface="微软雅黑"/>
                        </a:rPr>
                        <a:t>结果变量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1">
                          <a:latin typeface="微软雅黑"/>
                          <a:ea typeface="微软雅黑"/>
                          <a:cs typeface="微软雅黑"/>
                        </a:rPr>
                        <a:t>核心系数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1">
                          <a:latin typeface="微软雅黑"/>
                          <a:ea typeface="微软雅黑"/>
                          <a:cs typeface="微软雅黑"/>
                        </a:rPr>
                        <a:t>标准误</a:t>
                      </a:r>
                    </a:p>
                  </a:txBody>
                  <a:tcPr marL="91440" marR="91440" marT="45720" marB="45720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713" b="0">
                          <a:latin typeface="微软雅黑"/>
                          <a:ea typeface="微软雅黑"/>
                          <a:cs typeface="微软雅黑"/>
                        </a:rPr>
                        <a:t>五类能源强度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latin typeface="微软雅黑"/>
                          <a:ea typeface="微软雅黑"/>
                          <a:cs typeface="微软雅黑"/>
                        </a:rPr>
                        <a:t>-0.2895**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latin typeface="微软雅黑"/>
                          <a:ea typeface="微软雅黑"/>
                          <a:cs typeface="微软雅黑"/>
                        </a:rPr>
                        <a:t>(0.1190)</a:t>
                      </a:r>
                    </a:p>
                  </a:txBody>
                  <a:tcPr marL="91440" marR="91440" marT="45720" marB="45720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713" b="0">
                          <a:latin typeface="微软雅黑"/>
                          <a:ea typeface="微软雅黑"/>
                          <a:cs typeface="微软雅黑"/>
                        </a:rPr>
                        <a:t>煤炭终端强度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latin typeface="微软雅黑"/>
                          <a:ea typeface="微软雅黑"/>
                          <a:cs typeface="微软雅黑"/>
                        </a:rPr>
                        <a:t>-0.4262***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latin typeface="微软雅黑"/>
                          <a:ea typeface="微软雅黑"/>
                          <a:cs typeface="微软雅黑"/>
                        </a:rPr>
                        <a:t>(0.0776)</a:t>
                      </a:r>
                    </a:p>
                  </a:txBody>
                  <a:tcPr marL="91440" marR="91440" marT="45720" marB="45720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713" b="0">
                          <a:latin typeface="微软雅黑"/>
                          <a:ea typeface="微软雅黑"/>
                          <a:cs typeface="微软雅黑"/>
                        </a:rPr>
                        <a:t>绿色全要素生产率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latin typeface="微软雅黑"/>
                          <a:ea typeface="微软雅黑"/>
                          <a:cs typeface="微软雅黑"/>
                        </a:rPr>
                        <a:t>-1.0498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latin typeface="微软雅黑"/>
                          <a:ea typeface="微软雅黑"/>
                          <a:cs typeface="微软雅黑"/>
                        </a:rPr>
                        <a:t>(0.7528)</a:t>
                      </a:r>
                    </a:p>
                  </a:txBody>
                  <a:tcPr marL="91440" marR="91440" marT="45720" marB="45720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713" b="0">
                          <a:latin typeface="微软雅黑"/>
                          <a:ea typeface="微软雅黑"/>
                          <a:cs typeface="微软雅黑"/>
                        </a:rPr>
                        <a:t>全局ML指数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latin typeface="微软雅黑"/>
                          <a:ea typeface="微软雅黑"/>
                          <a:cs typeface="微软雅黑"/>
                        </a:rPr>
                        <a:t>-0.1342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3" b="0">
                          <a:latin typeface="微软雅黑"/>
                          <a:ea typeface="微软雅黑"/>
                          <a:cs typeface="微软雅黑"/>
                        </a:rPr>
                        <a:t>(0.0830)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193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05916841-B295-CA37-2753-CBDB85A9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76" y="1203960"/>
            <a:ext cx="2377440" cy="388620"/>
          </a:xfrm>
          <a:custGeom xmlns:a="http://schemas.openxmlformats.org/drawingml/2006/main">
            <a:rect l="l" t="t" r="r" b="b"/>
            <a:pathLst>
              <a:path w="2377440" h="388619">
                <a:moveTo>
                  <a:pt x="2182368" y="388619"/>
                </a:moveTo>
                <a:lnTo>
                  <a:pt x="193548" y="388619"/>
                </a:lnTo>
                <a:lnTo>
                  <a:pt x="177665" y="387999"/>
                </a:lnTo>
                <a:lnTo>
                  <a:pt x="132307" y="378793"/>
                </a:lnTo>
                <a:lnTo>
                  <a:pt x="91448" y="359624"/>
                </a:lnTo>
                <a:lnTo>
                  <a:pt x="56461" y="331847"/>
                </a:lnTo>
                <a:lnTo>
                  <a:pt x="28819" y="296980"/>
                </a:lnTo>
                <a:lnTo>
                  <a:pt x="9717" y="256191"/>
                </a:lnTo>
                <a:lnTo>
                  <a:pt x="589" y="210921"/>
                </a:lnTo>
                <a:lnTo>
                  <a:pt x="0" y="195071"/>
                </a:lnTo>
                <a:lnTo>
                  <a:pt x="589" y="179050"/>
                </a:lnTo>
                <a:lnTo>
                  <a:pt x="9717" y="133362"/>
                </a:lnTo>
                <a:lnTo>
                  <a:pt x="28819" y="92277"/>
                </a:lnTo>
                <a:lnTo>
                  <a:pt x="56610" y="57056"/>
                </a:lnTo>
                <a:lnTo>
                  <a:pt x="91531" y="29231"/>
                </a:lnTo>
                <a:lnTo>
                  <a:pt x="132336" y="9986"/>
                </a:lnTo>
                <a:lnTo>
                  <a:pt x="177667" y="667"/>
                </a:lnTo>
                <a:lnTo>
                  <a:pt x="193548" y="0"/>
                </a:lnTo>
                <a:lnTo>
                  <a:pt x="2182368" y="0"/>
                </a:lnTo>
                <a:lnTo>
                  <a:pt x="2229217" y="5712"/>
                </a:lnTo>
                <a:lnTo>
                  <a:pt x="2271943" y="21813"/>
                </a:lnTo>
                <a:lnTo>
                  <a:pt x="2309199" y="46965"/>
                </a:lnTo>
                <a:lnTo>
                  <a:pt x="2339631" y="79836"/>
                </a:lnTo>
                <a:lnTo>
                  <a:pt x="2361783" y="118838"/>
                </a:lnTo>
                <a:lnTo>
                  <a:pt x="2374515" y="162956"/>
                </a:lnTo>
                <a:lnTo>
                  <a:pt x="2377059" y="194475"/>
                </a:lnTo>
                <a:lnTo>
                  <a:pt x="2376414" y="210409"/>
                </a:lnTo>
                <a:lnTo>
                  <a:pt x="2367149" y="255886"/>
                </a:lnTo>
                <a:lnTo>
                  <a:pt x="2347930" y="296816"/>
                </a:lnTo>
                <a:lnTo>
                  <a:pt x="2320018" y="331922"/>
                </a:lnTo>
                <a:lnTo>
                  <a:pt x="2284953" y="359650"/>
                </a:lnTo>
                <a:lnTo>
                  <a:pt x="2243954" y="378798"/>
                </a:lnTo>
                <a:lnTo>
                  <a:pt x="2198356" y="387999"/>
                </a:lnTo>
                <a:lnTo>
                  <a:pt x="2182368" y="388619"/>
                </a:lnTo>
                <a:close/>
              </a:path>
            </a:pathLst>
          </a:custGeom>
          <a:solidFill xmlns:a="http://schemas.openxmlformats.org/drawingml/2006/main">
            <a:srgbClr val="00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24F10EE6-A96F-F2B0-324F-221BC932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859" y="1686598"/>
            <a:ext cx="3531285" cy="125477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0bc7741e8444832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DDCE0049-82CC-9491-B869-41D21C92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325" y="3088398"/>
            <a:ext cx="3458819" cy="125171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684421c3a9c949f6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0DEECB41-A312-380B-6325-A8C614FF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127" y="2209998"/>
            <a:ext cx="237490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核心发现</a:t>
            </a:r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43C93230-CEA0-CE0E-718C-54BFC73D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127" y="2415738"/>
            <a:ext cx="23749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工业二氧化硫、氮氧化物和工业固废显著下降。</a:t>
            </a: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7CC93EB-3C9C-79E8-E643-6E27C9DE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129" y="3608738"/>
            <a:ext cx="2374900" cy="1384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解释边界</a:t>
            </a:r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5262670A-FECF-DE3F-6AFE-74A2172D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129" y="3814478"/>
            <a:ext cx="23749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颗粒物与工业废水不稳定，证据集中于煤炭工业相关治理。</a:t>
            </a: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D07B1F19-827F-8D85-40B1-B5CB2647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552" y="1306526"/>
            <a:ext cx="737235" cy="213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污染治理</a:t>
            </a: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A0518D75-6A3E-69DE-CC3A-9BB0FC20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35" y="173583"/>
            <a:ext cx="150418" cy="72155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b0541b851b24f67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8400D909-1BAC-436D-AE0A-6D1E491C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323" y="0"/>
            <a:ext cx="1979930" cy="1491615"/>
          </a:xfrm>
          <a:custGeom xmlns:a="http://schemas.openxmlformats.org/drawingml/2006/main">
            <a:rect l="l" t="t" r="r" b="b"/>
            <a:pathLst>
              <a:path w="1979929" h="1491615">
                <a:moveTo>
                  <a:pt x="1259903" y="1491615"/>
                </a:moveTo>
                <a:lnTo>
                  <a:pt x="1156551" y="1487437"/>
                </a:lnTo>
                <a:lnTo>
                  <a:pt x="1055500" y="1475121"/>
                </a:lnTo>
                <a:lnTo>
                  <a:pt x="957073" y="1454991"/>
                </a:lnTo>
                <a:lnTo>
                  <a:pt x="861596" y="1427370"/>
                </a:lnTo>
                <a:lnTo>
                  <a:pt x="769393" y="1392584"/>
                </a:lnTo>
                <a:lnTo>
                  <a:pt x="680788" y="1350957"/>
                </a:lnTo>
                <a:lnTo>
                  <a:pt x="596107" y="1302813"/>
                </a:lnTo>
                <a:lnTo>
                  <a:pt x="515689" y="1248488"/>
                </a:lnTo>
                <a:lnTo>
                  <a:pt x="439832" y="1188288"/>
                </a:lnTo>
                <a:lnTo>
                  <a:pt x="368871" y="1122545"/>
                </a:lnTo>
                <a:lnTo>
                  <a:pt x="303132" y="1051583"/>
                </a:lnTo>
                <a:lnTo>
                  <a:pt x="242939" y="975728"/>
                </a:lnTo>
                <a:lnTo>
                  <a:pt x="188617" y="895304"/>
                </a:lnTo>
                <a:lnTo>
                  <a:pt x="140490" y="810635"/>
                </a:lnTo>
                <a:lnTo>
                  <a:pt x="98883" y="722045"/>
                </a:lnTo>
                <a:lnTo>
                  <a:pt x="64120" y="629860"/>
                </a:lnTo>
                <a:lnTo>
                  <a:pt x="36525" y="534403"/>
                </a:lnTo>
                <a:lnTo>
                  <a:pt x="16424" y="435999"/>
                </a:lnTo>
                <a:lnTo>
                  <a:pt x="4141" y="334972"/>
                </a:lnTo>
                <a:lnTo>
                  <a:pt x="0" y="231647"/>
                </a:lnTo>
                <a:lnTo>
                  <a:pt x="4141" y="128269"/>
                </a:lnTo>
                <a:lnTo>
                  <a:pt x="16424" y="27193"/>
                </a:lnTo>
                <a:lnTo>
                  <a:pt x="21977" y="0"/>
                </a:lnTo>
                <a:lnTo>
                  <a:pt x="1979676" y="0"/>
                </a:lnTo>
                <a:lnTo>
                  <a:pt x="1979676" y="1264998"/>
                </a:lnTo>
                <a:lnTo>
                  <a:pt x="1923683" y="1302821"/>
                </a:lnTo>
                <a:lnTo>
                  <a:pt x="1839004" y="1350962"/>
                </a:lnTo>
                <a:lnTo>
                  <a:pt x="1750403" y="1392587"/>
                </a:lnTo>
                <a:lnTo>
                  <a:pt x="1658203" y="1427372"/>
                </a:lnTo>
                <a:lnTo>
                  <a:pt x="1562728" y="1454991"/>
                </a:lnTo>
                <a:lnTo>
                  <a:pt x="1464304" y="1475121"/>
                </a:lnTo>
                <a:lnTo>
                  <a:pt x="1363254" y="1487437"/>
                </a:lnTo>
                <a:lnTo>
                  <a:pt x="1259903" y="1491615"/>
                </a:lnTo>
                <a:close/>
              </a:path>
            </a:pathLst>
          </a:custGeom>
          <a:solidFill xmlns:a="http://schemas.openxmlformats.org/drawingml/2006/main">
            <a:srgbClr val="09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6805F477-6628-B7BD-D690-DA003E4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031" y="257809"/>
            <a:ext cx="878840" cy="879475"/>
          </a:xfrm>
          <a:custGeom xmlns:a="http://schemas.openxmlformats.org/drawingml/2006/main">
            <a:rect l="l" t="t" r="r" b="b"/>
            <a:pathLst>
              <a:path w="878840" h="879475">
                <a:moveTo>
                  <a:pt x="438975" y="879474"/>
                </a:moveTo>
                <a:lnTo>
                  <a:pt x="367645" y="873719"/>
                </a:lnTo>
                <a:lnTo>
                  <a:pt x="299980" y="857057"/>
                </a:lnTo>
                <a:lnTo>
                  <a:pt x="236889" y="830392"/>
                </a:lnTo>
                <a:lnTo>
                  <a:pt x="179284" y="794631"/>
                </a:lnTo>
                <a:lnTo>
                  <a:pt x="128077" y="750679"/>
                </a:lnTo>
                <a:lnTo>
                  <a:pt x="84181" y="699441"/>
                </a:lnTo>
                <a:lnTo>
                  <a:pt x="48581" y="641975"/>
                </a:lnTo>
                <a:lnTo>
                  <a:pt x="22046" y="578956"/>
                </a:lnTo>
                <a:lnTo>
                  <a:pt x="5548" y="511389"/>
                </a:lnTo>
                <a:lnTo>
                  <a:pt x="0" y="440181"/>
                </a:lnTo>
                <a:lnTo>
                  <a:pt x="1349" y="404053"/>
                </a:lnTo>
                <a:lnTo>
                  <a:pt x="12485" y="334335"/>
                </a:lnTo>
                <a:lnTo>
                  <a:pt x="34115" y="268758"/>
                </a:lnTo>
                <a:lnTo>
                  <a:pt x="65411" y="208101"/>
                </a:lnTo>
                <a:lnTo>
                  <a:pt x="105285" y="153560"/>
                </a:lnTo>
                <a:lnTo>
                  <a:pt x="152918" y="105852"/>
                </a:lnTo>
                <a:lnTo>
                  <a:pt x="207405" y="65882"/>
                </a:lnTo>
                <a:lnTo>
                  <a:pt x="267839" y="34556"/>
                </a:lnTo>
                <a:lnTo>
                  <a:pt x="333310" y="12779"/>
                </a:lnTo>
                <a:lnTo>
                  <a:pt x="402911" y="1457"/>
                </a:lnTo>
                <a:lnTo>
                  <a:pt x="438975" y="0"/>
                </a:lnTo>
                <a:lnTo>
                  <a:pt x="475041" y="1457"/>
                </a:lnTo>
                <a:lnTo>
                  <a:pt x="544655" y="12781"/>
                </a:lnTo>
                <a:lnTo>
                  <a:pt x="610156" y="34563"/>
                </a:lnTo>
                <a:lnTo>
                  <a:pt x="670639" y="65901"/>
                </a:lnTo>
                <a:lnTo>
                  <a:pt x="725196" y="105892"/>
                </a:lnTo>
                <a:lnTo>
                  <a:pt x="772919" y="153634"/>
                </a:lnTo>
                <a:lnTo>
                  <a:pt x="812900" y="208223"/>
                </a:lnTo>
                <a:lnTo>
                  <a:pt x="844156" y="268571"/>
                </a:lnTo>
                <a:lnTo>
                  <a:pt x="865933" y="334062"/>
                </a:lnTo>
                <a:lnTo>
                  <a:pt x="877255" y="403671"/>
                </a:lnTo>
                <a:lnTo>
                  <a:pt x="878713" y="439737"/>
                </a:lnTo>
                <a:lnTo>
                  <a:pt x="877255" y="475803"/>
                </a:lnTo>
                <a:lnTo>
                  <a:pt x="865933" y="545412"/>
                </a:lnTo>
                <a:lnTo>
                  <a:pt x="844156" y="610903"/>
                </a:lnTo>
                <a:lnTo>
                  <a:pt x="812748" y="671495"/>
                </a:lnTo>
                <a:lnTo>
                  <a:pt x="772792" y="725988"/>
                </a:lnTo>
                <a:lnTo>
                  <a:pt x="725101" y="773663"/>
                </a:lnTo>
                <a:lnTo>
                  <a:pt x="670577" y="813611"/>
                </a:lnTo>
                <a:lnTo>
                  <a:pt x="610123" y="844925"/>
                </a:lnTo>
                <a:lnTo>
                  <a:pt x="544642" y="866696"/>
                </a:lnTo>
                <a:lnTo>
                  <a:pt x="475039" y="878017"/>
                </a:lnTo>
                <a:lnTo>
                  <a:pt x="438975" y="879474"/>
                </a:lnTo>
                <a:close/>
              </a:path>
            </a:pathLst>
          </a:custGeom>
          <a:solidFill xmlns:a="http://schemas.openxmlformats.org/drawingml/2006/main">
            <a:srgbClr val="09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3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404d8639947ff"/>
          <a:stretch xmlns:a="http://schemas.openxmlformats.org/drawingml/2006/main"/>
        </p:blipFill>
        <p:spPr>
          <a:xfrm xmlns:a="http://schemas.openxmlformats.org/drawingml/2006/main">
            <a:off x="7429308" y="395637"/>
            <a:ext cx="1483997" cy="339652"/>
          </a:xfrm>
          <a:prstGeom xmlns:a="http://schemas.openxmlformats.org/drawingml/2006/main" prst="rect">
            <a:avLst/>
          </a:prstGeom>
        </p:spPr>
      </p:pic>
      <p:sp>
        <p:nvSpPr>
          <p:cNvPr id="26" name="object 3">
            <a:extLst xmlns:a="http://schemas.openxmlformats.org/drawingml/2006/main">
              <a:ext uri="{FF2B5EF4-FFF2-40B4-BE49-F238E27FC236}">
                <a16:creationId xmlns:a16="http://schemas.microsoft.com/office/drawing/2014/main" id="{8BEEF823-C43E-56B1-2C2C-A384C6A2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79" y="308642"/>
            <a:ext cx="1950085" cy="153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ts val="1200"/>
              </a:lnSpc>
              <a:buNone/>
            </a:pPr>
            <a:r>
              <a:rPr sz="1050">
                <a:latin typeface="微软雅黑"/>
                <a:ea typeface="微软雅黑"/>
                <a:cs typeface="微软雅黑"/>
              </a:rPr>
              <a:t>EMPIRICAL RESULTS  /  02</a:t>
            </a:r>
          </a:p>
        </p:txBody>
      </p:sp>
      <p:sp>
        <p:nvSpPr>
          <p:cNvPr id="27" name="object 4">
            <a:extLst xmlns:a="http://schemas.openxmlformats.org/drawingml/2006/main">
              <a:ext uri="{FF2B5EF4-FFF2-40B4-BE49-F238E27FC236}">
                <a16:creationId xmlns:a16="http://schemas.microsoft.com/office/drawing/2014/main" id="{E9CE6BC3-B49E-225F-BBB4-426173F8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" y="468630"/>
            <a:ext cx="1950085" cy="547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12700">
              <a:lnSpc>
                <a:spcPts val="2155"/>
              </a:lnSpc>
              <a:buNone/>
            </a:pPr>
            <a:r>
              <a:t>约束性治理：污染治理响应</a:t>
            </a:r>
          </a:p>
        </p:txBody>
      </p:sp>
      <p:sp>
        <p:nvSpPr>
          <p:cNvPr id="23" name="object 5">
            <a:extLst xmlns:a="http://schemas.openxmlformats.org/drawingml/2006/main">
              <a:ext uri="{FF2B5EF4-FFF2-40B4-BE49-F238E27FC236}">
                <a16:creationId xmlns:a16="http://schemas.microsoft.com/office/drawing/2014/main" id="{A5F73BBC-C87C-8DF7-AA80-E561BC5E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" y="2030730"/>
            <a:ext cx="3288030" cy="24930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结果变量     核心系数（标准误）</a:t>
            </a:r>
          </a:p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1200">
                <a:latin typeface="微软雅黑"/>
                <a:ea typeface="微软雅黑"/>
                <a:cs typeface="微软雅黑"/>
              </a:rPr>
              <a:t>工业二氧化硫   -72.5887*** (19.6996)</a:t>
            </a:r>
          </a:p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t>氮氧化物      -43.9915**  (16.8916)</a:t>
            </a:r>
          </a:p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工业固废      -47.2683**  (20.0521)</a:t>
            </a:r>
          </a:p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颗粒物       -10.1339    (28.0627)</a:t>
            </a:r>
          </a:p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工业废水      -40594.6149 (24203.0698)</a:t>
            </a:r>
          </a:p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政策后煤炭暴露；省份/年份固定效应</a:t>
            </a:r>
          </a:p>
        </p:txBody>
      </p:sp>
    </p:spTree>
    <p:extLst>
      <p:ext uri="{BB962C8B-B14F-4D97-AF65-F5344CB8AC3E}">
        <p14:creationId xmlns:p14="http://schemas.microsoft.com/office/powerpoint/2010/main" val="3681193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05916841-B295-CA37-2753-CBDB85A9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76" y="1203960"/>
            <a:ext cx="2377440" cy="388620"/>
          </a:xfrm>
          <a:custGeom xmlns:a="http://schemas.openxmlformats.org/drawingml/2006/main">
            <a:rect l="l" t="t" r="r" b="b"/>
            <a:pathLst>
              <a:path w="2377440" h="388619">
                <a:moveTo>
                  <a:pt x="2182368" y="388619"/>
                </a:moveTo>
                <a:lnTo>
                  <a:pt x="193548" y="388619"/>
                </a:lnTo>
                <a:lnTo>
                  <a:pt x="177665" y="387999"/>
                </a:lnTo>
                <a:lnTo>
                  <a:pt x="132307" y="378793"/>
                </a:lnTo>
                <a:lnTo>
                  <a:pt x="91448" y="359624"/>
                </a:lnTo>
                <a:lnTo>
                  <a:pt x="56461" y="331847"/>
                </a:lnTo>
                <a:lnTo>
                  <a:pt x="28819" y="296980"/>
                </a:lnTo>
                <a:lnTo>
                  <a:pt x="9717" y="256191"/>
                </a:lnTo>
                <a:lnTo>
                  <a:pt x="589" y="210921"/>
                </a:lnTo>
                <a:lnTo>
                  <a:pt x="0" y="195071"/>
                </a:lnTo>
                <a:lnTo>
                  <a:pt x="589" y="179050"/>
                </a:lnTo>
                <a:lnTo>
                  <a:pt x="9717" y="133362"/>
                </a:lnTo>
                <a:lnTo>
                  <a:pt x="28819" y="92277"/>
                </a:lnTo>
                <a:lnTo>
                  <a:pt x="56610" y="57056"/>
                </a:lnTo>
                <a:lnTo>
                  <a:pt x="91531" y="29231"/>
                </a:lnTo>
                <a:lnTo>
                  <a:pt x="132336" y="9986"/>
                </a:lnTo>
                <a:lnTo>
                  <a:pt x="177667" y="667"/>
                </a:lnTo>
                <a:lnTo>
                  <a:pt x="193548" y="0"/>
                </a:lnTo>
                <a:lnTo>
                  <a:pt x="2182368" y="0"/>
                </a:lnTo>
                <a:lnTo>
                  <a:pt x="2229217" y="5712"/>
                </a:lnTo>
                <a:lnTo>
                  <a:pt x="2271943" y="21813"/>
                </a:lnTo>
                <a:lnTo>
                  <a:pt x="2309199" y="46965"/>
                </a:lnTo>
                <a:lnTo>
                  <a:pt x="2339631" y="79836"/>
                </a:lnTo>
                <a:lnTo>
                  <a:pt x="2361783" y="118838"/>
                </a:lnTo>
                <a:lnTo>
                  <a:pt x="2374515" y="162956"/>
                </a:lnTo>
                <a:lnTo>
                  <a:pt x="2377059" y="194475"/>
                </a:lnTo>
                <a:lnTo>
                  <a:pt x="2376414" y="210409"/>
                </a:lnTo>
                <a:lnTo>
                  <a:pt x="2367149" y="255886"/>
                </a:lnTo>
                <a:lnTo>
                  <a:pt x="2347930" y="296816"/>
                </a:lnTo>
                <a:lnTo>
                  <a:pt x="2320018" y="331922"/>
                </a:lnTo>
                <a:lnTo>
                  <a:pt x="2284953" y="359650"/>
                </a:lnTo>
                <a:lnTo>
                  <a:pt x="2243954" y="378798"/>
                </a:lnTo>
                <a:lnTo>
                  <a:pt x="2198356" y="387999"/>
                </a:lnTo>
                <a:lnTo>
                  <a:pt x="2182368" y="388619"/>
                </a:lnTo>
                <a:close/>
              </a:path>
            </a:pathLst>
          </a:custGeom>
          <a:solidFill xmlns:a="http://schemas.openxmlformats.org/drawingml/2006/main">
            <a:srgbClr val="00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24F10EE6-A96F-F2B0-324F-221BC932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859" y="1686598"/>
            <a:ext cx="3531285" cy="125477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89988406f6f47a1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DDCE0049-82CC-9491-B869-41D21C92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325" y="3088398"/>
            <a:ext cx="3458819" cy="125171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ed7fe7afa2a4fc8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0DEECB41-A312-380B-6325-A8C614FF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127" y="2209998"/>
            <a:ext cx="237490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过渡信号</a:t>
            </a:r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43C93230-CEA0-CE0E-718C-54BFC73D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127" y="2415738"/>
            <a:ext cx="23749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煤炭消费占比显著下降，约束效应已外溢到能源使用比例。</a:t>
            </a: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7CC93EB-3C9C-79E8-E643-6E27C9DE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129" y="3608738"/>
            <a:ext cx="2374900" cy="1384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结构边界</a:t>
            </a:r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5262670A-FECF-DE3F-6AFE-74A2172D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129" y="3814478"/>
            <a:ext cx="23749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二氧化碳和火电结构未同步稳定变化，尚非完整结构性去煤。</a:t>
            </a: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D07B1F19-827F-8D85-40B1-B5CB2647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552" y="1306526"/>
            <a:ext cx="737235" cy="213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结构边界</a:t>
            </a: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A0518D75-6A3E-69DE-CC3A-9BB0FC20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35" y="173583"/>
            <a:ext cx="150418" cy="72155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76f6ad8444f43ad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8400D909-1BAC-436D-AE0A-6D1E491C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323" y="0"/>
            <a:ext cx="1979930" cy="1491615"/>
          </a:xfrm>
          <a:custGeom xmlns:a="http://schemas.openxmlformats.org/drawingml/2006/main">
            <a:rect l="l" t="t" r="r" b="b"/>
            <a:pathLst>
              <a:path w="1979929" h="1491615">
                <a:moveTo>
                  <a:pt x="1259903" y="1491615"/>
                </a:moveTo>
                <a:lnTo>
                  <a:pt x="1156551" y="1487437"/>
                </a:lnTo>
                <a:lnTo>
                  <a:pt x="1055500" y="1475121"/>
                </a:lnTo>
                <a:lnTo>
                  <a:pt x="957073" y="1454991"/>
                </a:lnTo>
                <a:lnTo>
                  <a:pt x="861596" y="1427370"/>
                </a:lnTo>
                <a:lnTo>
                  <a:pt x="769393" y="1392584"/>
                </a:lnTo>
                <a:lnTo>
                  <a:pt x="680788" y="1350957"/>
                </a:lnTo>
                <a:lnTo>
                  <a:pt x="596107" y="1302813"/>
                </a:lnTo>
                <a:lnTo>
                  <a:pt x="515689" y="1248488"/>
                </a:lnTo>
                <a:lnTo>
                  <a:pt x="439832" y="1188288"/>
                </a:lnTo>
                <a:lnTo>
                  <a:pt x="368871" y="1122545"/>
                </a:lnTo>
                <a:lnTo>
                  <a:pt x="303132" y="1051583"/>
                </a:lnTo>
                <a:lnTo>
                  <a:pt x="242939" y="975728"/>
                </a:lnTo>
                <a:lnTo>
                  <a:pt x="188617" y="895304"/>
                </a:lnTo>
                <a:lnTo>
                  <a:pt x="140490" y="810635"/>
                </a:lnTo>
                <a:lnTo>
                  <a:pt x="98883" y="722045"/>
                </a:lnTo>
                <a:lnTo>
                  <a:pt x="64120" y="629860"/>
                </a:lnTo>
                <a:lnTo>
                  <a:pt x="36525" y="534403"/>
                </a:lnTo>
                <a:lnTo>
                  <a:pt x="16424" y="435999"/>
                </a:lnTo>
                <a:lnTo>
                  <a:pt x="4141" y="334972"/>
                </a:lnTo>
                <a:lnTo>
                  <a:pt x="0" y="231647"/>
                </a:lnTo>
                <a:lnTo>
                  <a:pt x="4141" y="128269"/>
                </a:lnTo>
                <a:lnTo>
                  <a:pt x="16424" y="27193"/>
                </a:lnTo>
                <a:lnTo>
                  <a:pt x="21977" y="0"/>
                </a:lnTo>
                <a:lnTo>
                  <a:pt x="1979676" y="0"/>
                </a:lnTo>
                <a:lnTo>
                  <a:pt x="1979676" y="1264998"/>
                </a:lnTo>
                <a:lnTo>
                  <a:pt x="1923683" y="1302821"/>
                </a:lnTo>
                <a:lnTo>
                  <a:pt x="1839004" y="1350962"/>
                </a:lnTo>
                <a:lnTo>
                  <a:pt x="1750403" y="1392587"/>
                </a:lnTo>
                <a:lnTo>
                  <a:pt x="1658203" y="1427372"/>
                </a:lnTo>
                <a:lnTo>
                  <a:pt x="1562728" y="1454991"/>
                </a:lnTo>
                <a:lnTo>
                  <a:pt x="1464304" y="1475121"/>
                </a:lnTo>
                <a:lnTo>
                  <a:pt x="1363254" y="1487437"/>
                </a:lnTo>
                <a:lnTo>
                  <a:pt x="1259903" y="1491615"/>
                </a:lnTo>
                <a:close/>
              </a:path>
            </a:pathLst>
          </a:custGeom>
          <a:solidFill xmlns:a="http://schemas.openxmlformats.org/drawingml/2006/main">
            <a:srgbClr val="09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6805F477-6628-B7BD-D690-DA003E4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031" y="257809"/>
            <a:ext cx="878840" cy="879475"/>
          </a:xfrm>
          <a:custGeom xmlns:a="http://schemas.openxmlformats.org/drawingml/2006/main">
            <a:rect l="l" t="t" r="r" b="b"/>
            <a:pathLst>
              <a:path w="878840" h="879475">
                <a:moveTo>
                  <a:pt x="438975" y="879474"/>
                </a:moveTo>
                <a:lnTo>
                  <a:pt x="367645" y="873719"/>
                </a:lnTo>
                <a:lnTo>
                  <a:pt x="299980" y="857057"/>
                </a:lnTo>
                <a:lnTo>
                  <a:pt x="236889" y="830392"/>
                </a:lnTo>
                <a:lnTo>
                  <a:pt x="179284" y="794631"/>
                </a:lnTo>
                <a:lnTo>
                  <a:pt x="128077" y="750679"/>
                </a:lnTo>
                <a:lnTo>
                  <a:pt x="84181" y="699441"/>
                </a:lnTo>
                <a:lnTo>
                  <a:pt x="48581" y="641975"/>
                </a:lnTo>
                <a:lnTo>
                  <a:pt x="22046" y="578956"/>
                </a:lnTo>
                <a:lnTo>
                  <a:pt x="5548" y="511389"/>
                </a:lnTo>
                <a:lnTo>
                  <a:pt x="0" y="440181"/>
                </a:lnTo>
                <a:lnTo>
                  <a:pt x="1349" y="404053"/>
                </a:lnTo>
                <a:lnTo>
                  <a:pt x="12485" y="334335"/>
                </a:lnTo>
                <a:lnTo>
                  <a:pt x="34115" y="268758"/>
                </a:lnTo>
                <a:lnTo>
                  <a:pt x="65411" y="208101"/>
                </a:lnTo>
                <a:lnTo>
                  <a:pt x="105285" y="153560"/>
                </a:lnTo>
                <a:lnTo>
                  <a:pt x="152918" y="105852"/>
                </a:lnTo>
                <a:lnTo>
                  <a:pt x="207405" y="65882"/>
                </a:lnTo>
                <a:lnTo>
                  <a:pt x="267839" y="34556"/>
                </a:lnTo>
                <a:lnTo>
                  <a:pt x="333310" y="12779"/>
                </a:lnTo>
                <a:lnTo>
                  <a:pt x="402911" y="1457"/>
                </a:lnTo>
                <a:lnTo>
                  <a:pt x="438975" y="0"/>
                </a:lnTo>
                <a:lnTo>
                  <a:pt x="475041" y="1457"/>
                </a:lnTo>
                <a:lnTo>
                  <a:pt x="544655" y="12781"/>
                </a:lnTo>
                <a:lnTo>
                  <a:pt x="610156" y="34563"/>
                </a:lnTo>
                <a:lnTo>
                  <a:pt x="670639" y="65901"/>
                </a:lnTo>
                <a:lnTo>
                  <a:pt x="725196" y="105892"/>
                </a:lnTo>
                <a:lnTo>
                  <a:pt x="772919" y="153634"/>
                </a:lnTo>
                <a:lnTo>
                  <a:pt x="812900" y="208223"/>
                </a:lnTo>
                <a:lnTo>
                  <a:pt x="844156" y="268571"/>
                </a:lnTo>
                <a:lnTo>
                  <a:pt x="865933" y="334062"/>
                </a:lnTo>
                <a:lnTo>
                  <a:pt x="877255" y="403671"/>
                </a:lnTo>
                <a:lnTo>
                  <a:pt x="878713" y="439737"/>
                </a:lnTo>
                <a:lnTo>
                  <a:pt x="877255" y="475803"/>
                </a:lnTo>
                <a:lnTo>
                  <a:pt x="865933" y="545412"/>
                </a:lnTo>
                <a:lnTo>
                  <a:pt x="844156" y="610903"/>
                </a:lnTo>
                <a:lnTo>
                  <a:pt x="812748" y="671495"/>
                </a:lnTo>
                <a:lnTo>
                  <a:pt x="772792" y="725988"/>
                </a:lnTo>
                <a:lnTo>
                  <a:pt x="725101" y="773663"/>
                </a:lnTo>
                <a:lnTo>
                  <a:pt x="670577" y="813611"/>
                </a:lnTo>
                <a:lnTo>
                  <a:pt x="610123" y="844925"/>
                </a:lnTo>
                <a:lnTo>
                  <a:pt x="544642" y="866696"/>
                </a:lnTo>
                <a:lnTo>
                  <a:pt x="475039" y="878017"/>
                </a:lnTo>
                <a:lnTo>
                  <a:pt x="438975" y="879474"/>
                </a:lnTo>
                <a:close/>
              </a:path>
            </a:pathLst>
          </a:custGeom>
          <a:solidFill xmlns:a="http://schemas.openxmlformats.org/drawingml/2006/main">
            <a:srgbClr val="09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3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a69992bda488c"/>
          <a:stretch xmlns:a="http://schemas.openxmlformats.org/drawingml/2006/main"/>
        </p:blipFill>
        <p:spPr>
          <a:xfrm xmlns:a="http://schemas.openxmlformats.org/drawingml/2006/main">
            <a:off x="7429308" y="395637"/>
            <a:ext cx="1483997" cy="339652"/>
          </a:xfrm>
          <a:prstGeom xmlns:a="http://schemas.openxmlformats.org/drawingml/2006/main" prst="rect">
            <a:avLst/>
          </a:prstGeom>
        </p:spPr>
      </p:pic>
      <p:sp>
        <p:nvSpPr>
          <p:cNvPr id="26" name="object 3">
            <a:extLst xmlns:a="http://schemas.openxmlformats.org/drawingml/2006/main">
              <a:ext uri="{FF2B5EF4-FFF2-40B4-BE49-F238E27FC236}">
                <a16:creationId xmlns:a16="http://schemas.microsoft.com/office/drawing/2014/main" id="{8BEEF823-C43E-56B1-2C2C-A384C6A2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79" y="308642"/>
            <a:ext cx="1950085" cy="153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ts val="1200"/>
              </a:lnSpc>
              <a:buNone/>
            </a:pPr>
            <a:r>
              <a:rPr sz="1050">
                <a:latin typeface="微软雅黑"/>
                <a:ea typeface="微软雅黑"/>
                <a:cs typeface="微软雅黑"/>
              </a:rPr>
              <a:t>EMPIRICAL RESULTS  /  03</a:t>
            </a:r>
          </a:p>
        </p:txBody>
      </p:sp>
      <p:sp>
        <p:nvSpPr>
          <p:cNvPr id="27" name="object 4">
            <a:extLst xmlns:a="http://schemas.openxmlformats.org/drawingml/2006/main">
              <a:ext uri="{FF2B5EF4-FFF2-40B4-BE49-F238E27FC236}">
                <a16:creationId xmlns:a16="http://schemas.microsoft.com/office/drawing/2014/main" id="{E9CE6BC3-B49E-225F-BBB4-426173F8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" y="468630"/>
            <a:ext cx="1950085" cy="821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12700">
              <a:lnSpc>
                <a:spcPts val="2155"/>
              </a:lnSpc>
              <a:buNone/>
            </a:pPr>
            <a:r>
              <a:t>结构性治理边界：比例下降不等于去煤完成</a:t>
            </a:r>
          </a:p>
        </p:txBody>
      </p:sp>
      <p:sp>
        <p:nvSpPr>
          <p:cNvPr id="23" name="object 5">
            <a:extLst xmlns:a="http://schemas.openxmlformats.org/drawingml/2006/main">
              <a:ext uri="{FF2B5EF4-FFF2-40B4-BE49-F238E27FC236}">
                <a16:creationId xmlns:a16="http://schemas.microsoft.com/office/drawing/2014/main" id="{A5F73BBC-C87C-8DF7-AA80-E561BC5E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" y="2030730"/>
            <a:ext cx="3288030" cy="24930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结果变量     核心系数（标准误）</a:t>
            </a:r>
          </a:p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1200">
                <a:latin typeface="微软雅黑"/>
                <a:ea typeface="微软雅黑"/>
                <a:cs typeface="微软雅黑"/>
              </a:rPr>
              <a:t>煤炭占比/五类口径 -0.2495*** (0.0754)</a:t>
            </a:r>
          </a:p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t>煤炭占比/原口径  -0.1900*** (0.0651)</a:t>
            </a:r>
          </a:p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二氧化碳排放/对数 -0.0982   (0.1034)</a:t>
            </a:r>
          </a:p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火电装机占比     0.0517   (0.0945)</a:t>
            </a:r>
          </a:p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火电发电占比     0.0888   (0.0754)</a:t>
            </a:r>
          </a:p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政策后煤炭暴露；省份/年份固定效应</a:t>
            </a:r>
          </a:p>
        </p:txBody>
      </p:sp>
    </p:spTree>
    <p:extLst>
      <p:ext uri="{BB962C8B-B14F-4D97-AF65-F5344CB8AC3E}">
        <p14:creationId xmlns:p14="http://schemas.microsoft.com/office/powerpoint/2010/main" val="3681193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05916841-B295-CA37-2753-CBDB85A9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76" y="1203960"/>
            <a:ext cx="2377440" cy="388620"/>
          </a:xfrm>
          <a:custGeom xmlns:a="http://schemas.openxmlformats.org/drawingml/2006/main">
            <a:rect l="l" t="t" r="r" b="b"/>
            <a:pathLst>
              <a:path w="2377440" h="388619">
                <a:moveTo>
                  <a:pt x="2182368" y="388619"/>
                </a:moveTo>
                <a:lnTo>
                  <a:pt x="193548" y="388619"/>
                </a:lnTo>
                <a:lnTo>
                  <a:pt x="177665" y="387999"/>
                </a:lnTo>
                <a:lnTo>
                  <a:pt x="132307" y="378793"/>
                </a:lnTo>
                <a:lnTo>
                  <a:pt x="91448" y="359624"/>
                </a:lnTo>
                <a:lnTo>
                  <a:pt x="56461" y="331847"/>
                </a:lnTo>
                <a:lnTo>
                  <a:pt x="28819" y="296980"/>
                </a:lnTo>
                <a:lnTo>
                  <a:pt x="9717" y="256191"/>
                </a:lnTo>
                <a:lnTo>
                  <a:pt x="589" y="210921"/>
                </a:lnTo>
                <a:lnTo>
                  <a:pt x="0" y="195071"/>
                </a:lnTo>
                <a:lnTo>
                  <a:pt x="589" y="179050"/>
                </a:lnTo>
                <a:lnTo>
                  <a:pt x="9717" y="133362"/>
                </a:lnTo>
                <a:lnTo>
                  <a:pt x="28819" y="92277"/>
                </a:lnTo>
                <a:lnTo>
                  <a:pt x="56610" y="57056"/>
                </a:lnTo>
                <a:lnTo>
                  <a:pt x="91531" y="29231"/>
                </a:lnTo>
                <a:lnTo>
                  <a:pt x="132336" y="9986"/>
                </a:lnTo>
                <a:lnTo>
                  <a:pt x="177667" y="667"/>
                </a:lnTo>
                <a:lnTo>
                  <a:pt x="193548" y="0"/>
                </a:lnTo>
                <a:lnTo>
                  <a:pt x="2182368" y="0"/>
                </a:lnTo>
                <a:lnTo>
                  <a:pt x="2229217" y="5712"/>
                </a:lnTo>
                <a:lnTo>
                  <a:pt x="2271943" y="21813"/>
                </a:lnTo>
                <a:lnTo>
                  <a:pt x="2309199" y="46965"/>
                </a:lnTo>
                <a:lnTo>
                  <a:pt x="2339631" y="79836"/>
                </a:lnTo>
                <a:lnTo>
                  <a:pt x="2361783" y="118838"/>
                </a:lnTo>
                <a:lnTo>
                  <a:pt x="2374515" y="162956"/>
                </a:lnTo>
                <a:lnTo>
                  <a:pt x="2377059" y="194475"/>
                </a:lnTo>
                <a:lnTo>
                  <a:pt x="2376414" y="210409"/>
                </a:lnTo>
                <a:lnTo>
                  <a:pt x="2367149" y="255886"/>
                </a:lnTo>
                <a:lnTo>
                  <a:pt x="2347930" y="296816"/>
                </a:lnTo>
                <a:lnTo>
                  <a:pt x="2320018" y="331922"/>
                </a:lnTo>
                <a:lnTo>
                  <a:pt x="2284953" y="359650"/>
                </a:lnTo>
                <a:lnTo>
                  <a:pt x="2243954" y="378798"/>
                </a:lnTo>
                <a:lnTo>
                  <a:pt x="2198356" y="387999"/>
                </a:lnTo>
                <a:lnTo>
                  <a:pt x="2182368" y="388619"/>
                </a:lnTo>
                <a:close/>
              </a:path>
            </a:pathLst>
          </a:custGeom>
          <a:solidFill xmlns:a="http://schemas.openxmlformats.org/drawingml/2006/main">
            <a:srgbClr val="00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24F10EE6-A96F-F2B0-324F-221BC932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859" y="1686598"/>
            <a:ext cx="3531285" cy="125477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b62ea155d0a4ede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DDCE0049-82CC-9491-B869-41D21C92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325" y="3088398"/>
            <a:ext cx="3458819" cy="125171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9d85de327d344d2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0DEECB41-A312-380B-6325-A8C614FF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127" y="2209998"/>
            <a:ext cx="2374900" cy="13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模型结论</a:t>
            </a:r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43C93230-CEA0-CE0E-718C-54BFC73D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127" y="2415738"/>
            <a:ext cx="23749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三重交互为负且显著，不支持低碳基础自动放大新能源替代。</a:t>
            </a: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C7CC93EB-3C9C-79E8-E643-6E27C9DE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129" y="3608738"/>
            <a:ext cx="2374900" cy="1384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案例补充</a:t>
            </a:r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5262670A-FECF-DE3F-6AFE-74A2172D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5129" y="3814478"/>
            <a:ext cx="237490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晋蒙文本反映政策注意力和后验承接表现，不承担全国因果识别。</a:t>
            </a: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D07B1F19-827F-8D85-40B1-B5CB2647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552" y="1306526"/>
            <a:ext cx="737235" cy="213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条件路径</a:t>
            </a: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A0518D75-6A3E-69DE-CC3A-9BB0FC20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35" y="173583"/>
            <a:ext cx="150418" cy="72155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97d8c406f0fe40aa"/>
            <a:stretch/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object 21">
            <a:extLst xmlns:a="http://schemas.openxmlformats.org/drawingml/2006/main">
              <a:ext uri="{FF2B5EF4-FFF2-40B4-BE49-F238E27FC236}">
                <a16:creationId xmlns:a16="http://schemas.microsoft.com/office/drawing/2014/main" id="{8400D909-1BAC-436D-AE0A-6D1E491C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323" y="0"/>
            <a:ext cx="1979930" cy="1491615"/>
          </a:xfrm>
          <a:custGeom xmlns:a="http://schemas.openxmlformats.org/drawingml/2006/main">
            <a:rect l="l" t="t" r="r" b="b"/>
            <a:pathLst>
              <a:path w="1979929" h="1491615">
                <a:moveTo>
                  <a:pt x="1259903" y="1491615"/>
                </a:moveTo>
                <a:lnTo>
                  <a:pt x="1156551" y="1487437"/>
                </a:lnTo>
                <a:lnTo>
                  <a:pt x="1055500" y="1475121"/>
                </a:lnTo>
                <a:lnTo>
                  <a:pt x="957073" y="1454991"/>
                </a:lnTo>
                <a:lnTo>
                  <a:pt x="861596" y="1427370"/>
                </a:lnTo>
                <a:lnTo>
                  <a:pt x="769393" y="1392584"/>
                </a:lnTo>
                <a:lnTo>
                  <a:pt x="680788" y="1350957"/>
                </a:lnTo>
                <a:lnTo>
                  <a:pt x="596107" y="1302813"/>
                </a:lnTo>
                <a:lnTo>
                  <a:pt x="515689" y="1248488"/>
                </a:lnTo>
                <a:lnTo>
                  <a:pt x="439832" y="1188288"/>
                </a:lnTo>
                <a:lnTo>
                  <a:pt x="368871" y="1122545"/>
                </a:lnTo>
                <a:lnTo>
                  <a:pt x="303132" y="1051583"/>
                </a:lnTo>
                <a:lnTo>
                  <a:pt x="242939" y="975728"/>
                </a:lnTo>
                <a:lnTo>
                  <a:pt x="188617" y="895304"/>
                </a:lnTo>
                <a:lnTo>
                  <a:pt x="140490" y="810635"/>
                </a:lnTo>
                <a:lnTo>
                  <a:pt x="98883" y="722045"/>
                </a:lnTo>
                <a:lnTo>
                  <a:pt x="64120" y="629860"/>
                </a:lnTo>
                <a:lnTo>
                  <a:pt x="36525" y="534403"/>
                </a:lnTo>
                <a:lnTo>
                  <a:pt x="16424" y="435999"/>
                </a:lnTo>
                <a:lnTo>
                  <a:pt x="4141" y="334972"/>
                </a:lnTo>
                <a:lnTo>
                  <a:pt x="0" y="231647"/>
                </a:lnTo>
                <a:lnTo>
                  <a:pt x="4141" y="128269"/>
                </a:lnTo>
                <a:lnTo>
                  <a:pt x="16424" y="27193"/>
                </a:lnTo>
                <a:lnTo>
                  <a:pt x="21977" y="0"/>
                </a:lnTo>
                <a:lnTo>
                  <a:pt x="1979676" y="0"/>
                </a:lnTo>
                <a:lnTo>
                  <a:pt x="1979676" y="1264998"/>
                </a:lnTo>
                <a:lnTo>
                  <a:pt x="1923683" y="1302821"/>
                </a:lnTo>
                <a:lnTo>
                  <a:pt x="1839004" y="1350962"/>
                </a:lnTo>
                <a:lnTo>
                  <a:pt x="1750403" y="1392587"/>
                </a:lnTo>
                <a:lnTo>
                  <a:pt x="1658203" y="1427372"/>
                </a:lnTo>
                <a:lnTo>
                  <a:pt x="1562728" y="1454991"/>
                </a:lnTo>
                <a:lnTo>
                  <a:pt x="1464304" y="1475121"/>
                </a:lnTo>
                <a:lnTo>
                  <a:pt x="1363254" y="1487437"/>
                </a:lnTo>
                <a:lnTo>
                  <a:pt x="1259903" y="1491615"/>
                </a:lnTo>
                <a:close/>
              </a:path>
            </a:pathLst>
          </a:custGeom>
          <a:solidFill xmlns:a="http://schemas.openxmlformats.org/drawingml/2006/main">
            <a:srgbClr val="09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6805F477-6628-B7BD-D690-DA003E4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031" y="257809"/>
            <a:ext cx="878840" cy="879475"/>
          </a:xfrm>
          <a:custGeom xmlns:a="http://schemas.openxmlformats.org/drawingml/2006/main">
            <a:rect l="l" t="t" r="r" b="b"/>
            <a:pathLst>
              <a:path w="878840" h="879475">
                <a:moveTo>
                  <a:pt x="438975" y="879474"/>
                </a:moveTo>
                <a:lnTo>
                  <a:pt x="367645" y="873719"/>
                </a:lnTo>
                <a:lnTo>
                  <a:pt x="299980" y="857057"/>
                </a:lnTo>
                <a:lnTo>
                  <a:pt x="236889" y="830392"/>
                </a:lnTo>
                <a:lnTo>
                  <a:pt x="179284" y="794631"/>
                </a:lnTo>
                <a:lnTo>
                  <a:pt x="128077" y="750679"/>
                </a:lnTo>
                <a:lnTo>
                  <a:pt x="84181" y="699441"/>
                </a:lnTo>
                <a:lnTo>
                  <a:pt x="48581" y="641975"/>
                </a:lnTo>
                <a:lnTo>
                  <a:pt x="22046" y="578956"/>
                </a:lnTo>
                <a:lnTo>
                  <a:pt x="5548" y="511389"/>
                </a:lnTo>
                <a:lnTo>
                  <a:pt x="0" y="440181"/>
                </a:lnTo>
                <a:lnTo>
                  <a:pt x="1349" y="404053"/>
                </a:lnTo>
                <a:lnTo>
                  <a:pt x="12485" y="334335"/>
                </a:lnTo>
                <a:lnTo>
                  <a:pt x="34115" y="268758"/>
                </a:lnTo>
                <a:lnTo>
                  <a:pt x="65411" y="208101"/>
                </a:lnTo>
                <a:lnTo>
                  <a:pt x="105285" y="153560"/>
                </a:lnTo>
                <a:lnTo>
                  <a:pt x="152918" y="105852"/>
                </a:lnTo>
                <a:lnTo>
                  <a:pt x="207405" y="65882"/>
                </a:lnTo>
                <a:lnTo>
                  <a:pt x="267839" y="34556"/>
                </a:lnTo>
                <a:lnTo>
                  <a:pt x="333310" y="12779"/>
                </a:lnTo>
                <a:lnTo>
                  <a:pt x="402911" y="1457"/>
                </a:lnTo>
                <a:lnTo>
                  <a:pt x="438975" y="0"/>
                </a:lnTo>
                <a:lnTo>
                  <a:pt x="475041" y="1457"/>
                </a:lnTo>
                <a:lnTo>
                  <a:pt x="544655" y="12781"/>
                </a:lnTo>
                <a:lnTo>
                  <a:pt x="610156" y="34563"/>
                </a:lnTo>
                <a:lnTo>
                  <a:pt x="670639" y="65901"/>
                </a:lnTo>
                <a:lnTo>
                  <a:pt x="725196" y="105892"/>
                </a:lnTo>
                <a:lnTo>
                  <a:pt x="772919" y="153634"/>
                </a:lnTo>
                <a:lnTo>
                  <a:pt x="812900" y="208223"/>
                </a:lnTo>
                <a:lnTo>
                  <a:pt x="844156" y="268571"/>
                </a:lnTo>
                <a:lnTo>
                  <a:pt x="865933" y="334062"/>
                </a:lnTo>
                <a:lnTo>
                  <a:pt x="877255" y="403671"/>
                </a:lnTo>
                <a:lnTo>
                  <a:pt x="878713" y="439737"/>
                </a:lnTo>
                <a:lnTo>
                  <a:pt x="877255" y="475803"/>
                </a:lnTo>
                <a:lnTo>
                  <a:pt x="865933" y="545412"/>
                </a:lnTo>
                <a:lnTo>
                  <a:pt x="844156" y="610903"/>
                </a:lnTo>
                <a:lnTo>
                  <a:pt x="812748" y="671495"/>
                </a:lnTo>
                <a:lnTo>
                  <a:pt x="772792" y="725988"/>
                </a:lnTo>
                <a:lnTo>
                  <a:pt x="725101" y="773663"/>
                </a:lnTo>
                <a:lnTo>
                  <a:pt x="670577" y="813611"/>
                </a:lnTo>
                <a:lnTo>
                  <a:pt x="610123" y="844925"/>
                </a:lnTo>
                <a:lnTo>
                  <a:pt x="544642" y="866696"/>
                </a:lnTo>
                <a:lnTo>
                  <a:pt x="475039" y="878017"/>
                </a:lnTo>
                <a:lnTo>
                  <a:pt x="438975" y="879474"/>
                </a:lnTo>
                <a:close/>
              </a:path>
            </a:pathLst>
          </a:custGeom>
          <a:solidFill xmlns:a="http://schemas.openxmlformats.org/drawingml/2006/main">
            <a:srgbClr val="091F5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3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e71fd6abd42ca"/>
          <a:stretch xmlns:a="http://schemas.openxmlformats.org/drawingml/2006/main"/>
        </p:blipFill>
        <p:spPr>
          <a:xfrm xmlns:a="http://schemas.openxmlformats.org/drawingml/2006/main">
            <a:off x="7429308" y="395637"/>
            <a:ext cx="1483997" cy="339652"/>
          </a:xfrm>
          <a:prstGeom xmlns:a="http://schemas.openxmlformats.org/drawingml/2006/main" prst="rect">
            <a:avLst/>
          </a:prstGeom>
        </p:spPr>
      </p:pic>
      <p:sp>
        <p:nvSpPr>
          <p:cNvPr id="26" name="object 3">
            <a:extLst xmlns:a="http://schemas.openxmlformats.org/drawingml/2006/main">
              <a:ext uri="{FF2B5EF4-FFF2-40B4-BE49-F238E27FC236}">
                <a16:creationId xmlns:a16="http://schemas.microsoft.com/office/drawing/2014/main" id="{8BEEF823-C43E-56B1-2C2C-A384C6A2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79" y="308642"/>
            <a:ext cx="1950085" cy="153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>
              <a:lnSpc>
                <a:spcPts val="1200"/>
              </a:lnSpc>
              <a:buNone/>
            </a:pPr>
            <a:r>
              <a:rPr sz="1050">
                <a:latin typeface="微软雅黑"/>
                <a:ea typeface="微软雅黑"/>
                <a:cs typeface="微软雅黑"/>
              </a:rPr>
              <a:t>EMPIRICAL RESULTS  /  04</a:t>
            </a:r>
          </a:p>
        </p:txBody>
      </p:sp>
      <p:sp>
        <p:nvSpPr>
          <p:cNvPr id="27" name="object 4">
            <a:extLst xmlns:a="http://schemas.openxmlformats.org/drawingml/2006/main">
              <a:ext uri="{FF2B5EF4-FFF2-40B4-BE49-F238E27FC236}">
                <a16:creationId xmlns:a16="http://schemas.microsoft.com/office/drawing/2014/main" id="{E9CE6BC3-B49E-225F-BBB4-426173F8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" y="468630"/>
            <a:ext cx="1950085" cy="5473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marL="12700">
              <a:lnSpc>
                <a:spcPts val="2155"/>
              </a:lnSpc>
              <a:buNone/>
            </a:pPr>
            <a:r>
              <a:t>承接条件：低碳禀赋并非充分条件</a:t>
            </a:r>
          </a:p>
        </p:txBody>
      </p:sp>
      <p:sp>
        <p:nvSpPr>
          <p:cNvPr id="23" name="object 5">
            <a:extLst xmlns:a="http://schemas.openxmlformats.org/drawingml/2006/main">
              <a:ext uri="{FF2B5EF4-FFF2-40B4-BE49-F238E27FC236}">
                <a16:creationId xmlns:a16="http://schemas.microsoft.com/office/drawing/2014/main" id="{A5F73BBC-C87C-8DF7-AA80-E561BC5E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" y="2030730"/>
            <a:ext cx="3288030" cy="2788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三重差分关键系数    风电发电   风光发电</a:t>
            </a:r>
          </a:p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1200">
                <a:latin typeface="微软雅黑"/>
                <a:ea typeface="微软雅黑"/>
                <a:cs typeface="微软雅黑"/>
              </a:rPr>
              <a:t>后期低碳禀赋       0.0309    0.0908*</a:t>
            </a:r>
          </a:p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t>三重交互         -0.0927** -0.2363**</a:t>
            </a:r>
          </a:p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模型包含后期煤炭暴露及低阶交互项；</a:t>
            </a:r>
          </a:p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省份/年份固定效应。</a:t>
            </a:r>
          </a:p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晋蒙文本摘录：内蒙古×政策后</a:t>
            </a:r>
          </a:p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绿色金融词频 0.3062*；煤炭清洁治理</a:t>
            </a:r>
          </a:p>
          <a:p xmlns:a="http://schemas.openxmlformats.org/drawingml/2006/main">
            <a:pPr marL="12700" indent="0">
              <a:lnSpc>
                <a:spcPct val="150000"/>
              </a:lnSpc>
              <a:buNone/>
            </a:pPr>
            <a:r>
              <a:rPr sz="12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词频 9.3511***（每万字）。</a:t>
            </a:r>
          </a:p>
        </p:txBody>
      </p:sp>
    </p:spTree>
    <p:extLst>
      <p:ext uri="{BB962C8B-B14F-4D97-AF65-F5344CB8AC3E}">
        <p14:creationId xmlns:p14="http://schemas.microsoft.com/office/powerpoint/2010/main" val="36811933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2026-05-27T15:05:06.9560000Z</dcterms:created>
  <dcterms:modified xsi:type="dcterms:W3CDTF">2026-05-27T15:05:06.9560000Z</dcterms:modified>
</coreProperties>
</file>