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3" name="Shape 1"/>
          <p:cNvSpPr/>
          <p:nvPr/>
        </p:nvSpPr>
        <p:spPr>
          <a:xfrm>
            <a:off x="9784080" y="-182880"/>
            <a:ext cx="1828800" cy="1828800"/>
          </a:xfrm>
          <a:prstGeom prst="ellipse">
            <a:avLst/>
          </a:prstGeom>
          <a:solidFill>
            <a:srgbClr val="07245E"/>
          </a:solidFill>
          <a:ln w="12700">
            <a:solidFill>
              <a:srgbClr val="07245E"/>
            </a:solidFill>
            <a:prstDash val="solid"/>
          </a:ln>
        </p:spPr>
      </p:sp>
      <p:sp>
        <p:nvSpPr>
          <p:cNvPr id="4" name="Shape 2"/>
          <p:cNvSpPr/>
          <p:nvPr/>
        </p:nvSpPr>
        <p:spPr>
          <a:xfrm>
            <a:off x="10469880" y="-530352"/>
            <a:ext cx="1920240" cy="1920240"/>
          </a:xfrm>
          <a:prstGeom prst="ellipse">
            <a:avLst/>
          </a:prstGeom>
          <a:solidFill>
            <a:srgbClr val="07245E"/>
          </a:solidFill>
          <a:ln w="12700">
            <a:solidFill>
              <a:srgbClr val="07245E"/>
            </a:solidFill>
            <a:prstDash val="solid"/>
          </a:ln>
        </p:spPr>
      </p:sp>
      <p:sp>
        <p:nvSpPr>
          <p:cNvPr id="5" name="Text 3"/>
          <p:cNvSpPr/>
          <p:nvPr/>
        </p:nvSpPr>
        <p:spPr>
          <a:xfrm>
            <a:off x="10287000" y="512064"/>
            <a:ext cx="1508760" cy="182880"/>
          </a:xfrm>
          <a:prstGeom prst="rect">
            <a:avLst/>
          </a:prstGeom>
          <a:noFill/>
          <a:ln/>
        </p:spPr>
        <p:txBody>
          <a:bodyPr wrap="square" lIns="0" tIns="0" rIns="0" bIns="0" rtlCol="0" anchor="ctr"/>
          <a:lstStyle/>
          <a:p>
            <a:pPr indent="0" marL="0">
              <a:buNone/>
            </a:pPr>
            <a:r>
              <a:rPr lang="en-US" sz="850" b="1" dirty="0">
                <a:solidFill>
                  <a:srgbClr val="FFFFFF"/>
                </a:solidFill>
                <a:latin typeface="Microsoft YaHei" pitchFamily="34" charset="0"/>
                <a:ea typeface="Microsoft YaHei" pitchFamily="34" charset="-122"/>
                <a:cs typeface="Microsoft YaHei" pitchFamily="34" charset="-120"/>
              </a:rPr>
              <a:t>北京外国语大学</a:t>
            </a:r>
            <a:endParaRPr lang="en-US" sz="850" dirty="0"/>
          </a:p>
        </p:txBody>
      </p:sp>
      <p:sp>
        <p:nvSpPr>
          <p:cNvPr id="6" name="Text 4"/>
          <p:cNvSpPr/>
          <p:nvPr/>
        </p:nvSpPr>
        <p:spPr>
          <a:xfrm>
            <a:off x="10287000" y="704088"/>
            <a:ext cx="1691640" cy="109728"/>
          </a:xfrm>
          <a:prstGeom prst="rect">
            <a:avLst/>
          </a:prstGeom>
          <a:noFill/>
          <a:ln/>
        </p:spPr>
        <p:txBody>
          <a:bodyPr wrap="square" lIns="0" tIns="0" rIns="0" bIns="0" rtlCol="0" anchor="ctr"/>
          <a:lstStyle/>
          <a:p>
            <a:pPr indent="0" marL="0">
              <a:buNone/>
            </a:pPr>
            <a:r>
              <a:rPr lang="en-US" sz="390" dirty="0">
                <a:solidFill>
                  <a:srgbClr val="FFFFFF"/>
                </a:solidFill>
                <a:latin typeface="Arial" pitchFamily="34" charset="0"/>
                <a:ea typeface="Arial" pitchFamily="34" charset="-122"/>
                <a:cs typeface="Arial" pitchFamily="34" charset="-120"/>
              </a:rPr>
              <a:t>BEIJING FOREIGN STUDIES UNIVERSITY</a:t>
            </a:r>
            <a:endParaRPr lang="en-US" sz="390" dirty="0"/>
          </a:p>
        </p:txBody>
      </p:sp>
      <p:sp>
        <p:nvSpPr>
          <p:cNvPr id="7" name="Text 5"/>
          <p:cNvSpPr/>
          <p:nvPr/>
        </p:nvSpPr>
        <p:spPr>
          <a:xfrm>
            <a:off x="530352" y="256032"/>
            <a:ext cx="3017520" cy="219456"/>
          </a:xfrm>
          <a:prstGeom prst="rect">
            <a:avLst/>
          </a:prstGeom>
          <a:noFill/>
          <a:ln/>
        </p:spPr>
        <p:txBody>
          <a:bodyPr wrap="square" lIns="0" tIns="0" rIns="0" bIns="0" rtlCol="0" anchor="ctr"/>
          <a:lstStyle/>
          <a:p>
            <a:pPr indent="0" marL="0">
              <a:buNone/>
            </a:pPr>
            <a:r>
              <a:rPr lang="en-US" sz="920" dirty="0">
                <a:solidFill>
                  <a:srgbClr val="32363A"/>
                </a:solidFill>
                <a:latin typeface="Arial" pitchFamily="34" charset="0"/>
                <a:ea typeface="Arial" pitchFamily="34" charset="-122"/>
                <a:cs typeface="Arial" pitchFamily="34" charset="-120"/>
              </a:rPr>
              <a:t>EMPIRICAL RESULTS / 01</a:t>
            </a:r>
            <a:endParaRPr lang="en-US" sz="920" dirty="0"/>
          </a:p>
        </p:txBody>
      </p:sp>
      <p:sp>
        <p:nvSpPr>
          <p:cNvPr id="8" name="Text 6"/>
          <p:cNvSpPr/>
          <p:nvPr/>
        </p:nvSpPr>
        <p:spPr>
          <a:xfrm>
            <a:off x="7040880" y="256032"/>
            <a:ext cx="2331720" cy="237744"/>
          </a:xfrm>
          <a:prstGeom prst="rect">
            <a:avLst/>
          </a:prstGeom>
          <a:noFill/>
          <a:ln/>
        </p:spPr>
        <p:txBody>
          <a:bodyPr wrap="square" lIns="0" tIns="0" rIns="0" bIns="0" rtlCol="0" anchor="ctr"/>
          <a:lstStyle/>
          <a:p>
            <a:pPr algn="r" indent="0" marL="0">
              <a:buNone/>
            </a:pPr>
            <a:r>
              <a:rPr lang="en-US" sz="800" dirty="0">
                <a:solidFill>
                  <a:srgbClr val="6B7280"/>
                </a:solidFill>
                <a:latin typeface="Microsoft YaHei" pitchFamily="34" charset="0"/>
                <a:ea typeface="Microsoft YaHei" pitchFamily="34" charset="-122"/>
                <a:cs typeface="Microsoft YaHei" pitchFamily="34" charset="-120"/>
              </a:rPr>
              <a:t>约束性治理</a:t>
            </a:r>
            <a:endParaRPr lang="en-US" sz="800" dirty="0"/>
          </a:p>
        </p:txBody>
      </p:sp>
      <p:sp>
        <p:nvSpPr>
          <p:cNvPr id="9" name="Text 7"/>
          <p:cNvSpPr/>
          <p:nvPr/>
        </p:nvSpPr>
        <p:spPr>
          <a:xfrm>
            <a:off x="530352" y="512064"/>
            <a:ext cx="8686800" cy="384048"/>
          </a:xfrm>
          <a:prstGeom prst="rect">
            <a:avLst/>
          </a:prstGeom>
          <a:noFill/>
          <a:ln/>
        </p:spPr>
        <p:txBody>
          <a:bodyPr wrap="square" lIns="0" tIns="0" rIns="0" bIns="0" rtlCol="0" anchor="ctr"/>
          <a:lstStyle/>
          <a:p>
            <a:pPr indent="0" marL="0">
              <a:buNone/>
            </a:pPr>
            <a:r>
              <a:rPr lang="en-US" sz="1800" b="1" dirty="0">
                <a:solidFill>
                  <a:srgbClr val="32363A"/>
                </a:solidFill>
                <a:latin typeface="Microsoft YaHei" pitchFamily="34" charset="0"/>
                <a:ea typeface="Microsoft YaHei" pitchFamily="34" charset="-122"/>
                <a:cs typeface="Microsoft YaHei" pitchFamily="34" charset="-120"/>
              </a:rPr>
              <a:t>表二与表三：绿色信贷首先体现为强度压降和污染治理</a:t>
            </a:r>
            <a:endParaRPr lang="en-US" sz="1800" dirty="0"/>
          </a:p>
        </p:txBody>
      </p:sp>
      <p:sp>
        <p:nvSpPr>
          <p:cNvPr id="10" name="Text 8"/>
          <p:cNvSpPr/>
          <p:nvPr/>
        </p:nvSpPr>
        <p:spPr>
          <a:xfrm>
            <a:off x="530352" y="987552"/>
            <a:ext cx="8778240" cy="256032"/>
          </a:xfrm>
          <a:prstGeom prst="rect">
            <a:avLst/>
          </a:prstGeom>
          <a:noFill/>
          <a:ln/>
        </p:spPr>
        <p:txBody>
          <a:bodyPr wrap="square" lIns="0" tIns="0" rIns="0" bIns="0" rtlCol="0" anchor="ctr"/>
          <a:lstStyle/>
          <a:p>
            <a:pPr indent="0" marL="0">
              <a:buNone/>
            </a:pPr>
            <a:r>
              <a:rPr lang="en-US" sz="850" dirty="0">
                <a:solidFill>
                  <a:srgbClr val="6B7280"/>
                </a:solidFill>
                <a:latin typeface="Microsoft YaHei" pitchFamily="34" charset="0"/>
                <a:ea typeface="Microsoft YaHei" pitchFamily="34" charset="-122"/>
                <a:cs typeface="Microsoft YaHei" pitchFamily="34" charset="-120"/>
              </a:rPr>
              <a:t>连续煤炭暴露度 DID；核心解释变量为 Post2012 × 政策前煤炭暴露度。</a:t>
            </a:r>
            <a:endParaRPr lang="en-US" sz="850" dirty="0"/>
          </a:p>
        </p:txBody>
      </p:sp>
      <p:sp>
        <p:nvSpPr>
          <p:cNvPr id="11" name="Shape 9"/>
          <p:cNvSpPr/>
          <p:nvPr/>
        </p:nvSpPr>
        <p:spPr>
          <a:xfrm>
            <a:off x="420624" y="1298448"/>
            <a:ext cx="5650992" cy="292608"/>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475488" y="1335024"/>
            <a:ext cx="5541264"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表二：能源强度压降</a:t>
            </a:r>
            <a:endParaRPr lang="en-US" sz="72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20624" y="1527048"/>
          <a:ext cx="5650992" cy="1627632"/>
        </p:xfrm>
        <a:graphic>
          <a:graphicData uri="http://schemas.openxmlformats.org/drawingml/2006/table">
            <a:tbl>
              <a:tblPr/>
              <a:tblGrid>
                <a:gridCol w="1143000"/>
                <a:gridCol w="1024128"/>
                <a:gridCol w="822960"/>
                <a:gridCol w="1280160"/>
                <a:gridCol w="1371600"/>
              </a:tblGrid>
              <a:tr h="271272">
                <a:tc>
                  <a:txBody>
                    <a:bodyPr/>
                    <a:lstStyle/>
                    <a:p>
                      <a:pPr algn="ctr" indent="0" marL="0">
                        <a:buNone/>
                      </a:pPr>
                      <a:r>
                        <a:rPr lang="en-US" sz="660" b="1" dirty="0">
                          <a:solidFill>
                            <a:srgbClr val="32363A"/>
                          </a:solidFill>
                          <a:latin typeface="Microsoft YaHei" pitchFamily="34" charset="0"/>
                          <a:ea typeface="Microsoft YaHei" pitchFamily="34" charset="-122"/>
                          <a:cs typeface="Microsoft YaHei" pitchFamily="34" charset="-120"/>
                        </a:rPr>
                        <a:t>变量</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20" b="1" dirty="0">
                          <a:solidFill>
                            <a:srgbClr val="32363A"/>
                          </a:solidFill>
                          <a:latin typeface="Microsoft YaHei" pitchFamily="34" charset="0"/>
                          <a:ea typeface="Microsoft YaHei" pitchFamily="34" charset="-122"/>
                          <a:cs typeface="Microsoft YaHei" pitchFamily="34" charset="-120"/>
                        </a:rPr>
                        <a:t>绿色TFP</a:t>
                      </a:r>
                      <a:endParaRPr lang="en-US" sz="6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20" b="1" dirty="0">
                          <a:solidFill>
                            <a:srgbClr val="32363A"/>
                          </a:solidFill>
                          <a:latin typeface="Microsoft YaHei" pitchFamily="34" charset="0"/>
                          <a:ea typeface="Microsoft YaHei" pitchFamily="34" charset="-122"/>
                          <a:cs typeface="Microsoft YaHei" pitchFamily="34" charset="-120"/>
                        </a:rPr>
                        <a:t>GML</a:t>
                      </a:r>
                      <a:endParaRPr lang="en-US" sz="6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20" b="1" dirty="0">
                          <a:solidFill>
                            <a:srgbClr val="32363A"/>
                          </a:solidFill>
                          <a:latin typeface="Microsoft YaHei" pitchFamily="34" charset="0"/>
                          <a:ea typeface="Microsoft YaHei" pitchFamily="34" charset="-122"/>
                          <a:cs typeface="Microsoft YaHei" pitchFamily="34" charset="-120"/>
                        </a:rPr>
                        <a:t>五类能源强度</a:t>
                      </a:r>
                      <a:endParaRPr lang="en-US" sz="6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20" b="1" dirty="0">
                          <a:solidFill>
                            <a:srgbClr val="32363A"/>
                          </a:solidFill>
                          <a:latin typeface="Microsoft YaHei" pitchFamily="34" charset="0"/>
                          <a:ea typeface="Microsoft YaHei" pitchFamily="34" charset="-122"/>
                          <a:cs typeface="Microsoft YaHei" pitchFamily="34" charset="-120"/>
                        </a:rPr>
                        <a:t>煤炭终端强度</a:t>
                      </a:r>
                      <a:endParaRPr lang="en-US" sz="6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271272">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政策后×煤炭暴露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-1.0498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-0.1342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-0.2895**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-0.4262***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71272">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(0.7528)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(0.0830)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(0.1190)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(0.0776)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71272">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样本量</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71272">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R²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0.7644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0.2719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0.9592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0.9237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71272">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省份/年份FE</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4" name="Shape 11"/>
          <p:cNvSpPr/>
          <p:nvPr/>
        </p:nvSpPr>
        <p:spPr>
          <a:xfrm>
            <a:off x="420624" y="3401568"/>
            <a:ext cx="5650992" cy="292608"/>
          </a:xfrm>
          <a:prstGeom prst="roundRect">
            <a:avLst>
              <a:gd name="adj" fmla="val 18750"/>
            </a:avLst>
          </a:prstGeom>
          <a:solidFill>
            <a:srgbClr val="07245E"/>
          </a:solidFill>
          <a:ln w="12700">
            <a:solidFill>
              <a:srgbClr val="07245E"/>
            </a:solidFill>
            <a:prstDash val="solid"/>
          </a:ln>
        </p:spPr>
      </p:sp>
      <p:sp>
        <p:nvSpPr>
          <p:cNvPr id="15" name="Text 12"/>
          <p:cNvSpPr/>
          <p:nvPr/>
        </p:nvSpPr>
        <p:spPr>
          <a:xfrm>
            <a:off x="475488" y="3438144"/>
            <a:ext cx="5541264"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表三：污染治理响应</a:t>
            </a:r>
            <a:endParaRPr lang="en-US" sz="72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420624" y="3630168"/>
          <a:ext cx="5650992" cy="1737360"/>
        </p:xfrm>
        <a:graphic>
          <a:graphicData uri="http://schemas.openxmlformats.org/drawingml/2006/table">
            <a:tbl>
              <a:tblPr/>
              <a:tblGrid>
                <a:gridCol w="1051560"/>
                <a:gridCol w="960120"/>
                <a:gridCol w="777240"/>
                <a:gridCol w="822960"/>
                <a:gridCol w="914400"/>
                <a:gridCol w="1124712"/>
              </a:tblGrid>
              <a:tr h="289560">
                <a:tc>
                  <a:txBody>
                    <a:bodyPr/>
                    <a:lstStyle/>
                    <a:p>
                      <a:pPr algn="ctr" indent="0" marL="0">
                        <a:buNone/>
                      </a:pPr>
                      <a:r>
                        <a:rPr lang="en-US" sz="660" b="1" dirty="0">
                          <a:solidFill>
                            <a:srgbClr val="32363A"/>
                          </a:solidFill>
                          <a:latin typeface="Microsoft YaHei" pitchFamily="34" charset="0"/>
                          <a:ea typeface="Microsoft YaHei" pitchFamily="34" charset="-122"/>
                          <a:cs typeface="Microsoft YaHei" pitchFamily="34" charset="-120"/>
                        </a:rPr>
                        <a:t>变量</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00" b="1" dirty="0">
                          <a:solidFill>
                            <a:srgbClr val="32363A"/>
                          </a:solidFill>
                          <a:latin typeface="Microsoft YaHei" pitchFamily="34" charset="0"/>
                          <a:ea typeface="Microsoft YaHei" pitchFamily="34" charset="-122"/>
                          <a:cs typeface="Microsoft YaHei" pitchFamily="34" charset="-120"/>
                        </a:rPr>
                        <a:t>工业SO₂</a:t>
                      </a:r>
                      <a:endParaRPr lang="en-US" sz="6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00" b="1" dirty="0">
                          <a:solidFill>
                            <a:srgbClr val="32363A"/>
                          </a:solidFill>
                          <a:latin typeface="Microsoft YaHei" pitchFamily="34" charset="0"/>
                          <a:ea typeface="Microsoft YaHei" pitchFamily="34" charset="-122"/>
                          <a:cs typeface="Microsoft YaHei" pitchFamily="34" charset="-120"/>
                        </a:rPr>
                        <a:t>NOx</a:t>
                      </a:r>
                      <a:endParaRPr lang="en-US" sz="6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00" b="1" dirty="0">
                          <a:solidFill>
                            <a:srgbClr val="32363A"/>
                          </a:solidFill>
                          <a:latin typeface="Microsoft YaHei" pitchFamily="34" charset="0"/>
                          <a:ea typeface="Microsoft YaHei" pitchFamily="34" charset="-122"/>
                          <a:cs typeface="Microsoft YaHei" pitchFamily="34" charset="-120"/>
                        </a:rPr>
                        <a:t>颗粒物</a:t>
                      </a:r>
                      <a:endParaRPr lang="en-US" sz="6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00" b="1" dirty="0">
                          <a:solidFill>
                            <a:srgbClr val="32363A"/>
                          </a:solidFill>
                          <a:latin typeface="Microsoft YaHei" pitchFamily="34" charset="0"/>
                          <a:ea typeface="Microsoft YaHei" pitchFamily="34" charset="-122"/>
                          <a:cs typeface="Microsoft YaHei" pitchFamily="34" charset="-120"/>
                        </a:rPr>
                        <a:t>工业固废</a:t>
                      </a:r>
                      <a:endParaRPr lang="en-US" sz="6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600" b="1" dirty="0">
                          <a:solidFill>
                            <a:srgbClr val="32363A"/>
                          </a:solidFill>
                          <a:latin typeface="Microsoft YaHei" pitchFamily="34" charset="0"/>
                          <a:ea typeface="Microsoft YaHei" pitchFamily="34" charset="-122"/>
                          <a:cs typeface="Microsoft YaHei" pitchFamily="34" charset="-120"/>
                        </a:rPr>
                        <a:t>工业废水</a:t>
                      </a:r>
                      <a:endParaRPr lang="en-US" sz="6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289560">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政策后×煤炭暴露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-72.5887***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-43.9915**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-10.1339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-47.2683**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-40594.6149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895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(19.6996)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(16.8916)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(28.0627)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(20.0521)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(24203.0698)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895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样本量</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336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154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895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R²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0.8812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0.9223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0.8225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0.7837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0.9108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2895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省份/年份FE</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7" name="Shape 13"/>
          <p:cNvSpPr/>
          <p:nvPr/>
        </p:nvSpPr>
        <p:spPr>
          <a:xfrm>
            <a:off x="6419088" y="1417320"/>
            <a:ext cx="4983480" cy="4370832"/>
          </a:xfrm>
          <a:prstGeom prst="roundRect">
            <a:avLst>
              <a:gd name="adj" fmla="val 1255"/>
            </a:avLst>
          </a:prstGeom>
          <a:solidFill>
            <a:srgbClr val="FFFFFF"/>
          </a:solidFill>
          <a:ln w="12700">
            <a:solidFill>
              <a:srgbClr val="D3C7B8"/>
            </a:solidFill>
            <a:prstDash val="solid"/>
          </a:ln>
        </p:spPr>
      </p:sp>
      <p:sp>
        <p:nvSpPr>
          <p:cNvPr id="18" name="Text 14"/>
          <p:cNvSpPr/>
          <p:nvPr/>
        </p:nvSpPr>
        <p:spPr>
          <a:xfrm>
            <a:off x="6565392" y="1536192"/>
            <a:ext cx="4690872" cy="219456"/>
          </a:xfrm>
          <a:prstGeom prst="rect">
            <a:avLst/>
          </a:prstGeom>
          <a:noFill/>
          <a:ln/>
        </p:spPr>
        <p:txBody>
          <a:bodyPr wrap="square" lIns="0" tIns="0" rIns="0" bIns="0" rtlCol="0" anchor="ctr"/>
          <a:lstStyle/>
          <a:p>
            <a:pPr indent="0" marL="0">
              <a:buNone/>
            </a:pPr>
            <a:r>
              <a:rPr lang="en-US" sz="920" b="1" dirty="0">
                <a:solidFill>
                  <a:srgbClr val="07245E"/>
                </a:solidFill>
                <a:latin typeface="Microsoft YaHei" pitchFamily="34" charset="0"/>
                <a:ea typeface="Microsoft YaHei" pitchFamily="34" charset="-122"/>
                <a:cs typeface="Microsoft YaHei" pitchFamily="34" charset="-120"/>
              </a:rPr>
              <a:t>结果解释</a:t>
            </a:r>
            <a:endParaRPr lang="en-US" sz="920" dirty="0"/>
          </a:p>
        </p:txBody>
      </p:sp>
      <p:sp>
        <p:nvSpPr>
          <p:cNvPr id="19" name="Text 15"/>
          <p:cNvSpPr/>
          <p:nvPr/>
        </p:nvSpPr>
        <p:spPr>
          <a:xfrm>
            <a:off x="6583680" y="1856232"/>
            <a:ext cx="4672584" cy="3840480"/>
          </a:xfrm>
          <a:prstGeom prst="rect">
            <a:avLst/>
          </a:prstGeom>
          <a:noFill/>
          <a:ln/>
        </p:spPr>
        <p:txBody>
          <a:bodyPr wrap="square" lIns="0" tIns="0" rIns="0" bIns="0" rtlCol="0" anchor="t">
            <a:normAutofit/>
          </a:bodyPr>
          <a:lstStyle/>
          <a:p>
            <a:r>
              <a:rPr lang="en-US" sz="810" dirty="0">
                <a:solidFill>
                  <a:srgbClr val="32363A"/>
                </a:solidFill>
                <a:latin typeface="Microsoft YaHei" pitchFamily="34" charset="0"/>
                <a:ea typeface="Microsoft YaHei" pitchFamily="34" charset="-122"/>
                <a:cs typeface="Microsoft YaHei" pitchFamily="34" charset="-120"/>
              </a:rPr>
              <a:t>• 能源强度和煤炭终端强度显著下降，说明绿色信贷首先压低高煤炭体系内部的运行强度。</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绿色TFP和GML不显著，因此不能表述为生产率跃升。</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污染治理证据集中在工业SO₂、NOx和工业固废；颗粒物和废水不稳，不能说全面污染改善。</a:t>
            </a:r>
            <a:endParaRPr lang="en-US" sz="810" dirty="0"/>
          </a:p>
        </p:txBody>
      </p:sp>
      <p:sp>
        <p:nvSpPr>
          <p:cNvPr id="20" name="Text 16"/>
          <p:cNvSpPr/>
          <p:nvPr/>
        </p:nvSpPr>
        <p:spPr>
          <a:xfrm>
            <a:off x="438912" y="6510528"/>
            <a:ext cx="11201400" cy="164592"/>
          </a:xfrm>
          <a:prstGeom prst="rect">
            <a:avLst/>
          </a:prstGeom>
          <a:noFill/>
          <a:ln/>
        </p:spPr>
        <p:txBody>
          <a:bodyPr wrap="square" lIns="0" tIns="0" rIns="0" bIns="0" rtlCol="0" anchor="ctr"/>
          <a:lstStyle/>
          <a:p>
            <a:pPr indent="0" marL="0">
              <a:buNone/>
            </a:pPr>
            <a:r>
              <a:rPr lang="en-US" sz="650" dirty="0">
                <a:solidFill>
                  <a:srgbClr val="6B7280"/>
                </a:solidFill>
                <a:latin typeface="Microsoft YaHei" pitchFamily="34" charset="0"/>
                <a:ea typeface="Microsoft YaHei" pitchFamily="34" charset="-122"/>
                <a:cs typeface="Microsoft YaHei" pitchFamily="34" charset="-120"/>
              </a:rPr>
              <a:t>注：括号内为标准误；所有全国连续DID控制 GDP、人口、工业占比、城镇化率、环保财政支出占比、市场化指数，并控制省份与年份固定效应，标准误按省份聚类。</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3" name="Shape 1"/>
          <p:cNvSpPr/>
          <p:nvPr/>
        </p:nvSpPr>
        <p:spPr>
          <a:xfrm>
            <a:off x="9784080" y="-182880"/>
            <a:ext cx="1828800" cy="1828800"/>
          </a:xfrm>
          <a:prstGeom prst="ellipse">
            <a:avLst/>
          </a:prstGeom>
          <a:solidFill>
            <a:srgbClr val="07245E"/>
          </a:solidFill>
          <a:ln w="12700">
            <a:solidFill>
              <a:srgbClr val="07245E"/>
            </a:solidFill>
            <a:prstDash val="solid"/>
          </a:ln>
        </p:spPr>
      </p:sp>
      <p:sp>
        <p:nvSpPr>
          <p:cNvPr id="4" name="Shape 2"/>
          <p:cNvSpPr/>
          <p:nvPr/>
        </p:nvSpPr>
        <p:spPr>
          <a:xfrm>
            <a:off x="10469880" y="-530352"/>
            <a:ext cx="1920240" cy="1920240"/>
          </a:xfrm>
          <a:prstGeom prst="ellipse">
            <a:avLst/>
          </a:prstGeom>
          <a:solidFill>
            <a:srgbClr val="07245E"/>
          </a:solidFill>
          <a:ln w="12700">
            <a:solidFill>
              <a:srgbClr val="07245E"/>
            </a:solidFill>
            <a:prstDash val="solid"/>
          </a:ln>
        </p:spPr>
      </p:sp>
      <p:sp>
        <p:nvSpPr>
          <p:cNvPr id="5" name="Text 3"/>
          <p:cNvSpPr/>
          <p:nvPr/>
        </p:nvSpPr>
        <p:spPr>
          <a:xfrm>
            <a:off x="10287000" y="512064"/>
            <a:ext cx="1508760" cy="182880"/>
          </a:xfrm>
          <a:prstGeom prst="rect">
            <a:avLst/>
          </a:prstGeom>
          <a:noFill/>
          <a:ln/>
        </p:spPr>
        <p:txBody>
          <a:bodyPr wrap="square" lIns="0" tIns="0" rIns="0" bIns="0" rtlCol="0" anchor="ctr"/>
          <a:lstStyle/>
          <a:p>
            <a:pPr indent="0" marL="0">
              <a:buNone/>
            </a:pPr>
            <a:r>
              <a:rPr lang="en-US" sz="850" b="1" dirty="0">
                <a:solidFill>
                  <a:srgbClr val="FFFFFF"/>
                </a:solidFill>
                <a:latin typeface="Microsoft YaHei" pitchFamily="34" charset="0"/>
                <a:ea typeface="Microsoft YaHei" pitchFamily="34" charset="-122"/>
                <a:cs typeface="Microsoft YaHei" pitchFamily="34" charset="-120"/>
              </a:rPr>
              <a:t>北京外国语大学</a:t>
            </a:r>
            <a:endParaRPr lang="en-US" sz="850" dirty="0"/>
          </a:p>
        </p:txBody>
      </p:sp>
      <p:sp>
        <p:nvSpPr>
          <p:cNvPr id="6" name="Text 4"/>
          <p:cNvSpPr/>
          <p:nvPr/>
        </p:nvSpPr>
        <p:spPr>
          <a:xfrm>
            <a:off x="10287000" y="704088"/>
            <a:ext cx="1691640" cy="109728"/>
          </a:xfrm>
          <a:prstGeom prst="rect">
            <a:avLst/>
          </a:prstGeom>
          <a:noFill/>
          <a:ln/>
        </p:spPr>
        <p:txBody>
          <a:bodyPr wrap="square" lIns="0" tIns="0" rIns="0" bIns="0" rtlCol="0" anchor="ctr"/>
          <a:lstStyle/>
          <a:p>
            <a:pPr indent="0" marL="0">
              <a:buNone/>
            </a:pPr>
            <a:r>
              <a:rPr lang="en-US" sz="390" dirty="0">
                <a:solidFill>
                  <a:srgbClr val="FFFFFF"/>
                </a:solidFill>
                <a:latin typeface="Arial" pitchFamily="34" charset="0"/>
                <a:ea typeface="Arial" pitchFamily="34" charset="-122"/>
                <a:cs typeface="Arial" pitchFamily="34" charset="-120"/>
              </a:rPr>
              <a:t>BEIJING FOREIGN STUDIES UNIVERSITY</a:t>
            </a:r>
            <a:endParaRPr lang="en-US" sz="390" dirty="0"/>
          </a:p>
        </p:txBody>
      </p:sp>
      <p:sp>
        <p:nvSpPr>
          <p:cNvPr id="7" name="Text 5"/>
          <p:cNvSpPr/>
          <p:nvPr/>
        </p:nvSpPr>
        <p:spPr>
          <a:xfrm>
            <a:off x="530352" y="256032"/>
            <a:ext cx="3017520" cy="219456"/>
          </a:xfrm>
          <a:prstGeom prst="rect">
            <a:avLst/>
          </a:prstGeom>
          <a:noFill/>
          <a:ln/>
        </p:spPr>
        <p:txBody>
          <a:bodyPr wrap="square" lIns="0" tIns="0" rIns="0" bIns="0" rtlCol="0" anchor="ctr"/>
          <a:lstStyle/>
          <a:p>
            <a:pPr indent="0" marL="0">
              <a:buNone/>
            </a:pPr>
            <a:r>
              <a:rPr lang="en-US" sz="920" dirty="0">
                <a:solidFill>
                  <a:srgbClr val="32363A"/>
                </a:solidFill>
                <a:latin typeface="Arial" pitchFamily="34" charset="0"/>
                <a:ea typeface="Arial" pitchFamily="34" charset="-122"/>
                <a:cs typeface="Arial" pitchFamily="34" charset="-120"/>
              </a:rPr>
              <a:t>EMPIRICAL RESULTS / 02</a:t>
            </a:r>
            <a:endParaRPr lang="en-US" sz="920" dirty="0"/>
          </a:p>
        </p:txBody>
      </p:sp>
      <p:sp>
        <p:nvSpPr>
          <p:cNvPr id="8" name="Text 6"/>
          <p:cNvSpPr/>
          <p:nvPr/>
        </p:nvSpPr>
        <p:spPr>
          <a:xfrm>
            <a:off x="7040880" y="256032"/>
            <a:ext cx="2331720" cy="237744"/>
          </a:xfrm>
          <a:prstGeom prst="rect">
            <a:avLst/>
          </a:prstGeom>
          <a:noFill/>
          <a:ln/>
        </p:spPr>
        <p:txBody>
          <a:bodyPr wrap="square" lIns="0" tIns="0" rIns="0" bIns="0" rtlCol="0" anchor="ctr"/>
          <a:lstStyle/>
          <a:p>
            <a:pPr algn="r" indent="0" marL="0">
              <a:buNone/>
            </a:pPr>
            <a:r>
              <a:rPr lang="en-US" sz="800" dirty="0">
                <a:solidFill>
                  <a:srgbClr val="6B7280"/>
                </a:solidFill>
                <a:latin typeface="Microsoft YaHei" pitchFamily="34" charset="0"/>
                <a:ea typeface="Microsoft YaHei" pitchFamily="34" charset="-122"/>
                <a:cs typeface="Microsoft YaHei" pitchFamily="34" charset="-120"/>
              </a:rPr>
              <a:t>结构边界</a:t>
            </a:r>
            <a:endParaRPr lang="en-US" sz="800" dirty="0"/>
          </a:p>
        </p:txBody>
      </p:sp>
      <p:sp>
        <p:nvSpPr>
          <p:cNvPr id="9" name="Text 7"/>
          <p:cNvSpPr/>
          <p:nvPr/>
        </p:nvSpPr>
        <p:spPr>
          <a:xfrm>
            <a:off x="530352" y="512064"/>
            <a:ext cx="8686800" cy="384048"/>
          </a:xfrm>
          <a:prstGeom prst="rect">
            <a:avLst/>
          </a:prstGeom>
          <a:noFill/>
          <a:ln/>
        </p:spPr>
        <p:txBody>
          <a:bodyPr wrap="square" lIns="0" tIns="0" rIns="0" bIns="0" rtlCol="0" anchor="ctr"/>
          <a:lstStyle/>
          <a:p>
            <a:pPr indent="0" marL="0">
              <a:buNone/>
            </a:pPr>
            <a:r>
              <a:rPr lang="en-US" sz="1800" b="1" dirty="0">
                <a:solidFill>
                  <a:srgbClr val="32363A"/>
                </a:solidFill>
                <a:latin typeface="Microsoft YaHei" pitchFamily="34" charset="0"/>
                <a:ea typeface="Microsoft YaHei" pitchFamily="34" charset="-122"/>
                <a:cs typeface="Microsoft YaHei" pitchFamily="34" charset="-120"/>
              </a:rPr>
              <a:t>表四：煤炭占比下降，但不等于结构性去煤完成</a:t>
            </a:r>
            <a:endParaRPr lang="en-US" sz="1800" dirty="0"/>
          </a:p>
        </p:txBody>
      </p:sp>
      <p:sp>
        <p:nvSpPr>
          <p:cNvPr id="10" name="Text 8"/>
          <p:cNvSpPr/>
          <p:nvPr/>
        </p:nvSpPr>
        <p:spPr>
          <a:xfrm>
            <a:off x="530352" y="987552"/>
            <a:ext cx="8778240" cy="256032"/>
          </a:xfrm>
          <a:prstGeom prst="rect">
            <a:avLst/>
          </a:prstGeom>
          <a:noFill/>
          <a:ln/>
        </p:spPr>
        <p:txBody>
          <a:bodyPr wrap="square" lIns="0" tIns="0" rIns="0" bIns="0" rtlCol="0" anchor="ctr"/>
          <a:lstStyle/>
          <a:p>
            <a:pPr indent="0" marL="0">
              <a:buNone/>
            </a:pPr>
            <a:r>
              <a:rPr lang="en-US" sz="850" dirty="0">
                <a:solidFill>
                  <a:srgbClr val="6B7280"/>
                </a:solidFill>
                <a:latin typeface="Microsoft YaHei" pitchFamily="34" charset="0"/>
                <a:ea typeface="Microsoft YaHei" pitchFamily="34" charset="-122"/>
                <a:cs typeface="Microsoft YaHei" pitchFamily="34" charset="-120"/>
              </a:rPr>
              <a:t>同一连续煤炭暴露度 DID；检验煤炭消费比例、碳排放和火电结构是否同步变化。</a:t>
            </a:r>
            <a:endParaRPr lang="en-US" sz="850" dirty="0"/>
          </a:p>
        </p:txBody>
      </p:sp>
      <p:sp>
        <p:nvSpPr>
          <p:cNvPr id="11" name="Shape 9"/>
          <p:cNvSpPr/>
          <p:nvPr/>
        </p:nvSpPr>
        <p:spPr>
          <a:xfrm>
            <a:off x="530352" y="1417320"/>
            <a:ext cx="10881360" cy="292608"/>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585216" y="1453896"/>
            <a:ext cx="10771632"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表四：从约束性治理到结构性治理</a:t>
            </a:r>
            <a:endParaRPr lang="en-US" sz="72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30352" y="1682496"/>
          <a:ext cx="10881360" cy="1965960"/>
        </p:xfrm>
        <a:graphic>
          <a:graphicData uri="http://schemas.openxmlformats.org/drawingml/2006/table">
            <a:tbl>
              <a:tblPr/>
              <a:tblGrid>
                <a:gridCol w="1325880"/>
                <a:gridCol w="1901952"/>
                <a:gridCol w="1901952"/>
                <a:gridCol w="1783080"/>
                <a:gridCol w="1901952"/>
                <a:gridCol w="1901952"/>
              </a:tblGrid>
              <a:tr h="327660">
                <a:tc>
                  <a:txBody>
                    <a:bodyPr/>
                    <a:lstStyle/>
                    <a:p>
                      <a:pPr algn="ctr" indent="0" marL="0">
                        <a:buNone/>
                      </a:pPr>
                      <a:r>
                        <a:rPr lang="en-US" sz="720" b="1" dirty="0">
                          <a:solidFill>
                            <a:srgbClr val="32363A"/>
                          </a:solidFill>
                          <a:latin typeface="Microsoft YaHei" pitchFamily="34" charset="0"/>
                          <a:ea typeface="Microsoft YaHei" pitchFamily="34" charset="-122"/>
                          <a:cs typeface="Microsoft YaHei" pitchFamily="34" charset="-120"/>
                        </a:rPr>
                        <a:t>变量</a:t>
                      </a:r>
                      <a:endParaRPr lang="en-US" sz="7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32363A"/>
                          </a:solidFill>
                          <a:latin typeface="Microsoft YaHei" pitchFamily="34" charset="0"/>
                          <a:ea typeface="Microsoft YaHei" pitchFamily="34" charset="-122"/>
                          <a:cs typeface="Microsoft YaHei" pitchFamily="34" charset="-120"/>
                        </a:rPr>
                        <a:t>五类能源煤炭占比</a:t>
                      </a:r>
                      <a:endParaRPr lang="en-US" sz="7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32363A"/>
                          </a:solidFill>
                          <a:latin typeface="Microsoft YaHei" pitchFamily="34" charset="0"/>
                          <a:ea typeface="Microsoft YaHei" pitchFamily="34" charset="-122"/>
                          <a:cs typeface="Microsoft YaHei" pitchFamily="34" charset="-120"/>
                        </a:rPr>
                        <a:t>原口径煤炭占比</a:t>
                      </a:r>
                      <a:endParaRPr lang="en-US" sz="7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32363A"/>
                          </a:solidFill>
                          <a:latin typeface="Microsoft YaHei" pitchFamily="34" charset="0"/>
                          <a:ea typeface="Microsoft YaHei" pitchFamily="34" charset="-122"/>
                          <a:cs typeface="Microsoft YaHei" pitchFamily="34" charset="-120"/>
                        </a:rPr>
                        <a:t>CO₂排放对数</a:t>
                      </a:r>
                      <a:endParaRPr lang="en-US" sz="7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32363A"/>
                          </a:solidFill>
                          <a:latin typeface="Microsoft YaHei" pitchFamily="34" charset="0"/>
                          <a:ea typeface="Microsoft YaHei" pitchFamily="34" charset="-122"/>
                          <a:cs typeface="Microsoft YaHei" pitchFamily="34" charset="-120"/>
                        </a:rPr>
                        <a:t>火电装机占比</a:t>
                      </a:r>
                      <a:endParaRPr lang="en-US" sz="7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32363A"/>
                          </a:solidFill>
                          <a:latin typeface="Microsoft YaHei" pitchFamily="34" charset="0"/>
                          <a:ea typeface="Microsoft YaHei" pitchFamily="34" charset="-122"/>
                          <a:cs typeface="Microsoft YaHei" pitchFamily="34" charset="-120"/>
                        </a:rPr>
                        <a:t>火电发电占比</a:t>
                      </a:r>
                      <a:endParaRPr lang="en-US" sz="70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327660">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政策后×煤炭暴露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-0.2495***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-0.1900***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-0.0982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0.0517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0.0888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276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(0.0754)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(0.0651)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(0.1034)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(0.0945)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(0.0754)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276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样本量</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510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507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276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R²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0.9224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0.9382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0.9904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0.9368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0.9478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2766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省份/年份FE</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4" name="Shape 11"/>
          <p:cNvSpPr/>
          <p:nvPr/>
        </p:nvSpPr>
        <p:spPr>
          <a:xfrm>
            <a:off x="713232" y="3977640"/>
            <a:ext cx="10469880" cy="1600200"/>
          </a:xfrm>
          <a:prstGeom prst="roundRect">
            <a:avLst>
              <a:gd name="adj" fmla="val 3429"/>
            </a:avLst>
          </a:prstGeom>
          <a:solidFill>
            <a:srgbClr val="FFFFFF"/>
          </a:solidFill>
          <a:ln w="12700">
            <a:solidFill>
              <a:srgbClr val="D3C7B8"/>
            </a:solidFill>
            <a:prstDash val="solid"/>
          </a:ln>
        </p:spPr>
      </p:sp>
      <p:sp>
        <p:nvSpPr>
          <p:cNvPr id="15" name="Text 12"/>
          <p:cNvSpPr/>
          <p:nvPr/>
        </p:nvSpPr>
        <p:spPr>
          <a:xfrm>
            <a:off x="859536" y="4096512"/>
            <a:ext cx="10177272" cy="219456"/>
          </a:xfrm>
          <a:prstGeom prst="rect">
            <a:avLst/>
          </a:prstGeom>
          <a:noFill/>
          <a:ln/>
        </p:spPr>
        <p:txBody>
          <a:bodyPr wrap="square" lIns="0" tIns="0" rIns="0" bIns="0" rtlCol="0" anchor="ctr"/>
          <a:lstStyle/>
          <a:p>
            <a:pPr indent="0" marL="0">
              <a:buNone/>
            </a:pPr>
            <a:r>
              <a:rPr lang="en-US" sz="920" b="1" dirty="0">
                <a:solidFill>
                  <a:srgbClr val="07245E"/>
                </a:solidFill>
                <a:latin typeface="Microsoft YaHei" pitchFamily="34" charset="0"/>
                <a:ea typeface="Microsoft YaHei" pitchFamily="34" charset="-122"/>
                <a:cs typeface="Microsoft YaHei" pitchFamily="34" charset="-120"/>
              </a:rPr>
              <a:t>结果解释</a:t>
            </a:r>
            <a:endParaRPr lang="en-US" sz="920" dirty="0"/>
          </a:p>
        </p:txBody>
      </p:sp>
      <p:sp>
        <p:nvSpPr>
          <p:cNvPr id="16" name="Text 13"/>
          <p:cNvSpPr/>
          <p:nvPr/>
        </p:nvSpPr>
        <p:spPr>
          <a:xfrm>
            <a:off x="877824" y="4416552"/>
            <a:ext cx="10158984" cy="1069848"/>
          </a:xfrm>
          <a:prstGeom prst="rect">
            <a:avLst/>
          </a:prstGeom>
          <a:noFill/>
          <a:ln/>
        </p:spPr>
        <p:txBody>
          <a:bodyPr wrap="square" lIns="0" tIns="0" rIns="0" bIns="0" rtlCol="0" anchor="t">
            <a:normAutofit/>
          </a:bodyPr>
          <a:lstStyle/>
          <a:p>
            <a:r>
              <a:rPr lang="en-US" sz="810" dirty="0">
                <a:solidFill>
                  <a:srgbClr val="32363A"/>
                </a:solidFill>
                <a:latin typeface="Microsoft YaHei" pitchFamily="34" charset="0"/>
                <a:ea typeface="Microsoft YaHei" pitchFamily="34" charset="-122"/>
                <a:cs typeface="Microsoft YaHei" pitchFamily="34" charset="-120"/>
              </a:rPr>
              <a:t>• 两个煤炭占比变量均显著下降，说明约束效应已经外溢到能源使用比例。</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CO₂、火电装机占比和火电发电占比不显著，说明煤炭占比下降没有同步转化为火电资本和发电结构重组。</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因此煤炭占比下降只能定位为过渡性调整，不是结构性治理完成的证据。</a:t>
            </a:r>
            <a:endParaRPr lang="en-US" sz="810" dirty="0"/>
          </a:p>
        </p:txBody>
      </p:sp>
      <p:sp>
        <p:nvSpPr>
          <p:cNvPr id="17" name="Text 14"/>
          <p:cNvSpPr/>
          <p:nvPr/>
        </p:nvSpPr>
        <p:spPr>
          <a:xfrm>
            <a:off x="438912" y="6510528"/>
            <a:ext cx="11201400" cy="164592"/>
          </a:xfrm>
          <a:prstGeom prst="rect">
            <a:avLst/>
          </a:prstGeom>
          <a:noFill/>
          <a:ln/>
        </p:spPr>
        <p:txBody>
          <a:bodyPr wrap="square" lIns="0" tIns="0" rIns="0" bIns="0" rtlCol="0" anchor="ctr"/>
          <a:lstStyle/>
          <a:p>
            <a:pPr indent="0" marL="0">
              <a:buNone/>
            </a:pPr>
            <a:r>
              <a:rPr lang="en-US" sz="650" dirty="0">
                <a:solidFill>
                  <a:srgbClr val="6B7280"/>
                </a:solidFill>
                <a:latin typeface="Microsoft YaHei" pitchFamily="34" charset="0"/>
                <a:ea typeface="Microsoft YaHei" pitchFamily="34" charset="-122"/>
                <a:cs typeface="Microsoft YaHei" pitchFamily="34" charset="-120"/>
              </a:rPr>
              <a:t>注：表中结构变量使用连续煤炭暴露度DID；火电发电占比存在政策前趋势问题，在论文中作为结构锁定边界证据而非强因果证据。</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3" name="Shape 1"/>
          <p:cNvSpPr/>
          <p:nvPr/>
        </p:nvSpPr>
        <p:spPr>
          <a:xfrm>
            <a:off x="9784080" y="-182880"/>
            <a:ext cx="1828800" cy="1828800"/>
          </a:xfrm>
          <a:prstGeom prst="ellipse">
            <a:avLst/>
          </a:prstGeom>
          <a:solidFill>
            <a:srgbClr val="07245E"/>
          </a:solidFill>
          <a:ln w="12700">
            <a:solidFill>
              <a:srgbClr val="07245E"/>
            </a:solidFill>
            <a:prstDash val="solid"/>
          </a:ln>
        </p:spPr>
      </p:sp>
      <p:sp>
        <p:nvSpPr>
          <p:cNvPr id="4" name="Shape 2"/>
          <p:cNvSpPr/>
          <p:nvPr/>
        </p:nvSpPr>
        <p:spPr>
          <a:xfrm>
            <a:off x="10469880" y="-530352"/>
            <a:ext cx="1920240" cy="1920240"/>
          </a:xfrm>
          <a:prstGeom prst="ellipse">
            <a:avLst/>
          </a:prstGeom>
          <a:solidFill>
            <a:srgbClr val="07245E"/>
          </a:solidFill>
          <a:ln w="12700">
            <a:solidFill>
              <a:srgbClr val="07245E"/>
            </a:solidFill>
            <a:prstDash val="solid"/>
          </a:ln>
        </p:spPr>
      </p:sp>
      <p:sp>
        <p:nvSpPr>
          <p:cNvPr id="5" name="Text 3"/>
          <p:cNvSpPr/>
          <p:nvPr/>
        </p:nvSpPr>
        <p:spPr>
          <a:xfrm>
            <a:off x="10287000" y="512064"/>
            <a:ext cx="1508760" cy="182880"/>
          </a:xfrm>
          <a:prstGeom prst="rect">
            <a:avLst/>
          </a:prstGeom>
          <a:noFill/>
          <a:ln/>
        </p:spPr>
        <p:txBody>
          <a:bodyPr wrap="square" lIns="0" tIns="0" rIns="0" bIns="0" rtlCol="0" anchor="ctr"/>
          <a:lstStyle/>
          <a:p>
            <a:pPr indent="0" marL="0">
              <a:buNone/>
            </a:pPr>
            <a:r>
              <a:rPr lang="en-US" sz="850" b="1" dirty="0">
                <a:solidFill>
                  <a:srgbClr val="FFFFFF"/>
                </a:solidFill>
                <a:latin typeface="Microsoft YaHei" pitchFamily="34" charset="0"/>
                <a:ea typeface="Microsoft YaHei" pitchFamily="34" charset="-122"/>
                <a:cs typeface="Microsoft YaHei" pitchFamily="34" charset="-120"/>
              </a:rPr>
              <a:t>北京外国语大学</a:t>
            </a:r>
            <a:endParaRPr lang="en-US" sz="850" dirty="0"/>
          </a:p>
        </p:txBody>
      </p:sp>
      <p:sp>
        <p:nvSpPr>
          <p:cNvPr id="6" name="Text 4"/>
          <p:cNvSpPr/>
          <p:nvPr/>
        </p:nvSpPr>
        <p:spPr>
          <a:xfrm>
            <a:off x="10287000" y="704088"/>
            <a:ext cx="1691640" cy="109728"/>
          </a:xfrm>
          <a:prstGeom prst="rect">
            <a:avLst/>
          </a:prstGeom>
          <a:noFill/>
          <a:ln/>
        </p:spPr>
        <p:txBody>
          <a:bodyPr wrap="square" lIns="0" tIns="0" rIns="0" bIns="0" rtlCol="0" anchor="ctr"/>
          <a:lstStyle/>
          <a:p>
            <a:pPr indent="0" marL="0">
              <a:buNone/>
            </a:pPr>
            <a:r>
              <a:rPr lang="en-US" sz="390" dirty="0">
                <a:solidFill>
                  <a:srgbClr val="FFFFFF"/>
                </a:solidFill>
                <a:latin typeface="Arial" pitchFamily="34" charset="0"/>
                <a:ea typeface="Arial" pitchFamily="34" charset="-122"/>
                <a:cs typeface="Arial" pitchFamily="34" charset="-120"/>
              </a:rPr>
              <a:t>BEIJING FOREIGN STUDIES UNIVERSITY</a:t>
            </a:r>
            <a:endParaRPr lang="en-US" sz="390" dirty="0"/>
          </a:p>
        </p:txBody>
      </p:sp>
      <p:sp>
        <p:nvSpPr>
          <p:cNvPr id="7" name="Text 5"/>
          <p:cNvSpPr/>
          <p:nvPr/>
        </p:nvSpPr>
        <p:spPr>
          <a:xfrm>
            <a:off x="530352" y="256032"/>
            <a:ext cx="3017520" cy="219456"/>
          </a:xfrm>
          <a:prstGeom prst="rect">
            <a:avLst/>
          </a:prstGeom>
          <a:noFill/>
          <a:ln/>
        </p:spPr>
        <p:txBody>
          <a:bodyPr wrap="square" lIns="0" tIns="0" rIns="0" bIns="0" rtlCol="0" anchor="ctr"/>
          <a:lstStyle/>
          <a:p>
            <a:pPr indent="0" marL="0">
              <a:buNone/>
            </a:pPr>
            <a:r>
              <a:rPr lang="en-US" sz="920" dirty="0">
                <a:solidFill>
                  <a:srgbClr val="32363A"/>
                </a:solidFill>
                <a:latin typeface="Arial" pitchFamily="34" charset="0"/>
                <a:ea typeface="Arial" pitchFamily="34" charset="-122"/>
                <a:cs typeface="Arial" pitchFamily="34" charset="-120"/>
              </a:rPr>
              <a:t>EMPIRICAL RESULTS / 03</a:t>
            </a:r>
            <a:endParaRPr lang="en-US" sz="920" dirty="0"/>
          </a:p>
        </p:txBody>
      </p:sp>
      <p:sp>
        <p:nvSpPr>
          <p:cNvPr id="8" name="Text 6"/>
          <p:cNvSpPr/>
          <p:nvPr/>
        </p:nvSpPr>
        <p:spPr>
          <a:xfrm>
            <a:off x="7040880" y="256032"/>
            <a:ext cx="2331720" cy="237744"/>
          </a:xfrm>
          <a:prstGeom prst="rect">
            <a:avLst/>
          </a:prstGeom>
          <a:noFill/>
          <a:ln/>
        </p:spPr>
        <p:txBody>
          <a:bodyPr wrap="square" lIns="0" tIns="0" rIns="0" bIns="0" rtlCol="0" anchor="ctr"/>
          <a:lstStyle/>
          <a:p>
            <a:pPr algn="r" indent="0" marL="0">
              <a:buNone/>
            </a:pPr>
            <a:r>
              <a:rPr lang="en-US" sz="800" dirty="0">
                <a:solidFill>
                  <a:srgbClr val="6B7280"/>
                </a:solidFill>
                <a:latin typeface="Microsoft YaHei" pitchFamily="34" charset="0"/>
                <a:ea typeface="Microsoft YaHei" pitchFamily="34" charset="-122"/>
                <a:cs typeface="Microsoft YaHei" pitchFamily="34" charset="-120"/>
              </a:rPr>
              <a:t>条件路径</a:t>
            </a:r>
            <a:endParaRPr lang="en-US" sz="800" dirty="0"/>
          </a:p>
        </p:txBody>
      </p:sp>
      <p:sp>
        <p:nvSpPr>
          <p:cNvPr id="9" name="Text 7"/>
          <p:cNvSpPr/>
          <p:nvPr/>
        </p:nvSpPr>
        <p:spPr>
          <a:xfrm>
            <a:off x="530352" y="512064"/>
            <a:ext cx="8686800" cy="384048"/>
          </a:xfrm>
          <a:prstGeom prst="rect">
            <a:avLst/>
          </a:prstGeom>
          <a:noFill/>
          <a:ln/>
        </p:spPr>
        <p:txBody>
          <a:bodyPr wrap="square" lIns="0" tIns="0" rIns="0" bIns="0" rtlCol="0" anchor="ctr"/>
          <a:lstStyle/>
          <a:p>
            <a:pPr indent="0" marL="0">
              <a:buNone/>
            </a:pPr>
            <a:r>
              <a:rPr lang="en-US" sz="1800" b="1" dirty="0">
                <a:solidFill>
                  <a:srgbClr val="32363A"/>
                </a:solidFill>
                <a:latin typeface="Microsoft YaHei" pitchFamily="34" charset="0"/>
                <a:ea typeface="Microsoft YaHei" pitchFamily="34" charset="-122"/>
                <a:cs typeface="Microsoft YaHei" pitchFamily="34" charset="-120"/>
              </a:rPr>
              <a:t>表五：低碳禀赋不是结构性治理的充分条件</a:t>
            </a:r>
            <a:endParaRPr lang="en-US" sz="1800" dirty="0"/>
          </a:p>
        </p:txBody>
      </p:sp>
      <p:sp>
        <p:nvSpPr>
          <p:cNvPr id="10" name="Text 8"/>
          <p:cNvSpPr/>
          <p:nvPr/>
        </p:nvSpPr>
        <p:spPr>
          <a:xfrm>
            <a:off x="530352" y="987552"/>
            <a:ext cx="8778240" cy="256032"/>
          </a:xfrm>
          <a:prstGeom prst="rect">
            <a:avLst/>
          </a:prstGeom>
          <a:noFill/>
          <a:ln/>
        </p:spPr>
        <p:txBody>
          <a:bodyPr wrap="square" lIns="0" tIns="0" rIns="0" bIns="0" rtlCol="0" anchor="ctr"/>
          <a:lstStyle/>
          <a:p>
            <a:pPr indent="0" marL="0">
              <a:buNone/>
            </a:pPr>
            <a:r>
              <a:rPr lang="en-US" sz="850" dirty="0">
                <a:solidFill>
                  <a:srgbClr val="6B7280"/>
                </a:solidFill>
                <a:latin typeface="Microsoft YaHei" pitchFamily="34" charset="0"/>
                <a:ea typeface="Microsoft YaHei" pitchFamily="34" charset="-122"/>
                <a:cs typeface="Microsoft YaHei" pitchFamily="34" charset="-120"/>
              </a:rPr>
              <a:t>后期DDD模型检验高煤炭暴露地区能否借助早期低碳基础进一步形成新能源替代。</a:t>
            </a:r>
            <a:endParaRPr lang="en-US" sz="850" dirty="0"/>
          </a:p>
        </p:txBody>
      </p:sp>
      <p:sp>
        <p:nvSpPr>
          <p:cNvPr id="11" name="Shape 9"/>
          <p:cNvSpPr/>
          <p:nvPr/>
        </p:nvSpPr>
        <p:spPr>
          <a:xfrm>
            <a:off x="530352" y="1325880"/>
            <a:ext cx="10881360" cy="292608"/>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585216" y="1362456"/>
            <a:ext cx="10771632"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表五：结构性治理条件的DDD检验</a:t>
            </a:r>
            <a:endParaRPr lang="en-US" sz="7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 y="1591056"/>
          <a:ext cx="10881360" cy="3044952"/>
        </p:xfrm>
        <a:graphic>
          <a:graphicData uri="http://schemas.openxmlformats.org/drawingml/2006/table">
            <a:tbl>
              <a:tblPr/>
              <a:tblGrid>
                <a:gridCol w="1600200"/>
                <a:gridCol w="2331720"/>
                <a:gridCol w="2331720"/>
                <a:gridCol w="2331720"/>
                <a:gridCol w="2286000"/>
              </a:tblGrid>
              <a:tr h="338328">
                <a:tc>
                  <a:txBody>
                    <a:bodyPr/>
                    <a:lstStyle/>
                    <a:p>
                      <a:pPr algn="ctr" indent="0" marL="0">
                        <a:buNone/>
                      </a:pPr>
                      <a:r>
                        <a:rPr lang="en-US" sz="740" b="1" dirty="0">
                          <a:solidFill>
                            <a:srgbClr val="32363A"/>
                          </a:solidFill>
                          <a:latin typeface="Microsoft YaHei" pitchFamily="34" charset="0"/>
                          <a:ea typeface="Microsoft YaHei" pitchFamily="34" charset="-122"/>
                          <a:cs typeface="Microsoft YaHei" pitchFamily="34" charset="-120"/>
                        </a:rPr>
                        <a:t>变量</a:t>
                      </a:r>
                      <a:endParaRPr lang="en-US" sz="74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30" b="1" dirty="0">
                          <a:solidFill>
                            <a:srgbClr val="32363A"/>
                          </a:solidFill>
                          <a:latin typeface="Microsoft YaHei" pitchFamily="34" charset="0"/>
                          <a:ea typeface="Microsoft YaHei" pitchFamily="34" charset="-122"/>
                          <a:cs typeface="Microsoft YaHei" pitchFamily="34" charset="-120"/>
                        </a:rPr>
                        <a:t>非火电发电占比</a:t>
                      </a:r>
                      <a:endParaRPr lang="en-US" sz="73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30" b="1" dirty="0">
                          <a:solidFill>
                            <a:srgbClr val="32363A"/>
                          </a:solidFill>
                          <a:latin typeface="Microsoft YaHei" pitchFamily="34" charset="0"/>
                          <a:ea typeface="Microsoft YaHei" pitchFamily="34" charset="-122"/>
                          <a:cs typeface="Microsoft YaHei" pitchFamily="34" charset="-120"/>
                        </a:rPr>
                        <a:t>风电发电占比</a:t>
                      </a:r>
                      <a:endParaRPr lang="en-US" sz="73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30" b="1" dirty="0">
                          <a:solidFill>
                            <a:srgbClr val="32363A"/>
                          </a:solidFill>
                          <a:latin typeface="Microsoft YaHei" pitchFamily="34" charset="0"/>
                          <a:ea typeface="Microsoft YaHei" pitchFamily="34" charset="-122"/>
                          <a:cs typeface="Microsoft YaHei" pitchFamily="34" charset="-120"/>
                        </a:rPr>
                        <a:t>风光发电占比</a:t>
                      </a:r>
                      <a:endParaRPr lang="en-US" sz="73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730" b="1" dirty="0">
                          <a:solidFill>
                            <a:srgbClr val="32363A"/>
                          </a:solidFill>
                          <a:latin typeface="Microsoft YaHei" pitchFamily="34" charset="0"/>
                          <a:ea typeface="Microsoft YaHei" pitchFamily="34" charset="-122"/>
                          <a:cs typeface="Microsoft YaHei" pitchFamily="34" charset="-120"/>
                        </a:rPr>
                        <a:t>风电装机占比</a:t>
                      </a:r>
                      <a:endParaRPr lang="en-US" sz="73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338328">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后期×煤炭暴露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-0.2231*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0.0024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-0.0919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0.0273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(0.1164)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(0.0240)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(0.0724)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(0.0675)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后期×低碳禀赋</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0.1072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0.0309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0.0908*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0.0246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(0.0695)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(0.0182)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(0.0461)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(0.0329)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三重交互项</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-0.1757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-0.0927**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-0.2363**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-0.1077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(0.1514)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(0.0402)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(0.1093)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(0.0821)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样本量 / R²</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507 / 0.9514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330 / 0.8916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330 / 0.8921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288 / 0.9311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38328">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省份/年份FE</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4" name="Shape 11"/>
          <p:cNvSpPr/>
          <p:nvPr/>
        </p:nvSpPr>
        <p:spPr>
          <a:xfrm>
            <a:off x="713232" y="4901184"/>
            <a:ext cx="10469880" cy="1078992"/>
          </a:xfrm>
          <a:prstGeom prst="roundRect">
            <a:avLst>
              <a:gd name="adj" fmla="val 5085"/>
            </a:avLst>
          </a:prstGeom>
          <a:solidFill>
            <a:srgbClr val="FFFFFF"/>
          </a:solidFill>
          <a:ln w="12700">
            <a:solidFill>
              <a:srgbClr val="D3C7B8"/>
            </a:solidFill>
            <a:prstDash val="solid"/>
          </a:ln>
        </p:spPr>
      </p:sp>
      <p:sp>
        <p:nvSpPr>
          <p:cNvPr id="15" name="Text 12"/>
          <p:cNvSpPr/>
          <p:nvPr/>
        </p:nvSpPr>
        <p:spPr>
          <a:xfrm>
            <a:off x="859536" y="5020056"/>
            <a:ext cx="10177272" cy="219456"/>
          </a:xfrm>
          <a:prstGeom prst="rect">
            <a:avLst/>
          </a:prstGeom>
          <a:noFill/>
          <a:ln/>
        </p:spPr>
        <p:txBody>
          <a:bodyPr wrap="square" lIns="0" tIns="0" rIns="0" bIns="0" rtlCol="0" anchor="ctr"/>
          <a:lstStyle/>
          <a:p>
            <a:pPr indent="0" marL="0">
              <a:buNone/>
            </a:pPr>
            <a:r>
              <a:rPr lang="en-US" sz="920" b="1" dirty="0">
                <a:solidFill>
                  <a:srgbClr val="07245E"/>
                </a:solidFill>
                <a:latin typeface="Microsoft YaHei" pitchFamily="34" charset="0"/>
                <a:ea typeface="Microsoft YaHei" pitchFamily="34" charset="-122"/>
                <a:cs typeface="Microsoft YaHei" pitchFamily="34" charset="-120"/>
              </a:rPr>
              <a:t>结果解释</a:t>
            </a:r>
            <a:endParaRPr lang="en-US" sz="920" dirty="0"/>
          </a:p>
        </p:txBody>
      </p:sp>
      <p:sp>
        <p:nvSpPr>
          <p:cNvPr id="16" name="Text 13"/>
          <p:cNvSpPr/>
          <p:nvPr/>
        </p:nvSpPr>
        <p:spPr>
          <a:xfrm>
            <a:off x="877824" y="5340096"/>
            <a:ext cx="10158984" cy="548640"/>
          </a:xfrm>
          <a:prstGeom prst="rect">
            <a:avLst/>
          </a:prstGeom>
          <a:noFill/>
          <a:ln/>
        </p:spPr>
        <p:txBody>
          <a:bodyPr wrap="square" lIns="0" tIns="0" rIns="0" bIns="0" rtlCol="0" anchor="t">
            <a:normAutofit/>
          </a:bodyPr>
          <a:lstStyle/>
          <a:p>
            <a:r>
              <a:rPr lang="en-US" sz="810" dirty="0">
                <a:solidFill>
                  <a:srgbClr val="32363A"/>
                </a:solidFill>
                <a:latin typeface="Microsoft YaHei" pitchFamily="34" charset="0"/>
                <a:ea typeface="Microsoft YaHei" pitchFamily="34" charset="-122"/>
                <a:cs typeface="Microsoft YaHei" pitchFamily="34" charset="-120"/>
              </a:rPr>
              <a:t>• 低碳禀赋本身对后期风光发电占比有一定正向关系，但三重交互项在风电和风光发电占比上显著为负。</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因此不能写成“低碳禀赋强化绿色信贷的新能源替代效应”。</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更稳的解释是：低碳禀赋只是前置条件，结构性治理还受项目建设、电网消纳、外送通道和政策连续性约束。</a:t>
            </a:r>
            <a:endParaRPr lang="en-US" sz="810" dirty="0"/>
          </a:p>
        </p:txBody>
      </p:sp>
      <p:sp>
        <p:nvSpPr>
          <p:cNvPr id="17" name="Text 14"/>
          <p:cNvSpPr/>
          <p:nvPr/>
        </p:nvSpPr>
        <p:spPr>
          <a:xfrm>
            <a:off x="438912" y="6510528"/>
            <a:ext cx="11201400" cy="164592"/>
          </a:xfrm>
          <a:prstGeom prst="rect">
            <a:avLst/>
          </a:prstGeom>
          <a:noFill/>
          <a:ln/>
        </p:spPr>
        <p:txBody>
          <a:bodyPr wrap="square" lIns="0" tIns="0" rIns="0" bIns="0" rtlCol="0" anchor="ctr"/>
          <a:lstStyle/>
          <a:p>
            <a:pPr indent="0" marL="0">
              <a:buNone/>
            </a:pPr>
            <a:r>
              <a:rPr lang="en-US" sz="650" dirty="0">
                <a:solidFill>
                  <a:srgbClr val="6B7280"/>
                </a:solidFill>
                <a:latin typeface="Microsoft YaHei" pitchFamily="34" charset="0"/>
                <a:ea typeface="Microsoft YaHei" pitchFamily="34" charset="-122"/>
                <a:cs typeface="Microsoft YaHei" pitchFamily="34" charset="-120"/>
              </a:rPr>
              <a:t>注：低碳禀赋 = 政策前非火电装机、早期风电装机、早期风电发电三个标准化变量的均值；省份层面的煤炭暴露×低碳禀赋被省份固定效应吸收。</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256032"/>
            <a:ext cx="45720" cy="749808"/>
          </a:xfrm>
          <a:prstGeom prst="rect">
            <a:avLst/>
          </a:prstGeom>
          <a:solidFill>
            <a:srgbClr val="07245E"/>
          </a:solidFill>
          <a:ln w="12700">
            <a:solidFill>
              <a:srgbClr val="07245E"/>
            </a:solidFill>
            <a:prstDash val="solid"/>
          </a:ln>
        </p:spPr>
      </p:sp>
      <p:sp>
        <p:nvSpPr>
          <p:cNvPr id="3" name="Shape 1"/>
          <p:cNvSpPr/>
          <p:nvPr/>
        </p:nvSpPr>
        <p:spPr>
          <a:xfrm>
            <a:off x="9784080" y="-182880"/>
            <a:ext cx="1828800" cy="1828800"/>
          </a:xfrm>
          <a:prstGeom prst="ellipse">
            <a:avLst/>
          </a:prstGeom>
          <a:solidFill>
            <a:srgbClr val="07245E"/>
          </a:solidFill>
          <a:ln w="12700">
            <a:solidFill>
              <a:srgbClr val="07245E"/>
            </a:solidFill>
            <a:prstDash val="solid"/>
          </a:ln>
        </p:spPr>
      </p:sp>
      <p:sp>
        <p:nvSpPr>
          <p:cNvPr id="4" name="Shape 2"/>
          <p:cNvSpPr/>
          <p:nvPr/>
        </p:nvSpPr>
        <p:spPr>
          <a:xfrm>
            <a:off x="10469880" y="-530352"/>
            <a:ext cx="1920240" cy="1920240"/>
          </a:xfrm>
          <a:prstGeom prst="ellipse">
            <a:avLst/>
          </a:prstGeom>
          <a:solidFill>
            <a:srgbClr val="07245E"/>
          </a:solidFill>
          <a:ln w="12700">
            <a:solidFill>
              <a:srgbClr val="07245E"/>
            </a:solidFill>
            <a:prstDash val="solid"/>
          </a:ln>
        </p:spPr>
      </p:sp>
      <p:sp>
        <p:nvSpPr>
          <p:cNvPr id="5" name="Text 3"/>
          <p:cNvSpPr/>
          <p:nvPr/>
        </p:nvSpPr>
        <p:spPr>
          <a:xfrm>
            <a:off x="10287000" y="512064"/>
            <a:ext cx="1508760" cy="182880"/>
          </a:xfrm>
          <a:prstGeom prst="rect">
            <a:avLst/>
          </a:prstGeom>
          <a:noFill/>
          <a:ln/>
        </p:spPr>
        <p:txBody>
          <a:bodyPr wrap="square" lIns="0" tIns="0" rIns="0" bIns="0" rtlCol="0" anchor="ctr"/>
          <a:lstStyle/>
          <a:p>
            <a:pPr indent="0" marL="0">
              <a:buNone/>
            </a:pPr>
            <a:r>
              <a:rPr lang="en-US" sz="850" b="1" dirty="0">
                <a:solidFill>
                  <a:srgbClr val="FFFFFF"/>
                </a:solidFill>
                <a:latin typeface="Microsoft YaHei" pitchFamily="34" charset="0"/>
                <a:ea typeface="Microsoft YaHei" pitchFamily="34" charset="-122"/>
                <a:cs typeface="Microsoft YaHei" pitchFamily="34" charset="-120"/>
              </a:rPr>
              <a:t>北京外国语大学</a:t>
            </a:r>
            <a:endParaRPr lang="en-US" sz="850" dirty="0"/>
          </a:p>
        </p:txBody>
      </p:sp>
      <p:sp>
        <p:nvSpPr>
          <p:cNvPr id="6" name="Text 4"/>
          <p:cNvSpPr/>
          <p:nvPr/>
        </p:nvSpPr>
        <p:spPr>
          <a:xfrm>
            <a:off x="10287000" y="704088"/>
            <a:ext cx="1691640" cy="109728"/>
          </a:xfrm>
          <a:prstGeom prst="rect">
            <a:avLst/>
          </a:prstGeom>
          <a:noFill/>
          <a:ln/>
        </p:spPr>
        <p:txBody>
          <a:bodyPr wrap="square" lIns="0" tIns="0" rIns="0" bIns="0" rtlCol="0" anchor="ctr"/>
          <a:lstStyle/>
          <a:p>
            <a:pPr indent="0" marL="0">
              <a:buNone/>
            </a:pPr>
            <a:r>
              <a:rPr lang="en-US" sz="390" dirty="0">
                <a:solidFill>
                  <a:srgbClr val="FFFFFF"/>
                </a:solidFill>
                <a:latin typeface="Arial" pitchFamily="34" charset="0"/>
                <a:ea typeface="Arial" pitchFamily="34" charset="-122"/>
                <a:cs typeface="Arial" pitchFamily="34" charset="-120"/>
              </a:rPr>
              <a:t>BEIJING FOREIGN STUDIES UNIVERSITY</a:t>
            </a:r>
            <a:endParaRPr lang="en-US" sz="390" dirty="0"/>
          </a:p>
        </p:txBody>
      </p:sp>
      <p:sp>
        <p:nvSpPr>
          <p:cNvPr id="7" name="Text 5"/>
          <p:cNvSpPr/>
          <p:nvPr/>
        </p:nvSpPr>
        <p:spPr>
          <a:xfrm>
            <a:off x="530352" y="256032"/>
            <a:ext cx="3017520" cy="219456"/>
          </a:xfrm>
          <a:prstGeom prst="rect">
            <a:avLst/>
          </a:prstGeom>
          <a:noFill/>
          <a:ln/>
        </p:spPr>
        <p:txBody>
          <a:bodyPr wrap="square" lIns="0" tIns="0" rIns="0" bIns="0" rtlCol="0" anchor="ctr"/>
          <a:lstStyle/>
          <a:p>
            <a:pPr indent="0" marL="0">
              <a:buNone/>
            </a:pPr>
            <a:r>
              <a:rPr lang="en-US" sz="920" dirty="0">
                <a:solidFill>
                  <a:srgbClr val="32363A"/>
                </a:solidFill>
                <a:latin typeface="Arial" pitchFamily="34" charset="0"/>
                <a:ea typeface="Arial" pitchFamily="34" charset="-122"/>
                <a:cs typeface="Arial" pitchFamily="34" charset="-120"/>
              </a:rPr>
              <a:t>EMPIRICAL RESULTS / 04</a:t>
            </a:r>
            <a:endParaRPr lang="en-US" sz="920" dirty="0"/>
          </a:p>
        </p:txBody>
      </p:sp>
      <p:sp>
        <p:nvSpPr>
          <p:cNvPr id="8" name="Text 6"/>
          <p:cNvSpPr/>
          <p:nvPr/>
        </p:nvSpPr>
        <p:spPr>
          <a:xfrm>
            <a:off x="7040880" y="256032"/>
            <a:ext cx="2331720" cy="237744"/>
          </a:xfrm>
          <a:prstGeom prst="rect">
            <a:avLst/>
          </a:prstGeom>
          <a:noFill/>
          <a:ln/>
        </p:spPr>
        <p:txBody>
          <a:bodyPr wrap="square" lIns="0" tIns="0" rIns="0" bIns="0" rtlCol="0" anchor="ctr"/>
          <a:lstStyle/>
          <a:p>
            <a:pPr algn="r" indent="0" marL="0">
              <a:buNone/>
            </a:pPr>
            <a:r>
              <a:rPr lang="en-US" sz="800" dirty="0">
                <a:solidFill>
                  <a:srgbClr val="6B7280"/>
                </a:solidFill>
                <a:latin typeface="Microsoft YaHei" pitchFamily="34" charset="0"/>
                <a:ea typeface="Microsoft YaHei" pitchFamily="34" charset="-122"/>
                <a:cs typeface="Microsoft YaHei" pitchFamily="34" charset="-120"/>
              </a:rPr>
              <a:t>晋蒙路径</a:t>
            </a:r>
            <a:endParaRPr lang="en-US" sz="800" dirty="0"/>
          </a:p>
        </p:txBody>
      </p:sp>
      <p:sp>
        <p:nvSpPr>
          <p:cNvPr id="9" name="Text 7"/>
          <p:cNvSpPr/>
          <p:nvPr/>
        </p:nvSpPr>
        <p:spPr>
          <a:xfrm>
            <a:off x="530352" y="512064"/>
            <a:ext cx="8686800" cy="384048"/>
          </a:xfrm>
          <a:prstGeom prst="rect">
            <a:avLst/>
          </a:prstGeom>
          <a:noFill/>
          <a:ln/>
        </p:spPr>
        <p:txBody>
          <a:bodyPr wrap="square" lIns="0" tIns="0" rIns="0" bIns="0" rtlCol="0" anchor="ctr"/>
          <a:lstStyle/>
          <a:p>
            <a:pPr indent="0" marL="0">
              <a:buNone/>
            </a:pPr>
            <a:r>
              <a:rPr lang="en-US" sz="1800" b="1" dirty="0">
                <a:solidFill>
                  <a:srgbClr val="32363A"/>
                </a:solidFill>
                <a:latin typeface="Microsoft YaHei" pitchFamily="34" charset="0"/>
                <a:ea typeface="Microsoft YaHei" pitchFamily="34" charset="-122"/>
                <a:cs typeface="Microsoft YaHei" pitchFamily="34" charset="-120"/>
              </a:rPr>
              <a:t>表六：政策文本证据展示两类地方路径</a:t>
            </a:r>
            <a:endParaRPr lang="en-US" sz="1800" dirty="0"/>
          </a:p>
        </p:txBody>
      </p:sp>
      <p:sp>
        <p:nvSpPr>
          <p:cNvPr id="10" name="Text 8"/>
          <p:cNvSpPr/>
          <p:nvPr/>
        </p:nvSpPr>
        <p:spPr>
          <a:xfrm>
            <a:off x="530352" y="987552"/>
            <a:ext cx="8778240" cy="256032"/>
          </a:xfrm>
          <a:prstGeom prst="rect">
            <a:avLst/>
          </a:prstGeom>
          <a:noFill/>
          <a:ln/>
        </p:spPr>
        <p:txBody>
          <a:bodyPr wrap="square" lIns="0" tIns="0" rIns="0" bIns="0" rtlCol="0" anchor="ctr"/>
          <a:lstStyle/>
          <a:p>
            <a:pPr indent="0" marL="0">
              <a:buNone/>
            </a:pPr>
            <a:r>
              <a:rPr lang="en-US" sz="850" dirty="0">
                <a:solidFill>
                  <a:srgbClr val="6B7280"/>
                </a:solidFill>
                <a:latin typeface="Microsoft YaHei" pitchFamily="34" charset="0"/>
                <a:ea typeface="Microsoft YaHei" pitchFamily="34" charset="-122"/>
                <a:cs typeface="Microsoft YaHei" pitchFamily="34" charset="-120"/>
              </a:rPr>
              <a:t>先看2012年后两省文本均值，再用回归系数识别内蒙古相对山西的政策后差异。</a:t>
            </a:r>
            <a:endParaRPr lang="en-US" sz="850" dirty="0"/>
          </a:p>
        </p:txBody>
      </p:sp>
      <p:sp>
        <p:nvSpPr>
          <p:cNvPr id="11" name="Shape 9"/>
          <p:cNvSpPr/>
          <p:nvPr/>
        </p:nvSpPr>
        <p:spPr>
          <a:xfrm>
            <a:off x="384048" y="1298448"/>
            <a:ext cx="11301984" cy="292608"/>
          </a:xfrm>
          <a:prstGeom prst="roundRect">
            <a:avLst>
              <a:gd name="adj" fmla="val 18750"/>
            </a:avLst>
          </a:prstGeom>
          <a:solidFill>
            <a:srgbClr val="07245E"/>
          </a:solidFill>
          <a:ln w="12700">
            <a:solidFill>
              <a:srgbClr val="07245E"/>
            </a:solidFill>
            <a:prstDash val="solid"/>
          </a:ln>
        </p:spPr>
      </p:sp>
      <p:sp>
        <p:nvSpPr>
          <p:cNvPr id="12" name="Text 10"/>
          <p:cNvSpPr/>
          <p:nvPr/>
        </p:nvSpPr>
        <p:spPr>
          <a:xfrm>
            <a:off x="438912" y="1335024"/>
            <a:ext cx="11192256"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表六A：2012年后晋蒙政策文本均值</a:t>
            </a:r>
            <a:endParaRPr lang="en-US" sz="72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 y="1554480"/>
          <a:ext cx="11301984" cy="1078992"/>
        </p:xfrm>
        <a:graphic>
          <a:graphicData uri="http://schemas.openxmlformats.org/drawingml/2006/table">
            <a:tbl>
              <a:tblPr/>
              <a:tblGrid>
                <a:gridCol w="1078992"/>
                <a:gridCol w="1078992"/>
                <a:gridCol w="1078992"/>
                <a:gridCol w="1444752"/>
                <a:gridCol w="1444752"/>
                <a:gridCol w="1078992"/>
                <a:gridCol w="1078992"/>
                <a:gridCol w="1316736"/>
                <a:gridCol w="1316736"/>
              </a:tblGrid>
              <a:tr h="359664">
                <a:tc>
                  <a:txBody>
                    <a:bodyPr/>
                    <a:lstStyle/>
                    <a:p>
                      <a:pPr algn="ctr" indent="0" marL="0">
                        <a:buNone/>
                      </a:pPr>
                      <a:r>
                        <a:rPr lang="en-US" sz="620" b="1" dirty="0">
                          <a:solidFill>
                            <a:srgbClr val="32363A"/>
                          </a:solidFill>
                          <a:latin typeface="Microsoft YaHei" pitchFamily="34" charset="0"/>
                          <a:ea typeface="Microsoft YaHei" pitchFamily="34" charset="-122"/>
                          <a:cs typeface="Microsoft YaHei" pitchFamily="34" charset="-120"/>
                        </a:rPr>
                        <a:t>省份</a:t>
                      </a:r>
                      <a:endParaRPr lang="en-US" sz="62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绿金词频</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绿金覆盖</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煤炭清洁词频</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煤炭清洁覆盖</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污染词频</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污染覆盖</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新能源词频</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90" b="1" dirty="0">
                          <a:solidFill>
                            <a:srgbClr val="32363A"/>
                          </a:solidFill>
                          <a:latin typeface="Microsoft YaHei" pitchFamily="34" charset="0"/>
                          <a:ea typeface="Microsoft YaHei" pitchFamily="34" charset="-122"/>
                          <a:cs typeface="Microsoft YaHei" pitchFamily="34" charset="-120"/>
                        </a:rPr>
                        <a:t>新能源覆盖</a:t>
                      </a:r>
                      <a:endParaRPr lang="en-US" sz="59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359664">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山西</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0.3420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0.0880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7.6351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0.2193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2.2880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0.1459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2.6417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0.1346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59664">
                <a:tc>
                  <a:txBody>
                    <a:bodyPr/>
                    <a:lstStyle/>
                    <a:p>
                      <a:pPr algn="l" indent="0" marL="0">
                        <a:buNone/>
                      </a:pPr>
                      <a:r>
                        <a:rPr lang="en-US" sz="660" b="1" dirty="0">
                          <a:solidFill>
                            <a:srgbClr val="32363A"/>
                          </a:solidFill>
                          <a:latin typeface="Microsoft YaHei" pitchFamily="34" charset="0"/>
                          <a:ea typeface="Microsoft YaHei" pitchFamily="34" charset="-122"/>
                          <a:cs typeface="Microsoft YaHei" pitchFamily="34" charset="-120"/>
                        </a:rPr>
                        <a:t>内蒙古</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0.6212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0.1083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3.3468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0.1530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1.6384</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0.1030</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4.3503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0.1276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4" name="Shape 11"/>
          <p:cNvSpPr/>
          <p:nvPr/>
        </p:nvSpPr>
        <p:spPr>
          <a:xfrm>
            <a:off x="384048" y="2889504"/>
            <a:ext cx="11301984" cy="292608"/>
          </a:xfrm>
          <a:prstGeom prst="roundRect">
            <a:avLst>
              <a:gd name="adj" fmla="val 18750"/>
            </a:avLst>
          </a:prstGeom>
          <a:solidFill>
            <a:srgbClr val="07245E"/>
          </a:solidFill>
          <a:ln w="12700">
            <a:solidFill>
              <a:srgbClr val="07245E"/>
            </a:solidFill>
            <a:prstDash val="solid"/>
          </a:ln>
        </p:spPr>
      </p:sp>
      <p:sp>
        <p:nvSpPr>
          <p:cNvPr id="15" name="Text 12"/>
          <p:cNvSpPr/>
          <p:nvPr/>
        </p:nvSpPr>
        <p:spPr>
          <a:xfrm>
            <a:off x="438912" y="2926080"/>
            <a:ext cx="11192256" cy="137160"/>
          </a:xfrm>
          <a:prstGeom prst="rect">
            <a:avLst/>
          </a:prstGeom>
          <a:noFill/>
          <a:ln/>
        </p:spPr>
        <p:txBody>
          <a:bodyPr wrap="square" lIns="0" tIns="0" rIns="0" bIns="0" rtlCol="0" anchor="ctr"/>
          <a:lstStyle/>
          <a:p>
            <a:pPr indent="0" marL="0">
              <a:buNone/>
            </a:pPr>
            <a:r>
              <a:rPr lang="en-US" sz="720" b="1" dirty="0">
                <a:solidFill>
                  <a:srgbClr val="FFFFFF"/>
                </a:solidFill>
                <a:latin typeface="Microsoft YaHei" pitchFamily="34" charset="0"/>
                <a:ea typeface="Microsoft YaHei" pitchFamily="34" charset="-122"/>
                <a:cs typeface="Microsoft YaHei" pitchFamily="34" charset="-120"/>
              </a:rPr>
              <a:t>表六B：内蒙古相对山西的政策后差异</a:t>
            </a:r>
            <a:endParaRPr lang="en-US" sz="72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384048" y="3145536"/>
          <a:ext cx="11301984" cy="1051560"/>
        </p:xfrm>
        <a:graphic>
          <a:graphicData uri="http://schemas.openxmlformats.org/drawingml/2006/table">
            <a:tbl>
              <a:tblPr/>
              <a:tblGrid>
                <a:gridCol w="1325880"/>
                <a:gridCol w="1024128"/>
                <a:gridCol w="1024128"/>
                <a:gridCol w="1371600"/>
                <a:gridCol w="1371600"/>
                <a:gridCol w="1024128"/>
                <a:gridCol w="1024128"/>
                <a:gridCol w="1225296"/>
                <a:gridCol w="1225296"/>
              </a:tblGrid>
              <a:tr h="350520">
                <a:tc>
                  <a:txBody>
                    <a:bodyPr/>
                    <a:lstStyle/>
                    <a:p>
                      <a:pPr algn="ctr" indent="0" marL="0">
                        <a:buNone/>
                      </a:pPr>
                      <a:r>
                        <a:rPr lang="en-US" sz="610" b="1" dirty="0">
                          <a:solidFill>
                            <a:srgbClr val="32363A"/>
                          </a:solidFill>
                          <a:latin typeface="Microsoft YaHei" pitchFamily="34" charset="0"/>
                          <a:ea typeface="Microsoft YaHei" pitchFamily="34" charset="-122"/>
                          <a:cs typeface="Microsoft YaHei" pitchFamily="34" charset="-120"/>
                        </a:rPr>
                        <a:t>变量</a:t>
                      </a:r>
                      <a:endParaRPr lang="en-US" sz="61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绿金词频</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绿金覆盖</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煤炭清洁词频</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煤炭清洁覆盖</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污染词频</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污染覆盖</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新能源词频</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c>
                  <a:txBody>
                    <a:bodyPr/>
                    <a:lstStyle/>
                    <a:p>
                      <a:pPr algn="ctr" indent="0" marL="0">
                        <a:buNone/>
                      </a:pPr>
                      <a:r>
                        <a:rPr lang="en-US" sz="585" b="1" dirty="0">
                          <a:solidFill>
                            <a:srgbClr val="32363A"/>
                          </a:solidFill>
                          <a:latin typeface="Microsoft YaHei" pitchFamily="34" charset="0"/>
                          <a:ea typeface="Microsoft YaHei" pitchFamily="34" charset="-122"/>
                          <a:cs typeface="Microsoft YaHei" pitchFamily="34" charset="-120"/>
                        </a:rPr>
                        <a:t>新能源覆盖</a:t>
                      </a:r>
                      <a:endParaRPr lang="en-US" sz="585"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FFFFF"/>
                    </a:solidFill>
                  </a:tcPr>
                </a:tc>
              </a:tr>
              <a:tr h="350520">
                <a:tc>
                  <a:txBody>
                    <a:bodyPr/>
                    <a:lstStyle/>
                    <a:p>
                      <a:pPr algn="l" indent="0" marL="0">
                        <a:buNone/>
                      </a:pPr>
                      <a:r>
                        <a:rPr lang="en-US" sz="580" b="1" dirty="0">
                          <a:solidFill>
                            <a:srgbClr val="32363A"/>
                          </a:solidFill>
                          <a:latin typeface="Microsoft YaHei" pitchFamily="34" charset="0"/>
                          <a:ea typeface="Microsoft YaHei" pitchFamily="34" charset="-122"/>
                          <a:cs typeface="Microsoft YaHei" pitchFamily="34" charset="-120"/>
                        </a:rPr>
                        <a:t>内蒙古×2012后</a:t>
                      </a:r>
                      <a:endParaRPr lang="en-US" sz="58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solidFill>
                      <a:srgbClr val="F6F8FC"/>
                    </a:solidFill>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0.3062*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0.0382**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9.3511***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0.1361***</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0.1263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0.0299</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1.2466</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0.0102</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r h="350520">
                <a:tc>
                  <a:txBody>
                    <a:bodyPr/>
                    <a:lstStyle/>
                    <a:p>
                      <a:pPr algn="l" indent="0" marL="0">
                        <a:buNone/>
                      </a:pPr>
                      <a:r>
                        <a:rPr lang="en-US" sz="660" dirty="0">
                          <a:solidFill>
                            <a:srgbClr val="32363A"/>
                          </a:solidFill>
                          <a:latin typeface="Microsoft YaHei" pitchFamily="34" charset="0"/>
                          <a:ea typeface="Microsoft YaHei" pitchFamily="34" charset="-122"/>
                          <a:cs typeface="Microsoft YaHei" pitchFamily="34" charset="-120"/>
                        </a:rPr>
                        <a:t>标准误</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(0.1577)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(0.0145)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(2.4313)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(0.0398)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(0.7338)</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(0.0203)</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(1.6355)</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c>
                  <a:txBody>
                    <a:bodyPr/>
                    <a:lstStyle/>
                    <a:p>
                      <a:pPr algn="ctr" indent="0" marL="0">
                        <a:buNone/>
                      </a:pPr>
                      <a:r>
                        <a:rPr lang="en-US" sz="660" dirty="0">
                          <a:solidFill>
                            <a:srgbClr val="32363A"/>
                          </a:solidFill>
                          <a:latin typeface="Microsoft YaHei" pitchFamily="34" charset="0"/>
                          <a:ea typeface="Microsoft YaHei" pitchFamily="34" charset="-122"/>
                          <a:cs typeface="Microsoft YaHei" pitchFamily="34" charset="-120"/>
                        </a:rPr>
                        <a:t>(0.0167)</a:t>
                      </a:r>
                      <a:endParaRPr lang="en-US" sz="660" dirty="0">
                        <a:latin typeface="Microsoft YaHei" charset="0"/>
                        <a:ea typeface="Microsoft YaHei" charset="0"/>
                        <a:cs typeface="Microsoft YaHei" charset="0"/>
                      </a:endParaRPr>
                    </a:p>
                  </a:txBody>
                  <a:tcPr marL="18288" marR="18288" marT="18288" marB="18288" anchor="ctr">
                    <a:lnL w="5715" cap="flat" cmpd="sng" algn="ctr">
                      <a:solidFill>
                        <a:srgbClr val="A9A9A9"/>
                      </a:solidFill>
                      <a:prstDash val="solid"/>
                      <a:round/>
                      <a:headEnd type="none" w="med" len="med"/>
                      <a:tailEnd type="none" w="med" len="med"/>
                    </a:lnL>
                    <a:lnR w="5715" cap="flat" cmpd="sng" algn="ctr">
                      <a:solidFill>
                        <a:srgbClr val="A9A9A9"/>
                      </a:solidFill>
                      <a:prstDash val="solid"/>
                      <a:round/>
                      <a:headEnd type="none" w="med" len="med"/>
                      <a:tailEnd type="none" w="med" len="med"/>
                    </a:lnR>
                    <a:lnT w="5715" cap="flat" cmpd="sng" algn="ctr">
                      <a:solidFill>
                        <a:srgbClr val="A9A9A9"/>
                      </a:solidFill>
                      <a:prstDash val="solid"/>
                      <a:round/>
                      <a:headEnd type="none" w="med" len="med"/>
                      <a:tailEnd type="none" w="med" len="med"/>
                    </a:lnT>
                    <a:lnB w="5715" cap="flat" cmpd="sng" algn="ctr">
                      <a:solidFill>
                        <a:srgbClr val="A9A9A9"/>
                      </a:solidFill>
                      <a:prstDash val="solid"/>
                      <a:round/>
                      <a:headEnd type="none" w="med" len="med"/>
                      <a:tailEnd type="none" w="med" len="med"/>
                    </a:lnB>
                  </a:tcPr>
                </a:tc>
              </a:tr>
            </a:tbl>
          </a:graphicData>
        </a:graphic>
      </p:graphicFrame>
      <p:sp>
        <p:nvSpPr>
          <p:cNvPr id="17" name="Shape 13"/>
          <p:cNvSpPr/>
          <p:nvPr/>
        </p:nvSpPr>
        <p:spPr>
          <a:xfrm>
            <a:off x="713232" y="4572000"/>
            <a:ext cx="10469880" cy="1170432"/>
          </a:xfrm>
          <a:prstGeom prst="roundRect">
            <a:avLst>
              <a:gd name="adj" fmla="val 4688"/>
            </a:avLst>
          </a:prstGeom>
          <a:solidFill>
            <a:srgbClr val="FFFFFF"/>
          </a:solidFill>
          <a:ln w="12700">
            <a:solidFill>
              <a:srgbClr val="D3C7B8"/>
            </a:solidFill>
            <a:prstDash val="solid"/>
          </a:ln>
        </p:spPr>
      </p:sp>
      <p:sp>
        <p:nvSpPr>
          <p:cNvPr id="18" name="Text 14"/>
          <p:cNvSpPr/>
          <p:nvPr/>
        </p:nvSpPr>
        <p:spPr>
          <a:xfrm>
            <a:off x="859536" y="4690872"/>
            <a:ext cx="10177272" cy="219456"/>
          </a:xfrm>
          <a:prstGeom prst="rect">
            <a:avLst/>
          </a:prstGeom>
          <a:noFill/>
          <a:ln/>
        </p:spPr>
        <p:txBody>
          <a:bodyPr wrap="square" lIns="0" tIns="0" rIns="0" bIns="0" rtlCol="0" anchor="ctr"/>
          <a:lstStyle/>
          <a:p>
            <a:pPr indent="0" marL="0">
              <a:buNone/>
            </a:pPr>
            <a:r>
              <a:rPr lang="en-US" sz="920" b="1" dirty="0">
                <a:solidFill>
                  <a:srgbClr val="07245E"/>
                </a:solidFill>
                <a:latin typeface="Microsoft YaHei" pitchFamily="34" charset="0"/>
                <a:ea typeface="Microsoft YaHei" pitchFamily="34" charset="-122"/>
                <a:cs typeface="Microsoft YaHei" pitchFamily="34" charset="-120"/>
              </a:rPr>
              <a:t>结果解释</a:t>
            </a:r>
            <a:endParaRPr lang="en-US" sz="920" dirty="0"/>
          </a:p>
        </p:txBody>
      </p:sp>
      <p:sp>
        <p:nvSpPr>
          <p:cNvPr id="19" name="Text 15"/>
          <p:cNvSpPr/>
          <p:nvPr/>
        </p:nvSpPr>
        <p:spPr>
          <a:xfrm>
            <a:off x="877824" y="5010912"/>
            <a:ext cx="10158984" cy="640080"/>
          </a:xfrm>
          <a:prstGeom prst="rect">
            <a:avLst/>
          </a:prstGeom>
          <a:noFill/>
          <a:ln/>
        </p:spPr>
        <p:txBody>
          <a:bodyPr wrap="square" lIns="0" tIns="0" rIns="0" bIns="0" rtlCol="0" anchor="t">
            <a:normAutofit/>
          </a:bodyPr>
          <a:lstStyle/>
          <a:p>
            <a:r>
              <a:rPr lang="en-US" sz="810" dirty="0">
                <a:solidFill>
                  <a:srgbClr val="32363A"/>
                </a:solidFill>
                <a:latin typeface="Microsoft YaHei" pitchFamily="34" charset="0"/>
                <a:ea typeface="Microsoft YaHei" pitchFamily="34" charset="-122"/>
                <a:cs typeface="Microsoft YaHei" pitchFamily="34" charset="-120"/>
              </a:rPr>
              <a:t>• 均值显示，山西在煤炭清洁治理和污染治理议题上更集中，内蒙古在绿色金融和新能源词频上更突出。</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回归差异项反映内蒙古相对山西的政策后变化，说明政策文本中的路径差异，而不是两省绝对水平高低。</a:t>
            </a:r>
            <a:endParaRPr lang="en-US" sz="810" dirty="0"/>
          </a:p>
          <a:p>
            <a:r>
              <a:rPr lang="en-US" sz="810" dirty="0">
                <a:solidFill>
                  <a:srgbClr val="32363A"/>
                </a:solidFill>
                <a:latin typeface="Microsoft YaHei" pitchFamily="34" charset="0"/>
                <a:ea typeface="Microsoft YaHei" pitchFamily="34" charset="-122"/>
                <a:cs typeface="Microsoft YaHei" pitchFamily="34" charset="-120"/>
              </a:rPr>
              <a:t>• 汇报时可概括为：山西偏存量煤炭治理，内蒙古更容易围绕风光资源与清洁电力基础形成增量转型叙事。</a:t>
            </a:r>
            <a:endParaRPr lang="en-US" sz="810" dirty="0"/>
          </a:p>
        </p:txBody>
      </p:sp>
      <p:sp>
        <p:nvSpPr>
          <p:cNvPr id="20" name="Text 16"/>
          <p:cNvSpPr/>
          <p:nvPr/>
        </p:nvSpPr>
        <p:spPr>
          <a:xfrm>
            <a:off x="438912" y="6510528"/>
            <a:ext cx="11201400" cy="164592"/>
          </a:xfrm>
          <a:prstGeom prst="rect">
            <a:avLst/>
          </a:prstGeom>
          <a:noFill/>
          <a:ln/>
        </p:spPr>
        <p:txBody>
          <a:bodyPr wrap="square" lIns="0" tIns="0" rIns="0" bIns="0" rtlCol="0" anchor="ctr"/>
          <a:lstStyle/>
          <a:p>
            <a:pPr indent="0" marL="0">
              <a:buNone/>
            </a:pPr>
            <a:r>
              <a:rPr lang="en-US" sz="650" dirty="0">
                <a:solidFill>
                  <a:srgbClr val="6B7280"/>
                </a:solidFill>
                <a:latin typeface="Microsoft YaHei" pitchFamily="34" charset="0"/>
                <a:ea typeface="Microsoft YaHei" pitchFamily="34" charset="-122"/>
                <a:cs typeface="Microsoft YaHei" pitchFamily="34" charset="-120"/>
              </a:rPr>
              <a:t>注：词频为每万字关键词出现次数，覆盖比例为含对应关键词文件占比；回归项为两省样本、控制省份和年份固定效应的内蒙古相对山西政策后差异。</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CUFE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实证结果汇报</dc:title>
  <dc:subject>绿色信贷实证结果汇报</dc:subject>
  <dc:creator>Codex</dc:creator>
  <cp:lastModifiedBy>Codex</cp:lastModifiedBy>
  <cp:revision>1</cp:revision>
  <dcterms:created xsi:type="dcterms:W3CDTF">2026-05-28T15:23:02Z</dcterms:created>
  <dcterms:modified xsi:type="dcterms:W3CDTF">2026-05-28T15:23:02Z</dcterms:modified>
</cp:coreProperties>
</file>