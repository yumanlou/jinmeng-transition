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无样式，无网格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726"/>
  </p:normalViewPr>
  <p:slideViewPr>
    <p:cSldViewPr snapToGrid="0">
      <p:cViewPr varScale="1">
        <p:scale>
          <a:sx n="160" d="100"/>
          <a:sy n="160" d="100"/>
        </p:scale>
        <p:origin x="8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E1A75F7B-7C9F-4917-B6AA-A80C0D326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1AD8FF3B-D544-4E53-95B9-38D8461CB6A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0D4DD773-5EB4-40F8-AC67-A4819F8A3F70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4709159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52EDB4E1-733B-45D1-A911-9668DFA1010F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A9468075-19A5-44DD-929F-FDB97B0A9C46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7" name="Holder 7">
            <a:extLst>
              <a:ext uri="{FF2B5EF4-FFF2-40B4-BE49-F238E27FC236}">
                <a16:creationId xmlns:a16="http://schemas.microsoft.com/office/drawing/2014/main" id="{0403C0C6-76E1-4CE0-B67D-E54316084711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842E4E20-B921-45CE-AAB6-E921D6882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FEBCD418-1A65-49AA-B469-D9FCA2D466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2402D683-3543-4519-8525-32BB6F05543D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B9158997-6D1A-4BFF-ADD1-ABC8EB940D8A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7E573441-9B7A-419F-B659-8403F5127DB4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39CE6E6C-6324-46E3-868D-40D4D10A31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D49F1804-3E4B-4A85-A306-ABE5618FBAC1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798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784992B6-5502-4B18-ACA7-3EF3538AD8B2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1BEFCFFC-A242-48F9-A5B1-7D7E900FC665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007CB2B8-5A08-46BD-974A-75CF3329AA3A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EE9EADEA-DAC8-4A3C-A28C-D4EA3AD08F52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4900673C-9309-409A-AD80-16D5FBDC4296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A462632-F328-4872-B4FA-BF5809E06E18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F3C36DB0-EFD8-4EC2-A1F9-F4B3576D6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1AFD958A-AFE3-4AEE-9A03-C48F5EF781BE}"/>
              </a:ext>
            </a:extLst>
          </p:cNvPr>
          <p:cNvSpPr>
            <a:spLocks noGrp="1"/>
          </p:cNvSpPr>
          <p:nvPr>
            <p:ph type="ftr" idx="5"/>
          </p:nvPr>
        </p:nvSpPr>
        <p:spPr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D33F88E4-14F3-4AB9-9A1E-434DBA83D698}"/>
              </a:ext>
            </a:extLst>
          </p:cNvPr>
          <p:cNvSpPr>
            <a:spLocks noGrp="1"/>
          </p:cNvSpPr>
          <p:nvPr>
            <p:ph type="dt" idx="6"/>
          </p:nvPr>
        </p:nvSpPr>
        <p:spPr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AFF14FF2-84E9-4291-AED9-85A9605F19B0}"/>
              </a:ext>
            </a:extLst>
          </p:cNvPr>
          <p:cNvSpPr>
            <a:spLocks noGrp="1"/>
          </p:cNvSpPr>
          <p:nvPr>
            <p:ph type="sldNum" idx="7"/>
          </p:nvPr>
        </p:nvSpPr>
        <p:spPr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>
            <a:extLst>
              <a:ext uri="{FF2B5EF4-FFF2-40B4-BE49-F238E27FC236}">
                <a16:creationId xmlns:a16="http://schemas.microsoft.com/office/drawing/2014/main" id="{E5BE4822-0C4F-464B-A82D-7B9724D32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15" y="521822"/>
            <a:ext cx="8240369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>
            <a:extLst>
              <a:ext uri="{FF2B5EF4-FFF2-40B4-BE49-F238E27FC236}">
                <a16:creationId xmlns:a16="http://schemas.microsoft.com/office/drawing/2014/main" id="{ED3EC432-7BC3-42AC-B753-63FA9A049C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2292" y="1347216"/>
            <a:ext cx="8519414" cy="27800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B079AC6A-4884-425B-9DDA-FBBB7D56C4A5}"/>
              </a:ext>
            </a:extLst>
          </p:cNvPr>
          <p:cNvSpPr>
            <a:spLocks noGrp="1"/>
          </p:cNvSpPr>
          <p:nvPr>
            <p:ph type="ftr" idx="5"/>
          </p:nvPr>
        </p:nvSpPr>
        <p:spPr>
          <a:xfrm>
            <a:off x="3108960" y="4783455"/>
            <a:ext cx="2926079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F4D6B975-BEA5-4092-8608-C1B154FF03AB}"/>
              </a:ext>
            </a:extLst>
          </p:cNvPr>
          <p:cNvSpPr>
            <a:spLocks noGrp="1"/>
          </p:cNvSpPr>
          <p:nvPr>
            <p:ph type="dt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E7151917-B081-418D-877C-55C8AF75311E}"/>
              </a:ext>
            </a:extLst>
          </p:cNvPr>
          <p:cNvSpPr>
            <a:spLocks noGrp="1"/>
          </p:cNvSpPr>
          <p:nvPr>
            <p:ph type="sldNum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>
            <a:extLst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noGrp="1"/>
          </p:cNvSpPr>
          <p:nvPr/>
        </p:nvSpPr>
        <p:spPr>
          <a:xfrm>
            <a:off x="671305" y="3513225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 dirty="0"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noGrp="1"/>
          </p:cNvSpPr>
          <p:nvPr/>
        </p:nvSpPr>
        <p:spPr>
          <a:xfrm>
            <a:off x="5368578" y="3496152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noGrp="1"/>
          </p:cNvSpPr>
          <p:nvPr/>
        </p:nvSpPr>
        <p:spPr>
          <a:xfrm>
            <a:off x="1403483" y="4019635"/>
            <a:ext cx="2374900" cy="1397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noGrp="1"/>
          </p:cNvSpPr>
          <p:nvPr/>
        </p:nvSpPr>
        <p:spPr>
          <a:xfrm>
            <a:off x="1403483" y="4225375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 dirty="0" err="1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高煤炭暴露地区在政策后显著降低能源和煤炭使用强度</a:t>
            </a:r>
            <a:r>
              <a:rPr sz="900" dirty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noGrp="1"/>
          </p:cNvSpPr>
          <p:nvPr/>
        </p:nvSpPr>
        <p:spPr>
          <a:xfrm>
            <a:off x="6013382" y="4016492"/>
            <a:ext cx="2374900" cy="13843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noGrp="1"/>
          </p:cNvSpPr>
          <p:nvPr/>
        </p:nvSpPr>
        <p:spPr>
          <a:xfrm>
            <a:off x="6013382" y="4222232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绿色全要素生产率与全局ML指数不显著，不能写成生产率跃升。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noGrp="1"/>
          </p:cNvSpPr>
          <p:nvPr/>
        </p:nvSpPr>
        <p:spPr>
          <a:xfrm>
            <a:off x="1449552" y="1306526"/>
            <a:ext cx="737235" cy="2133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强度压降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noGrp="1"/>
          </p:cNvSpPr>
          <p:nvPr/>
        </p:nvSpPr>
        <p:spPr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noGrp="1"/>
          </p:cNvSpPr>
          <p:nvPr/>
        </p:nvSpPr>
        <p:spPr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noGrp="1"/>
          </p:cNvSpPr>
          <p:nvPr/>
        </p:nvSpPr>
        <p:spPr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noGrp="1"/>
          </p:cNvSpPr>
          <p:nvPr/>
        </p:nvSpPr>
        <p:spPr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ts val="1200"/>
              </a:lnSpc>
              <a:buNone/>
            </a:pPr>
            <a:r>
              <a:rPr sz="1050" dirty="0">
                <a:latin typeface="微软雅黑"/>
                <a:ea typeface="微软雅黑"/>
                <a:cs typeface="微软雅黑"/>
              </a:rPr>
              <a:t>EMPIRICAL RESULTS  /  01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noGrp="1"/>
          </p:cNvSpPr>
          <p:nvPr/>
        </p:nvSpPr>
        <p:spPr>
          <a:xfrm>
            <a:off x="424180" y="468630"/>
            <a:ext cx="3843020" cy="26654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buNone/>
            </a:pPr>
            <a:r>
              <a:rPr dirty="0" err="1"/>
              <a:t>约束性治理：能源强度压降</a:t>
            </a:r>
            <a:endParaRPr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BBBA758-CDBF-7BEB-7D64-7C3B0E45E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1443772"/>
              </p:ext>
            </p:extLst>
          </p:nvPr>
        </p:nvGraphicFramePr>
        <p:xfrm>
          <a:off x="1039178" y="1276627"/>
          <a:ext cx="7065644" cy="1249680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11077">
                  <a:extLst>
                    <a:ext uri="{9D8B030D-6E8A-4147-A177-3AD203B41FA5}">
                      <a16:colId xmlns:a16="http://schemas.microsoft.com/office/drawing/2014/main" val="388379637"/>
                    </a:ext>
                  </a:extLst>
                </a:gridCol>
                <a:gridCol w="1575157">
                  <a:extLst>
                    <a:ext uri="{9D8B030D-6E8A-4147-A177-3AD203B41FA5}">
                      <a16:colId xmlns:a16="http://schemas.microsoft.com/office/drawing/2014/main" val="3758637176"/>
                    </a:ext>
                  </a:extLst>
                </a:gridCol>
                <a:gridCol w="1129068">
                  <a:extLst>
                    <a:ext uri="{9D8B030D-6E8A-4147-A177-3AD203B41FA5}">
                      <a16:colId xmlns:a16="http://schemas.microsoft.com/office/drawing/2014/main" val="2727744191"/>
                    </a:ext>
                  </a:extLst>
                </a:gridCol>
                <a:gridCol w="1246999">
                  <a:extLst>
                    <a:ext uri="{9D8B030D-6E8A-4147-A177-3AD203B41FA5}">
                      <a16:colId xmlns:a16="http://schemas.microsoft.com/office/drawing/2014/main" val="306402875"/>
                    </a:ext>
                  </a:extLst>
                </a:gridCol>
                <a:gridCol w="1703343">
                  <a:extLst>
                    <a:ext uri="{9D8B030D-6E8A-4147-A177-3AD203B41FA5}">
                      <a16:colId xmlns:a16="http://schemas.microsoft.com/office/drawing/2014/main" val="28987873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绿色全要素生产率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全局</a:t>
                      </a:r>
                      <a:r>
                        <a:rPr lang="en-US" sz="1400" kern="100" dirty="0">
                          <a:effectLst/>
                        </a:rPr>
                        <a:t>ML</a:t>
                      </a:r>
                      <a:r>
                        <a:rPr lang="zh-CN" sz="1400" kern="100" dirty="0">
                          <a:effectLst/>
                        </a:rPr>
                        <a:t>指数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五类能源强度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煤炭终端强度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048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政策后煤炭暴露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-1.0498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-0.1342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-0.2895**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-0.4262***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5343464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 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(0.7528)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(0.0830)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>
                          <a:effectLst/>
                        </a:rPr>
                        <a:t>(0.1190)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>
                          <a:effectLst/>
                        </a:rPr>
                        <a:t>(0.0776)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952962798"/>
                  </a:ext>
                </a:extLst>
              </a:tr>
              <a:tr h="10871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>
                          <a:effectLst/>
                        </a:rPr>
                        <a:t>样本量</a:t>
                      </a:r>
                      <a:endParaRPr lang="zh-CN" sz="20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510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510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480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480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74652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400" kern="100" dirty="0">
                          <a:effectLst/>
                        </a:rPr>
                        <a:t>拟合优度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0.7644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0.2719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0.9592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kern="100" dirty="0">
                          <a:effectLst/>
                        </a:rPr>
                        <a:t>0.9237</a:t>
                      </a:r>
                      <a:endParaRPr lang="zh-CN" sz="2000" kern="1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447907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E1D0305-00F3-AF02-3D8D-4E52CBE1F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6893909"/>
                  </p:ext>
                </p:extLst>
              </p:nvPr>
            </p:nvGraphicFramePr>
            <p:xfrm>
              <a:off x="1039178" y="2665650"/>
              <a:ext cx="7177452" cy="6858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196242">
                      <a:extLst>
                        <a:ext uri="{9D8B030D-6E8A-4147-A177-3AD203B41FA5}">
                          <a16:colId xmlns:a16="http://schemas.microsoft.com/office/drawing/2014/main" val="871201393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3466860494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1836342425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1836757524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2064799788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38127467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工业</a:t>
                          </a:r>
                          <a14:m>
                            <m:oMath xmlns:m="http://schemas.openxmlformats.org/officeDocument/2006/math">
                              <m:r>
                                <a:rPr lang="zh-CN" altLang="en-US" sz="800" kern="100">
                                  <a:effectLst/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zh-CN" altLang="en-US" sz="800" i="1" kern="100"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𝑂</m:t>
                                  </m:r>
                                </m:e>
                                <m:sub>
                                  <m:r>
                                    <a:rPr lang="en-US" altLang="zh-CN" sz="800" kern="100">
                                      <a:effectLst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氮氧化物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颗粒物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工业固废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工业废水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7151986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政策后煤炭暴露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-72.5887***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-43.9915**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-10.1339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-47.2683**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-40594.6149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6828066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(19.6996)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(16.8916)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(28.0627)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(20.0521)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(24203.0698)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9997373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样本量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336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154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0050929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 dirty="0">
                              <a:effectLst/>
                            </a:rPr>
                            <a:t>拟合优度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0.8812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0.9223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0.8225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0.7837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 dirty="0">
                              <a:effectLst/>
                            </a:rPr>
                            <a:t>0.9108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8797974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4">
                <a:extLst>
                  <a:ext uri="{FF2B5EF4-FFF2-40B4-BE49-F238E27FC236}">
                    <a16:creationId xmlns:a16="http://schemas.microsoft.com/office/drawing/2014/main" id="{8E1D0305-00F3-AF02-3D8D-4E52CBE1F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16893909"/>
                  </p:ext>
                </p:extLst>
              </p:nvPr>
            </p:nvGraphicFramePr>
            <p:xfrm>
              <a:off x="1039178" y="2665650"/>
              <a:ext cx="7177452" cy="685800"/>
            </p:xfrm>
            <a:graphic>
              <a:graphicData uri="http://schemas.openxmlformats.org/drawingml/2006/table">
                <a:tbl>
                  <a:tblPr firstRow="1" firstCol="1" bandRow="1">
                    <a:tableStyleId>{2D5ABB26-0587-4C30-8999-92F81FD0307C}</a:tableStyleId>
                  </a:tblPr>
                  <a:tblGrid>
                    <a:gridCol w="1196242">
                      <a:extLst>
                        <a:ext uri="{9D8B030D-6E8A-4147-A177-3AD203B41FA5}">
                          <a16:colId xmlns:a16="http://schemas.microsoft.com/office/drawing/2014/main" val="871201393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3466860494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1836342425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1836757524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2064799788"/>
                        </a:ext>
                      </a:extLst>
                    </a:gridCol>
                    <a:gridCol w="1196242">
                      <a:extLst>
                        <a:ext uri="{9D8B030D-6E8A-4147-A177-3AD203B41FA5}">
                          <a16:colId xmlns:a16="http://schemas.microsoft.com/office/drawing/2014/main" val="3812746705"/>
                        </a:ext>
                      </a:extLst>
                    </a:gridCol>
                  </a:tblGrid>
                  <a:tr h="16002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68580" marR="68580" marT="0" marB="0" anchor="ctr">
                        <a:blipFill>
                          <a:blip r:embed="rId7"/>
                          <a:stretch>
                            <a:fillRect l="-98947" t="-7692" r="-397895" b="-36923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氮氧化物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颗粒物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工业固废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工业废水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671519863"/>
                      </a:ext>
                    </a:extLst>
                  </a:tr>
                  <a:tr h="12192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政策后煤炭暴露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-72.5887***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-43.9915**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-10.1339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-47.2683**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-40594.6149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868280665"/>
                      </a:ext>
                    </a:extLst>
                  </a:tr>
                  <a:tr h="16002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1050" kern="100">
                              <a:effectLst/>
                            </a:rPr>
                            <a:t> 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(19.6996)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(16.8916)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(28.0627)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(20.0521)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(24203.0698)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899973732"/>
                      </a:ext>
                    </a:extLst>
                  </a:tr>
                  <a:tr h="12192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>
                              <a:effectLst/>
                            </a:rPr>
                            <a:t>样本量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336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154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510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1500509293"/>
                      </a:ext>
                    </a:extLst>
                  </a:tr>
                  <a:tr h="121920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800" kern="100" dirty="0">
                              <a:effectLst/>
                            </a:rPr>
                            <a:t>拟合优度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0.8812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0.9223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0.8225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>
                              <a:effectLst/>
                            </a:rPr>
                            <a:t>0.7837</a:t>
                          </a:r>
                          <a:endParaRPr lang="zh-CN" sz="1050" kern="10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en-US" sz="800" kern="100" dirty="0">
                              <a:effectLst/>
                            </a:rPr>
                            <a:t>0.9108</a:t>
                          </a:r>
                          <a:endParaRPr lang="zh-CN" sz="1050" kern="100" dirty="0">
                            <a:effectLst/>
                            <a:latin typeface="Times New Roman" panose="020206030504050203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/>
                    </a:tc>
                    <a:extLst>
                      <a:ext uri="{0D108BD9-81ED-4DB2-BD59-A6C34878D82A}">
                        <a16:rowId xmlns:a16="http://schemas.microsoft.com/office/drawing/2014/main" val="208797974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8119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noGrp="1"/>
          </p:cNvSpPr>
          <p:nvPr/>
        </p:nvSpPr>
        <p:spPr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noGrp="1"/>
          </p:cNvSpPr>
          <p:nvPr/>
        </p:nvSpPr>
        <p:spPr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noGrp="1"/>
          </p:cNvSpPr>
          <p:nvPr/>
        </p:nvSpPr>
        <p:spPr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noGrp="1"/>
          </p:cNvSpPr>
          <p:nvPr/>
        </p:nvSpPr>
        <p:spPr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核心发现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noGrp="1"/>
          </p:cNvSpPr>
          <p:nvPr/>
        </p:nvSpPr>
        <p:spPr>
          <a:xfrm>
            <a:off x="5515127" y="241573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工业二氧化硫、氮氧化物和工业固废显著下降。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noGrp="1"/>
          </p:cNvSpPr>
          <p:nvPr/>
        </p:nvSpPr>
        <p:spPr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解释边界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noGrp="1"/>
          </p:cNvSpPr>
          <p:nvPr/>
        </p:nvSpPr>
        <p:spPr>
          <a:xfrm>
            <a:off x="5535129" y="381447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颗粒物与工业废水不稳定，证据集中于煤炭工业相关治理。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noGrp="1"/>
          </p:cNvSpPr>
          <p:nvPr/>
        </p:nvSpPr>
        <p:spPr>
          <a:xfrm>
            <a:off x="1449552" y="1306526"/>
            <a:ext cx="737235" cy="2133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污染治理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noGrp="1"/>
          </p:cNvSpPr>
          <p:nvPr/>
        </p:nvSpPr>
        <p:spPr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noGrp="1"/>
          </p:cNvSpPr>
          <p:nvPr/>
        </p:nvSpPr>
        <p:spPr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noGrp="1"/>
          </p:cNvSpPr>
          <p:nvPr/>
        </p:nvSpPr>
        <p:spPr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noGrp="1"/>
          </p:cNvSpPr>
          <p:nvPr/>
        </p:nvSpPr>
        <p:spPr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02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noGrp="1"/>
          </p:cNvSpPr>
          <p:nvPr/>
        </p:nvSpPr>
        <p:spPr>
          <a:xfrm>
            <a:off x="424180" y="468630"/>
            <a:ext cx="1950085" cy="5473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buNone/>
            </a:pPr>
            <a:r>
              <a:t>约束性治理：污染治理响应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3676650" cy="2743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 indent="0">
              <a:lnSpc>
                <a:spcPct val="150000"/>
              </a:lnSpc>
              <a:buNone/>
            </a:pPr>
            <a:r>
              <a:rPr sz="750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表格 28"/>
          <p:cNvGraphicFramePr/>
          <p:nvPr>
            <p:extLst>
              <p:ext uri="{D42A27DB-BD31-4B8C-83A1-F6EECF244321}">
                <p14:modId xmlns:p14="http://schemas.microsoft.com/office/powerpoint/2010/main" val="1576193881"/>
              </p:ext>
            </p:extLst>
          </p:nvPr>
        </p:nvGraphicFramePr>
        <p:xfrm>
          <a:off x="826936" y="2057400"/>
          <a:ext cx="2961157" cy="1885950"/>
        </p:xfrm>
        <a:graphic>
          <a:graphicData uri="http://schemas.openxmlformats.org/drawingml/2006/table">
            <a:tbl>
              <a:tblPr/>
              <a:tblGrid>
                <a:gridCol w="922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1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工业二氧化硫</a:t>
                      </a:r>
                      <a:endParaRPr sz="863" b="1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-72.5887***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(19.6996)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1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氮氧化物</a:t>
                      </a:r>
                      <a:endParaRPr sz="863" b="1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-43.9915**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(16.8916)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1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工业固废</a:t>
                      </a:r>
                      <a:endParaRPr sz="863" b="1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-47.2683**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(20.0521)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颗粒物</a:t>
                      </a:r>
                      <a:endParaRPr sz="863" b="0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-10.1339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(28.0627)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工业废水</a:t>
                      </a:r>
                      <a:endParaRPr sz="863" b="0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-40594.6149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(24203.0698)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noGrp="1"/>
          </p:cNvSpPr>
          <p:nvPr/>
        </p:nvSpPr>
        <p:spPr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noGrp="1"/>
          </p:cNvSpPr>
          <p:nvPr/>
        </p:nvSpPr>
        <p:spPr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noGrp="1"/>
          </p:cNvSpPr>
          <p:nvPr/>
        </p:nvSpPr>
        <p:spPr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noGrp="1"/>
          </p:cNvSpPr>
          <p:nvPr/>
        </p:nvSpPr>
        <p:spPr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过渡信号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noGrp="1"/>
          </p:cNvSpPr>
          <p:nvPr/>
        </p:nvSpPr>
        <p:spPr>
          <a:xfrm>
            <a:off x="5515127" y="241573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煤炭消费占比显著下降，约束效应已外溢到能源使用比例。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noGrp="1"/>
          </p:cNvSpPr>
          <p:nvPr/>
        </p:nvSpPr>
        <p:spPr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noGrp="1"/>
          </p:cNvSpPr>
          <p:nvPr/>
        </p:nvSpPr>
        <p:spPr>
          <a:xfrm>
            <a:off x="5535129" y="381447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二氧化碳和火电结构未同步稳定变化，尚非完整结构性去煤。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noGrp="1"/>
          </p:cNvSpPr>
          <p:nvPr/>
        </p:nvSpPr>
        <p:spPr>
          <a:xfrm>
            <a:off x="1449552" y="1306526"/>
            <a:ext cx="737235" cy="2133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结构边界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noGrp="1"/>
          </p:cNvSpPr>
          <p:nvPr/>
        </p:nvSpPr>
        <p:spPr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noGrp="1"/>
          </p:cNvSpPr>
          <p:nvPr/>
        </p:nvSpPr>
        <p:spPr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noGrp="1"/>
          </p:cNvSpPr>
          <p:nvPr/>
        </p:nvSpPr>
        <p:spPr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noGrp="1"/>
          </p:cNvSpPr>
          <p:nvPr/>
        </p:nvSpPr>
        <p:spPr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03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noGrp="1"/>
          </p:cNvSpPr>
          <p:nvPr/>
        </p:nvSpPr>
        <p:spPr>
          <a:xfrm>
            <a:off x="424180" y="468630"/>
            <a:ext cx="4624898" cy="266548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buNone/>
            </a:pPr>
            <a:r>
              <a:rPr dirty="0" err="1"/>
              <a:t>结构性治理边界：比例下降不等于去煤完成</a:t>
            </a:r>
            <a:endParaRPr dirty="0"/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noGrp="1"/>
          </p:cNvSpPr>
          <p:nvPr/>
        </p:nvSpPr>
        <p:spPr>
          <a:xfrm>
            <a:off x="876300" y="4057650"/>
            <a:ext cx="3676650" cy="27432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 indent="0">
              <a:lnSpc>
                <a:spcPct val="150000"/>
              </a:lnSpc>
              <a:buNone/>
            </a:pPr>
            <a:r>
              <a:rPr sz="750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注：括号内为标准误；控制省份和年份固定效应。</a:t>
            </a:r>
          </a:p>
        </p:txBody>
      </p:sp>
      <p:graphicFrame>
        <p:nvGraphicFramePr>
          <p:cNvPr id="29" name="表格 28"/>
          <p:cNvGraphicFramePr/>
          <p:nvPr>
            <p:extLst>
              <p:ext uri="{D42A27DB-BD31-4B8C-83A1-F6EECF244321}">
                <p14:modId xmlns:p14="http://schemas.microsoft.com/office/powerpoint/2010/main" val="3978700246"/>
              </p:ext>
            </p:extLst>
          </p:nvPr>
        </p:nvGraphicFramePr>
        <p:xfrm>
          <a:off x="876300" y="2057400"/>
          <a:ext cx="3240405" cy="1885950"/>
        </p:xfrm>
        <a:graphic>
          <a:graphicData uri="http://schemas.openxmlformats.org/drawingml/2006/table">
            <a:tbl>
              <a:tblPr/>
              <a:tblGrid>
                <a:gridCol w="1202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结果变量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核心系数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标准误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1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煤炭占比（五类</a:t>
                      </a:r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-0.2495***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1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煤炭占比（原口径</a:t>
                      </a:r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-0.1900***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(0.0651)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二氧化碳（对数</a:t>
                      </a:r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-0.0982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(0.1034)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火电装机占比</a:t>
                      </a:r>
                      <a:endParaRPr sz="863" b="0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0.0517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(0.0945)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325">
                <a:tc>
                  <a:txBody>
                    <a:bodyPr/>
                    <a:lstStyle/>
                    <a:p>
                      <a:pPr algn="l"/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火电发电占比</a:t>
                      </a:r>
                      <a:endParaRPr sz="863" b="0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0.0888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(0.0754)</a:t>
                      </a:r>
                    </a:p>
                  </a:txBody>
                  <a:tcPr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>
            <a:extLst>
              <a:ext uri="{FF2B5EF4-FFF2-40B4-BE49-F238E27FC236}">
                <a16:creationId xmlns:a16="http://schemas.microsoft.com/office/drawing/2014/main" id="{05916841-B295-CA37-2753-CBDB85A902E8}"/>
              </a:ext>
            </a:extLst>
          </p:cNvPr>
          <p:cNvSpPr>
            <a:spLocks noGrp="1"/>
          </p:cNvSpPr>
          <p:nvPr/>
        </p:nvSpPr>
        <p:spPr>
          <a:xfrm>
            <a:off x="684276" y="1203960"/>
            <a:ext cx="2377440" cy="388620"/>
          </a:xfrm>
          <a:custGeom>
            <a:avLst/>
            <a:gdLst/>
            <a:ahLst/>
            <a:cxnLst/>
            <a:rect l="l" t="t" r="r" b="b"/>
            <a:pathLst>
              <a:path w="2377440" h="388619">
                <a:moveTo>
                  <a:pt x="2182368" y="388619"/>
                </a:moveTo>
                <a:lnTo>
                  <a:pt x="193548" y="388619"/>
                </a:lnTo>
                <a:lnTo>
                  <a:pt x="177665" y="387999"/>
                </a:lnTo>
                <a:lnTo>
                  <a:pt x="132307" y="378793"/>
                </a:lnTo>
                <a:lnTo>
                  <a:pt x="91448" y="359624"/>
                </a:lnTo>
                <a:lnTo>
                  <a:pt x="56461" y="331847"/>
                </a:lnTo>
                <a:lnTo>
                  <a:pt x="28819" y="296980"/>
                </a:lnTo>
                <a:lnTo>
                  <a:pt x="9717" y="256191"/>
                </a:lnTo>
                <a:lnTo>
                  <a:pt x="589" y="210921"/>
                </a:lnTo>
                <a:lnTo>
                  <a:pt x="0" y="195071"/>
                </a:lnTo>
                <a:lnTo>
                  <a:pt x="589" y="179050"/>
                </a:lnTo>
                <a:lnTo>
                  <a:pt x="9717" y="133362"/>
                </a:lnTo>
                <a:lnTo>
                  <a:pt x="28819" y="92277"/>
                </a:lnTo>
                <a:lnTo>
                  <a:pt x="56610" y="57056"/>
                </a:lnTo>
                <a:lnTo>
                  <a:pt x="91531" y="29231"/>
                </a:lnTo>
                <a:lnTo>
                  <a:pt x="132336" y="9986"/>
                </a:lnTo>
                <a:lnTo>
                  <a:pt x="177667" y="667"/>
                </a:lnTo>
                <a:lnTo>
                  <a:pt x="193548" y="0"/>
                </a:lnTo>
                <a:lnTo>
                  <a:pt x="2182368" y="0"/>
                </a:lnTo>
                <a:lnTo>
                  <a:pt x="2229217" y="5712"/>
                </a:lnTo>
                <a:lnTo>
                  <a:pt x="2271943" y="21813"/>
                </a:lnTo>
                <a:lnTo>
                  <a:pt x="2309199" y="46965"/>
                </a:lnTo>
                <a:lnTo>
                  <a:pt x="2339631" y="79836"/>
                </a:lnTo>
                <a:lnTo>
                  <a:pt x="2361783" y="118838"/>
                </a:lnTo>
                <a:lnTo>
                  <a:pt x="2374515" y="162956"/>
                </a:lnTo>
                <a:lnTo>
                  <a:pt x="2377059" y="194475"/>
                </a:lnTo>
                <a:lnTo>
                  <a:pt x="2376414" y="210409"/>
                </a:lnTo>
                <a:lnTo>
                  <a:pt x="2367149" y="255886"/>
                </a:lnTo>
                <a:lnTo>
                  <a:pt x="2347930" y="296816"/>
                </a:lnTo>
                <a:lnTo>
                  <a:pt x="2320018" y="331922"/>
                </a:lnTo>
                <a:lnTo>
                  <a:pt x="2284953" y="359650"/>
                </a:lnTo>
                <a:lnTo>
                  <a:pt x="2243954" y="378798"/>
                </a:lnTo>
                <a:lnTo>
                  <a:pt x="2198356" y="387999"/>
                </a:lnTo>
                <a:lnTo>
                  <a:pt x="2182368" y="388619"/>
                </a:lnTo>
                <a:close/>
              </a:path>
            </a:pathLst>
          </a:custGeom>
          <a:solidFill>
            <a:srgbClr val="00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4F10EE6-A96F-F2B0-324F-221BC9324F4A}"/>
              </a:ext>
            </a:extLst>
          </p:cNvPr>
          <p:cNvSpPr>
            <a:spLocks noGrp="1"/>
          </p:cNvSpPr>
          <p:nvPr/>
        </p:nvSpPr>
        <p:spPr>
          <a:xfrm>
            <a:off x="4817859" y="1686598"/>
            <a:ext cx="3531285" cy="1254772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DDCE0049-82CC-9491-B869-41D21C925AC4}"/>
              </a:ext>
            </a:extLst>
          </p:cNvPr>
          <p:cNvSpPr>
            <a:spLocks noGrp="1"/>
          </p:cNvSpPr>
          <p:nvPr/>
        </p:nvSpPr>
        <p:spPr>
          <a:xfrm>
            <a:off x="4890325" y="3088398"/>
            <a:ext cx="3458819" cy="1251711"/>
          </a:xfrm>
          <a:prstGeom prst="rect">
            <a:avLst/>
          </a:prstGeom>
          <a:blipFill>
            <a:blip r:embed="rId4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DEECB41-A312-380B-6325-A8C614FF0F73}"/>
              </a:ext>
            </a:extLst>
          </p:cNvPr>
          <p:cNvSpPr>
            <a:spLocks noGrp="1"/>
          </p:cNvSpPr>
          <p:nvPr/>
        </p:nvSpPr>
        <p:spPr>
          <a:xfrm>
            <a:off x="5515127" y="2209998"/>
            <a:ext cx="2374900" cy="1397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模型结论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43C93230-CEA0-CE0E-718C-54BFC73DC4FC}"/>
              </a:ext>
            </a:extLst>
          </p:cNvPr>
          <p:cNvSpPr>
            <a:spLocks noGrp="1"/>
          </p:cNvSpPr>
          <p:nvPr/>
        </p:nvSpPr>
        <p:spPr>
          <a:xfrm>
            <a:off x="5515127" y="241573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三重交互为负且显著，不支持低碳基础自动放大新能源替代。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C7CC93EB-3C9C-79E8-E643-6E27C9DEECA3}"/>
              </a:ext>
            </a:extLst>
          </p:cNvPr>
          <p:cNvSpPr>
            <a:spLocks noGrp="1"/>
          </p:cNvSpPr>
          <p:nvPr/>
        </p:nvSpPr>
        <p:spPr>
          <a:xfrm>
            <a:off x="5535129" y="3608738"/>
            <a:ext cx="2374900" cy="13843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案例补充</a:t>
            </a: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62670A-FECF-DE3F-6AFE-74A2172D9BFE}"/>
              </a:ext>
            </a:extLst>
          </p:cNvPr>
          <p:cNvSpPr>
            <a:spLocks noGrp="1"/>
          </p:cNvSpPr>
          <p:nvPr/>
        </p:nvSpPr>
        <p:spPr>
          <a:xfrm>
            <a:off x="5535129" y="3814478"/>
            <a:ext cx="2374900" cy="4114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50000"/>
              </a:lnSpc>
              <a:buNone/>
            </a:pPr>
            <a:r>
              <a:rPr sz="90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晋蒙文本反映政策注意力和后验承接表现，不承担全国因果识别。</a:t>
            </a:r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D07B1F19-827F-8D85-40B1-B5CB2647751B}"/>
              </a:ext>
            </a:extLst>
          </p:cNvPr>
          <p:cNvSpPr>
            <a:spLocks noGrp="1"/>
          </p:cNvSpPr>
          <p:nvPr/>
        </p:nvSpPr>
        <p:spPr>
          <a:xfrm>
            <a:off x="1449552" y="1306526"/>
            <a:ext cx="737235" cy="21336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ct val="100000"/>
              </a:lnSpc>
              <a:buNone/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条件路径</a:t>
            </a:r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A0518D75-6A3E-69DE-CC3A-9BB0FC203142}"/>
              </a:ext>
            </a:extLst>
          </p:cNvPr>
          <p:cNvSpPr>
            <a:spLocks noGrp="1"/>
          </p:cNvSpPr>
          <p:nvPr/>
        </p:nvSpPr>
        <p:spPr>
          <a:xfrm>
            <a:off x="218135" y="173583"/>
            <a:ext cx="150418" cy="721550"/>
          </a:xfrm>
          <a:prstGeom prst="rect">
            <a:avLst/>
          </a:prstGeom>
          <a:blipFill>
            <a:blip r:embed="rId5"/>
            <a:stretch/>
          </a:blip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8400D909-1BAC-436D-AE0A-6D1E491C3112}"/>
              </a:ext>
            </a:extLst>
          </p:cNvPr>
          <p:cNvSpPr>
            <a:spLocks noGrp="1"/>
          </p:cNvSpPr>
          <p:nvPr/>
        </p:nvSpPr>
        <p:spPr>
          <a:xfrm>
            <a:off x="7164323" y="0"/>
            <a:ext cx="1979930" cy="1491615"/>
          </a:xfrm>
          <a:custGeom>
            <a:avLst/>
            <a:gdLst/>
            <a:ahLst/>
            <a:cxnLst/>
            <a:rect l="l" t="t" r="r" b="b"/>
            <a:pathLst>
              <a:path w="1979929" h="1491615">
                <a:moveTo>
                  <a:pt x="1259903" y="1491615"/>
                </a:moveTo>
                <a:lnTo>
                  <a:pt x="1156551" y="1487437"/>
                </a:lnTo>
                <a:lnTo>
                  <a:pt x="1055500" y="1475121"/>
                </a:lnTo>
                <a:lnTo>
                  <a:pt x="957073" y="1454991"/>
                </a:lnTo>
                <a:lnTo>
                  <a:pt x="861596" y="1427370"/>
                </a:lnTo>
                <a:lnTo>
                  <a:pt x="769393" y="1392584"/>
                </a:lnTo>
                <a:lnTo>
                  <a:pt x="680788" y="1350957"/>
                </a:lnTo>
                <a:lnTo>
                  <a:pt x="596107" y="1302813"/>
                </a:lnTo>
                <a:lnTo>
                  <a:pt x="515689" y="1248488"/>
                </a:lnTo>
                <a:lnTo>
                  <a:pt x="439832" y="1188288"/>
                </a:lnTo>
                <a:lnTo>
                  <a:pt x="368871" y="1122545"/>
                </a:lnTo>
                <a:lnTo>
                  <a:pt x="303132" y="1051583"/>
                </a:lnTo>
                <a:lnTo>
                  <a:pt x="242939" y="975728"/>
                </a:lnTo>
                <a:lnTo>
                  <a:pt x="188617" y="895304"/>
                </a:lnTo>
                <a:lnTo>
                  <a:pt x="140490" y="810635"/>
                </a:lnTo>
                <a:lnTo>
                  <a:pt x="98883" y="722045"/>
                </a:lnTo>
                <a:lnTo>
                  <a:pt x="64120" y="629860"/>
                </a:lnTo>
                <a:lnTo>
                  <a:pt x="36525" y="534403"/>
                </a:lnTo>
                <a:lnTo>
                  <a:pt x="16424" y="435999"/>
                </a:lnTo>
                <a:lnTo>
                  <a:pt x="4141" y="334972"/>
                </a:lnTo>
                <a:lnTo>
                  <a:pt x="0" y="231647"/>
                </a:lnTo>
                <a:lnTo>
                  <a:pt x="4141" y="128269"/>
                </a:lnTo>
                <a:lnTo>
                  <a:pt x="16424" y="27193"/>
                </a:lnTo>
                <a:lnTo>
                  <a:pt x="21977" y="0"/>
                </a:lnTo>
                <a:lnTo>
                  <a:pt x="1979676" y="0"/>
                </a:lnTo>
                <a:lnTo>
                  <a:pt x="1979676" y="1264998"/>
                </a:lnTo>
                <a:lnTo>
                  <a:pt x="1923683" y="1302821"/>
                </a:lnTo>
                <a:lnTo>
                  <a:pt x="1839004" y="1350962"/>
                </a:lnTo>
                <a:lnTo>
                  <a:pt x="1750403" y="1392587"/>
                </a:lnTo>
                <a:lnTo>
                  <a:pt x="1658203" y="1427372"/>
                </a:lnTo>
                <a:lnTo>
                  <a:pt x="1562728" y="1454991"/>
                </a:lnTo>
                <a:lnTo>
                  <a:pt x="1464304" y="1475121"/>
                </a:lnTo>
                <a:lnTo>
                  <a:pt x="1363254" y="1487437"/>
                </a:lnTo>
                <a:lnTo>
                  <a:pt x="1259903" y="1491615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805F477-6628-B7BD-D690-DA003E480398}"/>
              </a:ext>
            </a:extLst>
          </p:cNvPr>
          <p:cNvSpPr>
            <a:spLocks noGrp="1"/>
          </p:cNvSpPr>
          <p:nvPr/>
        </p:nvSpPr>
        <p:spPr>
          <a:xfrm>
            <a:off x="6733031" y="257809"/>
            <a:ext cx="878840" cy="879475"/>
          </a:xfrm>
          <a:custGeom>
            <a:avLst/>
            <a:gdLst/>
            <a:ahLst/>
            <a:cxnLst/>
            <a:rect l="l" t="t" r="r" b="b"/>
            <a:pathLst>
              <a:path w="878840" h="879475">
                <a:moveTo>
                  <a:pt x="438975" y="879474"/>
                </a:moveTo>
                <a:lnTo>
                  <a:pt x="367645" y="873719"/>
                </a:lnTo>
                <a:lnTo>
                  <a:pt x="299980" y="857057"/>
                </a:lnTo>
                <a:lnTo>
                  <a:pt x="236889" y="830392"/>
                </a:lnTo>
                <a:lnTo>
                  <a:pt x="179284" y="794631"/>
                </a:lnTo>
                <a:lnTo>
                  <a:pt x="128077" y="750679"/>
                </a:lnTo>
                <a:lnTo>
                  <a:pt x="84181" y="699441"/>
                </a:lnTo>
                <a:lnTo>
                  <a:pt x="48581" y="641975"/>
                </a:lnTo>
                <a:lnTo>
                  <a:pt x="22046" y="578956"/>
                </a:lnTo>
                <a:lnTo>
                  <a:pt x="5548" y="511389"/>
                </a:lnTo>
                <a:lnTo>
                  <a:pt x="0" y="440181"/>
                </a:lnTo>
                <a:lnTo>
                  <a:pt x="1349" y="404053"/>
                </a:lnTo>
                <a:lnTo>
                  <a:pt x="12485" y="334335"/>
                </a:lnTo>
                <a:lnTo>
                  <a:pt x="34115" y="268758"/>
                </a:lnTo>
                <a:lnTo>
                  <a:pt x="65411" y="208101"/>
                </a:lnTo>
                <a:lnTo>
                  <a:pt x="105285" y="153560"/>
                </a:lnTo>
                <a:lnTo>
                  <a:pt x="152918" y="105852"/>
                </a:lnTo>
                <a:lnTo>
                  <a:pt x="207405" y="65882"/>
                </a:lnTo>
                <a:lnTo>
                  <a:pt x="267839" y="34556"/>
                </a:lnTo>
                <a:lnTo>
                  <a:pt x="333310" y="12779"/>
                </a:lnTo>
                <a:lnTo>
                  <a:pt x="402911" y="1457"/>
                </a:lnTo>
                <a:lnTo>
                  <a:pt x="438975" y="0"/>
                </a:lnTo>
                <a:lnTo>
                  <a:pt x="475041" y="1457"/>
                </a:lnTo>
                <a:lnTo>
                  <a:pt x="544655" y="12781"/>
                </a:lnTo>
                <a:lnTo>
                  <a:pt x="610156" y="34563"/>
                </a:lnTo>
                <a:lnTo>
                  <a:pt x="670639" y="65901"/>
                </a:lnTo>
                <a:lnTo>
                  <a:pt x="725196" y="105892"/>
                </a:lnTo>
                <a:lnTo>
                  <a:pt x="772919" y="153634"/>
                </a:lnTo>
                <a:lnTo>
                  <a:pt x="812900" y="208223"/>
                </a:lnTo>
                <a:lnTo>
                  <a:pt x="844156" y="268571"/>
                </a:lnTo>
                <a:lnTo>
                  <a:pt x="865933" y="334062"/>
                </a:lnTo>
                <a:lnTo>
                  <a:pt x="877255" y="403671"/>
                </a:lnTo>
                <a:lnTo>
                  <a:pt x="878713" y="439737"/>
                </a:lnTo>
                <a:lnTo>
                  <a:pt x="877255" y="475803"/>
                </a:lnTo>
                <a:lnTo>
                  <a:pt x="865933" y="545412"/>
                </a:lnTo>
                <a:lnTo>
                  <a:pt x="844156" y="610903"/>
                </a:lnTo>
                <a:lnTo>
                  <a:pt x="812748" y="671495"/>
                </a:lnTo>
                <a:lnTo>
                  <a:pt x="772792" y="725988"/>
                </a:lnTo>
                <a:lnTo>
                  <a:pt x="725101" y="773663"/>
                </a:lnTo>
                <a:lnTo>
                  <a:pt x="670577" y="813611"/>
                </a:lnTo>
                <a:lnTo>
                  <a:pt x="610123" y="844925"/>
                </a:lnTo>
                <a:lnTo>
                  <a:pt x="544642" y="866696"/>
                </a:lnTo>
                <a:lnTo>
                  <a:pt x="475039" y="878017"/>
                </a:lnTo>
                <a:lnTo>
                  <a:pt x="438975" y="879474"/>
                </a:lnTo>
                <a:close/>
              </a:path>
            </a:pathLst>
          </a:custGeom>
          <a:solidFill>
            <a:srgbClr val="091F5F"/>
          </a:solidFill>
        </p:spPr>
        <p:txBody>
          <a:bodyPr wrap="square" lIns="0" tIns="0" rIns="0" bIns="0"/>
          <a:lstStyle/>
          <a:p>
            <a:pPr>
              <a:buNone/>
            </a:pPr>
            <a:endParaRPr/>
          </a:p>
        </p:txBody>
      </p:sp>
      <p:pic>
        <p:nvPicPr>
          <p:cNvPr id="23" name="图片 23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7429308" y="395637"/>
            <a:ext cx="1483997" cy="339652"/>
          </a:xfrm>
          <a:prstGeom prst="rect">
            <a:avLst/>
          </a:prstGeom>
        </p:spPr>
      </p:pic>
      <p:sp>
        <p:nvSpPr>
          <p:cNvPr id="26" name="object 3">
            <a:extLst>
              <a:ext uri="{FF2B5EF4-FFF2-40B4-BE49-F238E27FC236}">
                <a16:creationId xmlns:a16="http://schemas.microsoft.com/office/drawing/2014/main" id="{8BEEF823-C43E-56B1-2C2C-A384C6A25E6F}"/>
              </a:ext>
            </a:extLst>
          </p:cNvPr>
          <p:cNvSpPr>
            <a:spLocks noGrp="1"/>
          </p:cNvSpPr>
          <p:nvPr/>
        </p:nvSpPr>
        <p:spPr>
          <a:xfrm>
            <a:off x="424179" y="308642"/>
            <a:ext cx="1950085" cy="1536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>
              <a:lnSpc>
                <a:spcPts val="1200"/>
              </a:lnSpc>
              <a:buNone/>
            </a:pPr>
            <a:r>
              <a:rPr sz="1050">
                <a:latin typeface="微软雅黑"/>
                <a:ea typeface="微软雅黑"/>
                <a:cs typeface="微软雅黑"/>
              </a:rPr>
              <a:t>EMPIRICAL RESULTS  /  04</a:t>
            </a:r>
          </a:p>
        </p:txBody>
      </p:sp>
      <p:sp>
        <p:nvSpPr>
          <p:cNvPr id="27" name="object 4">
            <a:extLst>
              <a:ext uri="{FF2B5EF4-FFF2-40B4-BE49-F238E27FC236}">
                <a16:creationId xmlns:a16="http://schemas.microsoft.com/office/drawing/2014/main" id="{E9CE6BC3-B49E-225F-BBB4-426173F822B6}"/>
              </a:ext>
            </a:extLst>
          </p:cNvPr>
          <p:cNvSpPr>
            <a:spLocks noGrp="1"/>
          </p:cNvSpPr>
          <p:nvPr/>
        </p:nvSpPr>
        <p:spPr>
          <a:xfrm>
            <a:off x="424180" y="468630"/>
            <a:ext cx="1950085" cy="54737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lvl1pPr>
              <a:buNone/>
              <a:defRPr sz="1800" b="1" i="0">
                <a:solidFill>
                  <a:srgbClr val="404040"/>
                </a:solidFill>
                <a:latin typeface="微软雅黑"/>
                <a:ea typeface="微软雅黑"/>
                <a:cs typeface="微软雅黑"/>
              </a:defRPr>
            </a:lvl1pPr>
          </a:lstStyle>
          <a:p>
            <a:pPr marL="12700">
              <a:lnSpc>
                <a:spcPts val="2155"/>
              </a:lnSpc>
              <a:buNone/>
            </a:pPr>
            <a:r>
              <a:t>承接条件：低碳禀赋并非充分条件</a:t>
            </a:r>
          </a:p>
        </p:txBody>
      </p:sp>
      <p:sp>
        <p:nvSpPr>
          <p:cNvPr id="2" name="object 5">
            <a:extLst>
              <a:ext uri="{FF2B5EF4-FFF2-40B4-BE49-F238E27FC236}">
                <a16:creationId xmlns:a16="http://schemas.microsoft.com/office/drawing/2014/main" id="{A5F73BBC-C87C-8DF7-AA80-E561BC5EA178}"/>
              </a:ext>
            </a:extLst>
          </p:cNvPr>
          <p:cNvSpPr>
            <a:spLocks noGrp="1"/>
          </p:cNvSpPr>
          <p:nvPr/>
        </p:nvSpPr>
        <p:spPr>
          <a:xfrm>
            <a:off x="876300" y="4314825"/>
            <a:ext cx="3676650" cy="54864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/>
          <a:p>
            <a:pPr marL="12700" indent="0">
              <a:lnSpc>
                <a:spcPct val="150000"/>
              </a:lnSpc>
              <a:buNone/>
            </a:pPr>
            <a:r>
              <a:rPr sz="713">
                <a:solidFill>
                  <a:srgbClr val="536273"/>
                </a:solidFill>
                <a:latin typeface="微软雅黑"/>
                <a:ea typeface="微软雅黑"/>
                <a:cs typeface="微软雅黑"/>
              </a:rPr>
              <a:t>注：三重差分包含低阶交互项；政策文本仅刻画后验政策注意力。</a:t>
            </a:r>
          </a:p>
        </p:txBody>
      </p:sp>
      <p:graphicFrame>
        <p:nvGraphicFramePr>
          <p:cNvPr id="29" name="表格 28"/>
          <p:cNvGraphicFramePr/>
          <p:nvPr/>
        </p:nvGraphicFramePr>
        <p:xfrm>
          <a:off x="876300" y="1952625"/>
          <a:ext cx="3676650" cy="97155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900" b="1" dirty="0" err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低碳禀赋检验</a:t>
                      </a:r>
                      <a:endParaRPr sz="900" b="1" dirty="0">
                        <a:solidFill>
                          <a:srgbClr val="092565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风电发电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风光发电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863" b="0" dirty="0" err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后期低碳禀赋</a:t>
                      </a:r>
                      <a:endParaRPr sz="863" b="0" dirty="0">
                        <a:solidFill>
                          <a:srgbClr val="1E293B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0.0908*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三重交互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-0.0927**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 dirty="0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-0.2363**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0" name="表格 29"/>
          <p:cNvGraphicFramePr/>
          <p:nvPr/>
        </p:nvGraphicFramePr>
        <p:xfrm>
          <a:off x="876300" y="3171825"/>
          <a:ext cx="3676650" cy="971550"/>
        </p:xfrm>
        <a:graphic>
          <a:graphicData uri="http://schemas.openxmlformats.org/drawingml/2006/table">
            <a:tbl>
              <a:tblPr/>
              <a:tblGrid>
                <a:gridCol w="156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7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晋蒙政策文本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词频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092565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覆盖比例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绿色金融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0.3062*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0.0382**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煤炭清洁治理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9.3511***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63" b="1">
                          <a:solidFill>
                            <a:srgbClr val="1E293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0.1361***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19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309</Words>
  <Application>Microsoft Macintosh PowerPoint</Application>
  <DocSecurity>0</DocSecurity>
  <PresentationFormat>全屏显示(16:9)</PresentationFormat>
  <Paragraphs>140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微软雅黑</vt:lpstr>
      <vt:lpstr>Calibri</vt:lpstr>
      <vt:lpstr>Cambria Math</vt:lpstr>
      <vt:lpstr>Times New Roman</vt:lpstr>
      <vt:lpstr>Office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娄满榆</cp:lastModifiedBy>
  <cp:revision>2</cp:revision>
  <dcterms:created xsi:type="dcterms:W3CDTF">2026-05-27T15:08:22Z</dcterms:created>
  <dcterms:modified xsi:type="dcterms:W3CDTF">2026-05-28T03:01:21Z</dcterms:modified>
</cp:coreProperties>
</file>