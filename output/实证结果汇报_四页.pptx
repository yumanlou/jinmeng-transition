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7e1b3aec2645e7" /><Relationship Type="http://schemas.openxmlformats.org/officeDocument/2006/relationships/extended-properties" Target="/docProps/app.xml" Id="R27de0dfea5b74b9d" /><Relationship Type="http://schemas.openxmlformats.org/officeDocument/2006/relationships/officeDocument" Target="/ppt/presentation.xml" Id="Rdab56b4630a149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2e22cd54384e3f"/>
  </p:sldMasterIdLst>
  <p:notesMasterIdLst>
    <p:notesMasterId xmlns:r="http://schemas.openxmlformats.org/officeDocument/2006/relationships" r:id="Re5ea01167c054bb3"/>
  </p:notesMasterIdLst>
  <p:sldIdLst>
    <p:sldId xmlns:r="http://schemas.openxmlformats.org/officeDocument/2006/relationships" id="256" r:id="Rc16479ae36bc4ded"/>
    <p:sldId xmlns:r="http://schemas.openxmlformats.org/officeDocument/2006/relationships" id="257" r:id="Ra99e548fbb55485e"/>
    <p:sldId xmlns:r="http://schemas.openxmlformats.org/officeDocument/2006/relationships" id="258" r:id="R18bd658c9e354f17"/>
    <p:sldId xmlns:r="http://schemas.openxmlformats.org/officeDocument/2006/relationships" id="259" r:id="R3db18b2cc83e4073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无样式，无网格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2e22cd54384e3f" /><Relationship Type="http://schemas.openxmlformats.org/officeDocument/2006/relationships/theme" Target="/ppt/theme/theme1.xml" Id="Rc456a19c44f3454d" /><Relationship Type="http://schemas.openxmlformats.org/officeDocument/2006/relationships/notesMaster" Target="/ppt/notesMasters/notesMaster1.xml" Id="Re5ea01167c054bb3" /><Relationship Type="http://schemas.openxmlformats.org/officeDocument/2006/relationships/presProps" Target="/ppt/presProps.xml" Id="Re67f2483eada4c67" /><Relationship Type="http://schemas.openxmlformats.org/officeDocument/2006/relationships/viewProps" Target="/ppt/viewProps.xml" Id="Raf8e51ef28f64d1e" /><Relationship Type="http://schemas.openxmlformats.org/officeDocument/2006/relationships/tableStyles" Target="/ppt/tableStyles.xml" Id="R2303dce7c6784be3" /><Relationship Type="http://schemas.openxmlformats.org/officeDocument/2006/relationships/slide" Target="/ppt/slides/slide1.xml" Id="Rc16479ae36bc4ded" /><Relationship Type="http://schemas.openxmlformats.org/officeDocument/2006/relationships/slide" Target="/ppt/slides/slide2.xml" Id="Ra99e548fbb55485e" /><Relationship Type="http://schemas.openxmlformats.org/officeDocument/2006/relationships/slide" Target="/ppt/slides/slide3.xml" Id="R18bd658c9e354f17" /><Relationship Type="http://schemas.openxmlformats.org/officeDocument/2006/relationships/slide" Target="/ppt/slides/slide4.xml" Id="R3db18b2cc83e40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0977fa3be104d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ca1b37ad3242b3" /><Relationship Type="http://schemas.openxmlformats.org/officeDocument/2006/relationships/notesMaster" Target="/ppt/notesMasters/notesMaster1.xml" Id="R78ade1fb2edc40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7d47978d3d4c6b" /><Relationship Type="http://schemas.openxmlformats.org/officeDocument/2006/relationships/notesMaster" Target="/ppt/notesMasters/notesMaster1.xml" Id="Re2be53736e6243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63650ee0114dee" /><Relationship Type="http://schemas.openxmlformats.org/officeDocument/2006/relationships/notesMaster" Target="/ppt/notesMasters/notesMaster1.xml" Id="Ra776ab4b94db48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65250979b741ec" /><Relationship Type="http://schemas.openxmlformats.org/officeDocument/2006/relationships/notesMaster" Target="/ppt/notesMasters/notesMaster1.xml" Id="R2356823aac7444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7c29de9d05490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a29d390435499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28c5fadce14ae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3afd724cb94b4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fee7fba8e148da" /></Relationships>
</file>

<file path=ppt/slideLayouts/slideLayout2.xml><?xml version="1.0" encoding="utf-8"?>
<p:sldLayout xmlns:p="http://schemas.openxmlformats.org/presentationml/2006/main" type="obj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E1A75F7B-7C9F-4917-B6AA-A80C0D3266D6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800" b="1" i="0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1AD8FF3B-D544-4E53-95B9-38D8461CB6AA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457200" y="1183005"/>
            <a:ext cx="3977640" cy="33947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0D4DD773-5EB4-40F8-AC67-A4819F8A3F70}"/>
              </a:ext>
            </a:extLst>
          </p:cNvPr>
          <p:cNvSpPr/>
          <p:nvPr>
            <p:ph idx="3"/>
          </p:nvPr>
        </p:nvSpPr>
        <p:spPr>
          <a:xfrm xmlns:a="http://schemas.openxmlformats.org/drawingml/2006/main">
            <a:off x="4709159" y="1183005"/>
            <a:ext cx="3977640" cy="33947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52EDB4E1-733B-45D1-A911-9668DFA1010F}"/>
              </a:ext>
            </a:extLst>
          </p:cNvPr>
          <p:cNvSpPr/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A9468075-19A5-44DD-929F-FDB97B0A9C46}"/>
              </a:ext>
            </a:extLst>
          </p:cNvPr>
          <p:cNvSpPr/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Holder 7">
            <a:extLst xmlns:a="http://schemas.openxmlformats.org/drawingml/2006/main">
              <a:ext uri="{FF2B5EF4-FFF2-40B4-BE49-F238E27FC236}">
                <a16:creationId xmlns:a16="http://schemas.microsoft.com/office/drawing/2014/main" id="{0403C0C6-76E1-4CE0-B67D-E54316084711}"/>
              </a:ext>
            </a:extLst>
          </p:cNvPr>
          <p:cNvSpPr/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842E4E20-B921-45CE-AAB6-E921D688222E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800" b="1" i="0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FEBCD418-1A65-49AA-B469-D9FCA2D466CC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b="0" i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2402D683-3543-4519-8525-32BB6F05543D}"/>
              </a:ext>
            </a:extLst>
          </p:cNvPr>
          <p:cNvSpPr/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B9158997-6D1A-4BFF-ADD1-ABC8EB940D8A}"/>
              </a:ext>
            </a:extLst>
          </p:cNvPr>
          <p:cNvSpPr/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7E573441-9B7A-419F-B659-8403F5127DB4}"/>
              </a:ext>
            </a:extLst>
          </p:cNvPr>
          <p:cNvSpPr/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obj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39CE6E6C-6324-46E3-868D-40D4D10A319A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685800" y="1594485"/>
            <a:ext cx="7772400" cy="10801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D49F1804-3E4B-4A85-A306-ABE5618FBAC1}"/>
              </a:ext>
            </a:extLst>
          </p:cNvPr>
          <p:cNvSpPr/>
          <p:nvPr>
            <p:ph type="subTitle" idx="4"/>
          </p:nvPr>
        </p:nvSpPr>
        <p:spPr>
          <a:xfrm xmlns:a="http://schemas.openxmlformats.org/drawingml/2006/main">
            <a:off x="1371600" y="2880360"/>
            <a:ext cx="6400798" cy="1285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784992B6-5502-4B18-ACA7-3EF3538AD8B2}"/>
              </a:ext>
            </a:extLst>
          </p:cNvPr>
          <p:cNvSpPr/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1BEFCFFC-A242-48F9-A5B1-7D7E900FC665}"/>
              </a:ext>
            </a:extLst>
          </p:cNvPr>
          <p:cNvSpPr/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007CB2B8-5A08-46BD-974A-75CF3329AA3A}"/>
              </a:ext>
            </a:extLst>
          </p:cNvPr>
          <p:cNvSpPr/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EE9EADEA-DAC8-4A3C-A28C-D4EA3AD08F52}"/>
              </a:ext>
            </a:extLst>
          </p:cNvPr>
          <p:cNvSpPr/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4900673C-9309-409A-AD80-16D5FBDC4296}"/>
              </a:ext>
            </a:extLst>
          </p:cNvPr>
          <p:cNvSpPr/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8A462632-F328-4872-B4FA-BF5809E06E18}"/>
              </a:ext>
            </a:extLst>
          </p:cNvPr>
          <p:cNvSpPr/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obj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F3C36DB0-EFD8-4EC2-A1F9-F4B3576D6D58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800" b="1" i="0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1AFD958A-AFE3-4AEE-9A03-C48F5EF781BE}"/>
              </a:ext>
            </a:extLst>
          </p:cNvPr>
          <p:cNvSpPr/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D33F88E4-14F3-4AB9-9A1E-434DBA83D698}"/>
              </a:ext>
            </a:extLst>
          </p:cNvPr>
          <p:cNvSpPr/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AFF14FF2-84E9-4291-AED9-85A9605F19B0}"/>
              </a:ext>
            </a:extLst>
          </p:cNvPr>
          <p:cNvSpPr/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60f701802fd40f0" /><Relationship Type="http://schemas.openxmlformats.org/officeDocument/2006/relationships/slideLayout" Target="/ppt/slideLayouts/slideLayout2.xml" Id="R148969c2a04a4dc5" /><Relationship Type="http://schemas.openxmlformats.org/officeDocument/2006/relationships/slideLayout" Target="/ppt/slideLayouts/slideLayout3.xml" Id="R411556294a50418f" /><Relationship Type="http://schemas.openxmlformats.org/officeDocument/2006/relationships/slideLayout" Target="/ppt/slideLayouts/slideLayout4.xml" Id="R715b73e218e74074" /><Relationship Type="http://schemas.openxmlformats.org/officeDocument/2006/relationships/slideLayout" Target="/ppt/slideLayouts/slideLayout5.xml" Id="R458f6e110ab14fba" /><Relationship Type="http://schemas.openxmlformats.org/officeDocument/2006/relationships/slideLayout" Target="/ppt/slideLayouts/slideLayout6.xml" Id="R2fbcf0519df44e18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E5BE4822-0C4F-464B-A82D-7B9724D32150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51815" y="521822"/>
            <a:ext cx="8240369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1800" b="1" i="0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ED3EC432-7BC3-42AC-B753-63FA9A049C76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312292" y="1347216"/>
            <a:ext cx="8519414" cy="27800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b="0" i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B079AC6A-4884-425B-9DDA-FBBB7D56C4A5}"/>
              </a:ext>
            </a:extLst>
          </p:cNvPr>
          <p:cNvSpPr/>
          <p:nvPr>
            <p:ph type="ftr" idx="5"/>
          </p:nvPr>
        </p:nvSpPr>
        <p:spPr>
          <a:xfrm xmlns:a="http://schemas.openxmlformats.org/drawingml/2006/main">
            <a:off x="3108960" y="4783455"/>
            <a:ext cx="2926079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F4D6B975-BEA5-4092-8608-C1B154FF03AB}"/>
              </a:ext>
            </a:extLst>
          </p:cNvPr>
          <p:cNvSpPr/>
          <p:nvPr>
            <p:ph type="dt" idx="6"/>
          </p:nvPr>
        </p:nvSpPr>
        <p:spPr>
          <a:xfrm xmlns:a="http://schemas.openxmlformats.org/drawingml/2006/main">
            <a:off x="457200" y="4783455"/>
            <a:ext cx="210312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E7151917-B081-418D-877C-55C8AF75311E}"/>
              </a:ext>
            </a:extLst>
          </p:cNvPr>
          <p:cNvSpPr/>
          <p:nvPr>
            <p:ph type="sldNum" idx="7"/>
          </p:nvPr>
        </p:nvSpPr>
        <p:spPr>
          <a:xfrm xmlns:a="http://schemas.openxmlformats.org/drawingml/2006/main">
            <a:off x="6583680" y="4783455"/>
            <a:ext cx="210312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8969c2a04a4dc5"/>
    <p:sldLayoutId xmlns:r="http://schemas.openxmlformats.org/officeDocument/2006/relationships" id="2147483650" r:id="R411556294a50418f"/>
    <p:sldLayoutId xmlns:r="http://schemas.openxmlformats.org/officeDocument/2006/relationships" id="2147483651" r:id="R715b73e218e74074"/>
    <p:sldLayoutId xmlns:r="http://schemas.openxmlformats.org/officeDocument/2006/relationships" id="2147483652" r:id="R458f6e110ab14fba"/>
    <p:sldLayoutId xmlns:r="http://schemas.openxmlformats.org/officeDocument/2006/relationships" id="2147483653" r:id="R2fbcf0519df44e18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b9226a4c9646bb" /><Relationship Type="http://schemas.openxmlformats.org/officeDocument/2006/relationships/image" Target="/ppt/media/image.png" Id="R5602c79a100d4e37" /><Relationship Type="http://schemas.openxmlformats.org/officeDocument/2006/relationships/image" Target="/ppt/media/image2.png" Id="R61dca1dc595c4e0e" /><Relationship Type="http://schemas.openxmlformats.org/officeDocument/2006/relationships/image" Target="/ppt/media/image3.png" Id="R8610c2d7b51a4c46" /><Relationship Type="http://schemas.openxmlformats.org/officeDocument/2006/relationships/image" Target="/ppt/media/image4.png" Id="Refc5394848fd4e79" /><Relationship Type="http://schemas.openxmlformats.org/officeDocument/2006/relationships/notesSlide" Target="/ppt/notesSlides/notesSlide1.xml" Id="Rfffb12f1527847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39e2acbaf844a0" /><Relationship Type="http://schemas.openxmlformats.org/officeDocument/2006/relationships/image" Target="/ppt/media/image.png" Id="Rd12a69ab21d94e5a" /><Relationship Type="http://schemas.openxmlformats.org/officeDocument/2006/relationships/image" Target="/ppt/media/image2.png" Id="R368a7fa8b1684bb2" /><Relationship Type="http://schemas.openxmlformats.org/officeDocument/2006/relationships/image" Target="/ppt/media/image3.png" Id="Re70186cc1e91460a" /><Relationship Type="http://schemas.openxmlformats.org/officeDocument/2006/relationships/image" Target="/ppt/media/image4.png" Id="R01e1c3135ea74e7d" /><Relationship Type="http://schemas.openxmlformats.org/officeDocument/2006/relationships/notesSlide" Target="/ppt/notesSlides/notesSlide2.xml" Id="Rba70f4d1320d45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1ad9e3b8be43a2" /><Relationship Type="http://schemas.openxmlformats.org/officeDocument/2006/relationships/image" Target="/ppt/media/image.png" Id="R3257ece339e4447a" /><Relationship Type="http://schemas.openxmlformats.org/officeDocument/2006/relationships/image" Target="/ppt/media/image2.png" Id="Ra7ca28f0ecf94a64" /><Relationship Type="http://schemas.openxmlformats.org/officeDocument/2006/relationships/image" Target="/ppt/media/image3.png" Id="Ra59eb101265c4816" /><Relationship Type="http://schemas.openxmlformats.org/officeDocument/2006/relationships/image" Target="/ppt/media/image4.png" Id="Rbf2cffe6a0314b00" /><Relationship Type="http://schemas.openxmlformats.org/officeDocument/2006/relationships/notesSlide" Target="/ppt/notesSlides/notesSlide3.xml" Id="R31b75fe0ede240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c7bcf3c3bd4d1b" /><Relationship Type="http://schemas.openxmlformats.org/officeDocument/2006/relationships/image" Target="/ppt/media/image.png" Id="Re3c69ae46b3e4788" /><Relationship Type="http://schemas.openxmlformats.org/officeDocument/2006/relationships/image" Target="/ppt/media/image2.png" Id="Rf6ea8002545548f0" /><Relationship Type="http://schemas.openxmlformats.org/officeDocument/2006/relationships/image" Target="/ppt/media/image3.png" Id="R27335fa0fa2e4f9f" /><Relationship Type="http://schemas.openxmlformats.org/officeDocument/2006/relationships/image" Target="/ppt/media/image4.png" Id="R6d3b60fb2987445d" /><Relationship Type="http://schemas.openxmlformats.org/officeDocument/2006/relationships/notesSlide" Target="/ppt/notesSlides/notesSlide4.xml" Id="R664edaaa335c401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05916841-B295-CA37-2753-CBDB85A9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76" y="1203960"/>
            <a:ext cx="2377440" cy="388620"/>
          </a:xfrm>
          <a:custGeom xmlns:a="http://schemas.openxmlformats.org/drawingml/2006/main">
            <a:rect l="l" t="t" r="r" b="b"/>
            <a:pathLst>
              <a:path w="2377440" h="388619">
                <a:moveTo>
                  <a:pt x="2182368" y="388619"/>
                </a:moveTo>
                <a:lnTo>
                  <a:pt x="193548" y="388619"/>
                </a:lnTo>
                <a:lnTo>
                  <a:pt x="177665" y="387999"/>
                </a:lnTo>
                <a:lnTo>
                  <a:pt x="132307" y="378793"/>
                </a:lnTo>
                <a:lnTo>
                  <a:pt x="91448" y="359624"/>
                </a:lnTo>
                <a:lnTo>
                  <a:pt x="56461" y="331847"/>
                </a:lnTo>
                <a:lnTo>
                  <a:pt x="28819" y="296980"/>
                </a:lnTo>
                <a:lnTo>
                  <a:pt x="9717" y="256191"/>
                </a:lnTo>
                <a:lnTo>
                  <a:pt x="589" y="210921"/>
                </a:lnTo>
                <a:lnTo>
                  <a:pt x="0" y="195071"/>
                </a:lnTo>
                <a:lnTo>
                  <a:pt x="589" y="179050"/>
                </a:lnTo>
                <a:lnTo>
                  <a:pt x="9717" y="133362"/>
                </a:lnTo>
                <a:lnTo>
                  <a:pt x="28819" y="92277"/>
                </a:lnTo>
                <a:lnTo>
                  <a:pt x="56610" y="57056"/>
                </a:lnTo>
                <a:lnTo>
                  <a:pt x="91531" y="29231"/>
                </a:lnTo>
                <a:lnTo>
                  <a:pt x="132336" y="9986"/>
                </a:lnTo>
                <a:lnTo>
                  <a:pt x="177667" y="667"/>
                </a:lnTo>
                <a:lnTo>
                  <a:pt x="193548" y="0"/>
                </a:lnTo>
                <a:lnTo>
                  <a:pt x="2182368" y="0"/>
                </a:lnTo>
                <a:lnTo>
                  <a:pt x="2229217" y="5712"/>
                </a:lnTo>
                <a:lnTo>
                  <a:pt x="2271943" y="21813"/>
                </a:lnTo>
                <a:lnTo>
                  <a:pt x="2309199" y="46965"/>
                </a:lnTo>
                <a:lnTo>
                  <a:pt x="2339631" y="79836"/>
                </a:lnTo>
                <a:lnTo>
                  <a:pt x="2361783" y="118838"/>
                </a:lnTo>
                <a:lnTo>
                  <a:pt x="2374515" y="162956"/>
                </a:lnTo>
                <a:lnTo>
                  <a:pt x="2377059" y="194475"/>
                </a:lnTo>
                <a:lnTo>
                  <a:pt x="2376414" y="210409"/>
                </a:lnTo>
                <a:lnTo>
                  <a:pt x="2367149" y="255886"/>
                </a:lnTo>
                <a:lnTo>
                  <a:pt x="2347930" y="296816"/>
                </a:lnTo>
                <a:lnTo>
                  <a:pt x="2320018" y="331922"/>
                </a:lnTo>
                <a:lnTo>
                  <a:pt x="2284953" y="359650"/>
                </a:lnTo>
                <a:lnTo>
                  <a:pt x="2243954" y="378798"/>
                </a:lnTo>
                <a:lnTo>
                  <a:pt x="2198356" y="387999"/>
                </a:lnTo>
                <a:lnTo>
                  <a:pt x="2182368" y="388619"/>
                </a:lnTo>
                <a:close/>
              </a:path>
            </a:pathLst>
          </a:custGeom>
          <a:solidFill xmlns:a="http://schemas.openxmlformats.org/drawingml/2006/main">
            <a:srgbClr val="001F5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24F10EE6-A96F-F2B0-324F-221BC932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7859" y="1686598"/>
            <a:ext cx="3531285" cy="125477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5602c79a100d4e37"/>
            <a:stretch/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DDCE0049-82CC-9491-B869-41D21C92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325" y="3088398"/>
            <a:ext cx="3458819" cy="125171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61dca1dc595c4e0e"/>
            <a:stretch/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0DEECB41-A312-380B-6325-A8C614FF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127" y="2209998"/>
            <a:ext cx="237490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核心发现</a:t>
            </a:r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43C93230-CEA0-CE0E-718C-54BFC73D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127" y="2415738"/>
            <a:ext cx="237490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5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高煤炭暴露地区在政策后显著降低能源和煤炭使用强度。</a:t>
            </a: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C7CC93EB-3C9C-79E8-E643-6E27C9DE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5129" y="3608738"/>
            <a:ext cx="2374900" cy="1384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解释边界</a:t>
            </a:r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5262670A-FECF-DE3F-6AFE-74A2172D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5129" y="3814478"/>
            <a:ext cx="237490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5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绿色全要素生产率与全局ML指数不显著，不能写成生产率跃升。</a:t>
            </a:r>
          </a:p>
        </p:txBody>
      </p:sp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D07B1F19-827F-8D85-40B1-B5CB2647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552" y="1306526"/>
            <a:ext cx="737235" cy="213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强度压降</a:t>
            </a:r>
          </a:p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A0518D75-6A3E-69DE-CC3A-9BB0FC20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35" y="173583"/>
            <a:ext cx="150418" cy="72155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8610c2d7b51a4c46"/>
            <a:stretch/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8400D909-1BAC-436D-AE0A-6D1E491C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323" y="0"/>
            <a:ext cx="1979930" cy="1491615"/>
          </a:xfrm>
          <a:custGeom xmlns:a="http://schemas.openxmlformats.org/drawingml/2006/main">
            <a:rect l="l" t="t" r="r" b="b"/>
            <a:pathLst>
              <a:path w="1979929" h="1491615">
                <a:moveTo>
                  <a:pt x="1259903" y="1491615"/>
                </a:moveTo>
                <a:lnTo>
                  <a:pt x="1156551" y="1487437"/>
                </a:lnTo>
                <a:lnTo>
                  <a:pt x="1055500" y="1475121"/>
                </a:lnTo>
                <a:lnTo>
                  <a:pt x="957073" y="1454991"/>
                </a:lnTo>
                <a:lnTo>
                  <a:pt x="861596" y="1427370"/>
                </a:lnTo>
                <a:lnTo>
                  <a:pt x="769393" y="1392584"/>
                </a:lnTo>
                <a:lnTo>
                  <a:pt x="680788" y="1350957"/>
                </a:lnTo>
                <a:lnTo>
                  <a:pt x="596107" y="1302813"/>
                </a:lnTo>
                <a:lnTo>
                  <a:pt x="515689" y="1248488"/>
                </a:lnTo>
                <a:lnTo>
                  <a:pt x="439832" y="1188288"/>
                </a:lnTo>
                <a:lnTo>
                  <a:pt x="368871" y="1122545"/>
                </a:lnTo>
                <a:lnTo>
                  <a:pt x="303132" y="1051583"/>
                </a:lnTo>
                <a:lnTo>
                  <a:pt x="242939" y="975728"/>
                </a:lnTo>
                <a:lnTo>
                  <a:pt x="188617" y="895304"/>
                </a:lnTo>
                <a:lnTo>
                  <a:pt x="140490" y="810635"/>
                </a:lnTo>
                <a:lnTo>
                  <a:pt x="98883" y="722045"/>
                </a:lnTo>
                <a:lnTo>
                  <a:pt x="64120" y="629860"/>
                </a:lnTo>
                <a:lnTo>
                  <a:pt x="36525" y="534403"/>
                </a:lnTo>
                <a:lnTo>
                  <a:pt x="16424" y="435999"/>
                </a:lnTo>
                <a:lnTo>
                  <a:pt x="4141" y="334972"/>
                </a:lnTo>
                <a:lnTo>
                  <a:pt x="0" y="231647"/>
                </a:lnTo>
                <a:lnTo>
                  <a:pt x="4141" y="128269"/>
                </a:lnTo>
                <a:lnTo>
                  <a:pt x="16424" y="27193"/>
                </a:lnTo>
                <a:lnTo>
                  <a:pt x="21977" y="0"/>
                </a:lnTo>
                <a:lnTo>
                  <a:pt x="1979676" y="0"/>
                </a:lnTo>
                <a:lnTo>
                  <a:pt x="1979676" y="1264998"/>
                </a:lnTo>
                <a:lnTo>
                  <a:pt x="1923683" y="1302821"/>
                </a:lnTo>
                <a:lnTo>
                  <a:pt x="1839004" y="1350962"/>
                </a:lnTo>
                <a:lnTo>
                  <a:pt x="1750403" y="1392587"/>
                </a:lnTo>
                <a:lnTo>
                  <a:pt x="1658203" y="1427372"/>
                </a:lnTo>
                <a:lnTo>
                  <a:pt x="1562728" y="1454991"/>
                </a:lnTo>
                <a:lnTo>
                  <a:pt x="1464304" y="1475121"/>
                </a:lnTo>
                <a:lnTo>
                  <a:pt x="1363254" y="1487437"/>
                </a:lnTo>
                <a:lnTo>
                  <a:pt x="1259903" y="1491615"/>
                </a:lnTo>
                <a:close/>
              </a:path>
            </a:pathLst>
          </a:custGeom>
          <a:solidFill xmlns:a="http://schemas.openxmlformats.org/drawingml/2006/main">
            <a:srgbClr val="091F5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6805F477-6628-B7BD-D690-DA003E48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3031" y="257809"/>
            <a:ext cx="878840" cy="879475"/>
          </a:xfrm>
          <a:custGeom xmlns:a="http://schemas.openxmlformats.org/drawingml/2006/main">
            <a:rect l="l" t="t" r="r" b="b"/>
            <a:pathLst>
              <a:path w="878840" h="879475">
                <a:moveTo>
                  <a:pt x="438975" y="879474"/>
                </a:moveTo>
                <a:lnTo>
                  <a:pt x="367645" y="873719"/>
                </a:lnTo>
                <a:lnTo>
                  <a:pt x="299980" y="857057"/>
                </a:lnTo>
                <a:lnTo>
                  <a:pt x="236889" y="830392"/>
                </a:lnTo>
                <a:lnTo>
                  <a:pt x="179284" y="794631"/>
                </a:lnTo>
                <a:lnTo>
                  <a:pt x="128077" y="750679"/>
                </a:lnTo>
                <a:lnTo>
                  <a:pt x="84181" y="699441"/>
                </a:lnTo>
                <a:lnTo>
                  <a:pt x="48581" y="641975"/>
                </a:lnTo>
                <a:lnTo>
                  <a:pt x="22046" y="578956"/>
                </a:lnTo>
                <a:lnTo>
                  <a:pt x="5548" y="511389"/>
                </a:lnTo>
                <a:lnTo>
                  <a:pt x="0" y="440181"/>
                </a:lnTo>
                <a:lnTo>
                  <a:pt x="1349" y="404053"/>
                </a:lnTo>
                <a:lnTo>
                  <a:pt x="12485" y="334335"/>
                </a:lnTo>
                <a:lnTo>
                  <a:pt x="34115" y="268758"/>
                </a:lnTo>
                <a:lnTo>
                  <a:pt x="65411" y="208101"/>
                </a:lnTo>
                <a:lnTo>
                  <a:pt x="105285" y="153560"/>
                </a:lnTo>
                <a:lnTo>
                  <a:pt x="152918" y="105852"/>
                </a:lnTo>
                <a:lnTo>
                  <a:pt x="207405" y="65882"/>
                </a:lnTo>
                <a:lnTo>
                  <a:pt x="267839" y="34556"/>
                </a:lnTo>
                <a:lnTo>
                  <a:pt x="333310" y="12779"/>
                </a:lnTo>
                <a:lnTo>
                  <a:pt x="402911" y="1457"/>
                </a:lnTo>
                <a:lnTo>
                  <a:pt x="438975" y="0"/>
                </a:lnTo>
                <a:lnTo>
                  <a:pt x="475041" y="1457"/>
                </a:lnTo>
                <a:lnTo>
                  <a:pt x="544655" y="12781"/>
                </a:lnTo>
                <a:lnTo>
                  <a:pt x="610156" y="34563"/>
                </a:lnTo>
                <a:lnTo>
                  <a:pt x="670639" y="65901"/>
                </a:lnTo>
                <a:lnTo>
                  <a:pt x="725196" y="105892"/>
                </a:lnTo>
                <a:lnTo>
                  <a:pt x="772919" y="153634"/>
                </a:lnTo>
                <a:lnTo>
                  <a:pt x="812900" y="208223"/>
                </a:lnTo>
                <a:lnTo>
                  <a:pt x="844156" y="268571"/>
                </a:lnTo>
                <a:lnTo>
                  <a:pt x="865933" y="334062"/>
                </a:lnTo>
                <a:lnTo>
                  <a:pt x="877255" y="403671"/>
                </a:lnTo>
                <a:lnTo>
                  <a:pt x="878713" y="439737"/>
                </a:lnTo>
                <a:lnTo>
                  <a:pt x="877255" y="475803"/>
                </a:lnTo>
                <a:lnTo>
                  <a:pt x="865933" y="545412"/>
                </a:lnTo>
                <a:lnTo>
                  <a:pt x="844156" y="610903"/>
                </a:lnTo>
                <a:lnTo>
                  <a:pt x="812748" y="671495"/>
                </a:lnTo>
                <a:lnTo>
                  <a:pt x="772792" y="725988"/>
                </a:lnTo>
                <a:lnTo>
                  <a:pt x="725101" y="773663"/>
                </a:lnTo>
                <a:lnTo>
                  <a:pt x="670577" y="813611"/>
                </a:lnTo>
                <a:lnTo>
                  <a:pt x="610123" y="844925"/>
                </a:lnTo>
                <a:lnTo>
                  <a:pt x="544642" y="866696"/>
                </a:lnTo>
                <a:lnTo>
                  <a:pt x="475039" y="878017"/>
                </a:lnTo>
                <a:lnTo>
                  <a:pt x="438975" y="879474"/>
                </a:lnTo>
                <a:close/>
              </a:path>
            </a:pathLst>
          </a:custGeom>
          <a:solidFill xmlns:a="http://schemas.openxmlformats.org/drawingml/2006/main">
            <a:srgbClr val="091F5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3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c5394848fd4e79"/>
          <a:stretch xmlns:a="http://schemas.openxmlformats.org/drawingml/2006/main"/>
        </p:blipFill>
        <p:spPr>
          <a:xfrm xmlns:a="http://schemas.openxmlformats.org/drawingml/2006/main">
            <a:off x="7429308" y="395637"/>
            <a:ext cx="1483997" cy="339652"/>
          </a:xfrm>
          <a:prstGeom xmlns:a="http://schemas.openxmlformats.org/drawingml/2006/main" prst="rect">
            <a:avLst/>
          </a:prstGeom>
        </p:spPr>
      </p:pic>
      <p:sp>
        <p:nvSpPr>
          <p:cNvPr id="26" name="object 3">
            <a:extLst xmlns:a="http://schemas.openxmlformats.org/drawingml/2006/main">
              <a:ext uri="{FF2B5EF4-FFF2-40B4-BE49-F238E27FC236}">
                <a16:creationId xmlns:a16="http://schemas.microsoft.com/office/drawing/2014/main" id="{8BEEF823-C43E-56B1-2C2C-A384C6A2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79" y="308642"/>
            <a:ext cx="1950085" cy="1536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ts val="1200"/>
              </a:lnSpc>
              <a:buNone/>
            </a:pPr>
            <a:r>
              <a:rPr sz="1050">
                <a:latin typeface="微软雅黑"/>
                <a:ea typeface="微软雅黑"/>
                <a:cs typeface="微软雅黑"/>
              </a:rPr>
              <a:t>EMPIRICAL RESULTS  /  01</a:t>
            </a:r>
          </a:p>
        </p:txBody>
      </p:sp>
      <p:sp>
        <p:nvSpPr>
          <p:cNvPr id="27" name="object 4">
            <a:extLst xmlns:a="http://schemas.openxmlformats.org/drawingml/2006/main">
              <a:ext uri="{FF2B5EF4-FFF2-40B4-BE49-F238E27FC236}">
                <a16:creationId xmlns:a16="http://schemas.microsoft.com/office/drawing/2014/main" id="{E9CE6BC3-B49E-225F-BBB4-426173F8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" y="468630"/>
            <a:ext cx="1950085" cy="5473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>
            <a:lvl1pPr>
              <a:buNone/>
              <a:defRPr sz="1800" b="1" i="0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12700">
              <a:lnSpc>
                <a:spcPts val="2155"/>
              </a:lnSpc>
              <a:buNone/>
            </a:pPr>
            <a:r>
              <a:t>约束性治理：能源强度压降</a:t>
            </a:r>
          </a:p>
        </p:txBody>
      </p:sp>
      <p:sp>
        <p:nvSpPr>
          <p:cNvPr id="23" name="object 5">
            <a:extLst xmlns:a="http://schemas.openxmlformats.org/drawingml/2006/main">
              <a:ext uri="{FF2B5EF4-FFF2-40B4-BE49-F238E27FC236}">
                <a16:creationId xmlns:a16="http://schemas.microsoft.com/office/drawing/2014/main" id="{A5F73BBC-C87C-8DF7-AA80-E561BC5E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367665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 indent="0">
              <a:lnSpc>
                <a:spcPct val="150000"/>
              </a:lnSpc>
              <a:buNone/>
            </a:pPr>
            <a:r>
              <a:rPr sz="750">
                <a:solidFill>
                  <a:srgbClr val="536273"/>
                </a:solidFill>
                <a:latin typeface="微软雅黑"/>
                <a:ea typeface="微软雅黑"/>
                <a:cs typeface="微软雅黑"/>
              </a:rPr>
              <a:t>注：括号内为标准误；控制省份和年份固定效应。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876300" y="2057400"/>
          <a:ext xmlns:a="http://schemas.openxmlformats.org/drawingml/2006/main" cx="3676650" cy="1657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38300"/>
                <a:gridCol w="1133475"/>
                <a:gridCol w="904875"/>
              </a:tblGrid>
              <a:tr h="33147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9256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结果变量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9256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核心系数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9256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标准误</a:t>
                      </a:r>
                    </a:p>
                  </a:txBody>
                  <a:tcPr marL="91440" marR="91440" marT="45720" marB="45720"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五类能源强度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-0.2895**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(0.1190)</a:t>
                      </a:r>
                    </a:p>
                  </a:txBody>
                  <a:tcPr marL="91440" marR="91440" marT="45720" marB="45720"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煤炭终端强度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-0.4262***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(0.0776)</a:t>
                      </a:r>
                    </a:p>
                  </a:txBody>
                  <a:tcPr marL="91440" marR="91440" marT="45720" marB="45720"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绿色全要素生产率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-1.0498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(0.7528)</a:t>
                      </a:r>
                    </a:p>
                  </a:txBody>
                  <a:tcPr marL="91440" marR="91440" marT="45720" marB="45720"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全局ML指数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-0.1342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(0.0830)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11933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05916841-B295-CA37-2753-CBDB85A9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76" y="1203960"/>
            <a:ext cx="2377440" cy="388620"/>
          </a:xfrm>
          <a:custGeom xmlns:a="http://schemas.openxmlformats.org/drawingml/2006/main">
            <a:rect l="l" t="t" r="r" b="b"/>
            <a:pathLst>
              <a:path w="2377440" h="388619">
                <a:moveTo>
                  <a:pt x="2182368" y="388619"/>
                </a:moveTo>
                <a:lnTo>
                  <a:pt x="193548" y="388619"/>
                </a:lnTo>
                <a:lnTo>
                  <a:pt x="177665" y="387999"/>
                </a:lnTo>
                <a:lnTo>
                  <a:pt x="132307" y="378793"/>
                </a:lnTo>
                <a:lnTo>
                  <a:pt x="91448" y="359624"/>
                </a:lnTo>
                <a:lnTo>
                  <a:pt x="56461" y="331847"/>
                </a:lnTo>
                <a:lnTo>
                  <a:pt x="28819" y="296980"/>
                </a:lnTo>
                <a:lnTo>
                  <a:pt x="9717" y="256191"/>
                </a:lnTo>
                <a:lnTo>
                  <a:pt x="589" y="210921"/>
                </a:lnTo>
                <a:lnTo>
                  <a:pt x="0" y="195071"/>
                </a:lnTo>
                <a:lnTo>
                  <a:pt x="589" y="179050"/>
                </a:lnTo>
                <a:lnTo>
                  <a:pt x="9717" y="133362"/>
                </a:lnTo>
                <a:lnTo>
                  <a:pt x="28819" y="92277"/>
                </a:lnTo>
                <a:lnTo>
                  <a:pt x="56610" y="57056"/>
                </a:lnTo>
                <a:lnTo>
                  <a:pt x="91531" y="29231"/>
                </a:lnTo>
                <a:lnTo>
                  <a:pt x="132336" y="9986"/>
                </a:lnTo>
                <a:lnTo>
                  <a:pt x="177667" y="667"/>
                </a:lnTo>
                <a:lnTo>
                  <a:pt x="193548" y="0"/>
                </a:lnTo>
                <a:lnTo>
                  <a:pt x="2182368" y="0"/>
                </a:lnTo>
                <a:lnTo>
                  <a:pt x="2229217" y="5712"/>
                </a:lnTo>
                <a:lnTo>
                  <a:pt x="2271943" y="21813"/>
                </a:lnTo>
                <a:lnTo>
                  <a:pt x="2309199" y="46965"/>
                </a:lnTo>
                <a:lnTo>
                  <a:pt x="2339631" y="79836"/>
                </a:lnTo>
                <a:lnTo>
                  <a:pt x="2361783" y="118838"/>
                </a:lnTo>
                <a:lnTo>
                  <a:pt x="2374515" y="162956"/>
                </a:lnTo>
                <a:lnTo>
                  <a:pt x="2377059" y="194475"/>
                </a:lnTo>
                <a:lnTo>
                  <a:pt x="2376414" y="210409"/>
                </a:lnTo>
                <a:lnTo>
                  <a:pt x="2367149" y="255886"/>
                </a:lnTo>
                <a:lnTo>
                  <a:pt x="2347930" y="296816"/>
                </a:lnTo>
                <a:lnTo>
                  <a:pt x="2320018" y="331922"/>
                </a:lnTo>
                <a:lnTo>
                  <a:pt x="2284953" y="359650"/>
                </a:lnTo>
                <a:lnTo>
                  <a:pt x="2243954" y="378798"/>
                </a:lnTo>
                <a:lnTo>
                  <a:pt x="2198356" y="387999"/>
                </a:lnTo>
                <a:lnTo>
                  <a:pt x="2182368" y="388619"/>
                </a:lnTo>
                <a:close/>
              </a:path>
            </a:pathLst>
          </a:custGeom>
          <a:solidFill xmlns:a="http://schemas.openxmlformats.org/drawingml/2006/main">
            <a:srgbClr val="001F5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24F10EE6-A96F-F2B0-324F-221BC932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7859" y="1686598"/>
            <a:ext cx="3531285" cy="125477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d12a69ab21d94e5a"/>
            <a:stretch/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DDCE0049-82CC-9491-B869-41D21C92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325" y="3088398"/>
            <a:ext cx="3458819" cy="125171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368a7fa8b1684bb2"/>
            <a:stretch/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0DEECB41-A312-380B-6325-A8C614FF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127" y="2209998"/>
            <a:ext cx="237490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核心发现</a:t>
            </a:r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43C93230-CEA0-CE0E-718C-54BFC73D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127" y="2415738"/>
            <a:ext cx="237490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5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工业二氧化硫、氮氧化物和工业固废显著下降。</a:t>
            </a: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C7CC93EB-3C9C-79E8-E643-6E27C9DE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5129" y="3608738"/>
            <a:ext cx="2374900" cy="1384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解释边界</a:t>
            </a:r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5262670A-FECF-DE3F-6AFE-74A2172D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5129" y="3814478"/>
            <a:ext cx="237490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5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颗粒物与工业废水不稳定，证据集中于煤炭工业相关治理。</a:t>
            </a:r>
          </a:p>
        </p:txBody>
      </p:sp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D07B1F19-827F-8D85-40B1-B5CB2647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552" y="1306526"/>
            <a:ext cx="737235" cy="213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污染治理</a:t>
            </a:r>
          </a:p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A0518D75-6A3E-69DE-CC3A-9BB0FC20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35" y="173583"/>
            <a:ext cx="150418" cy="72155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e70186cc1e91460a"/>
            <a:stretch/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8400D909-1BAC-436D-AE0A-6D1E491C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323" y="0"/>
            <a:ext cx="1979930" cy="1491615"/>
          </a:xfrm>
          <a:custGeom xmlns:a="http://schemas.openxmlformats.org/drawingml/2006/main">
            <a:rect l="l" t="t" r="r" b="b"/>
            <a:pathLst>
              <a:path w="1979929" h="1491615">
                <a:moveTo>
                  <a:pt x="1259903" y="1491615"/>
                </a:moveTo>
                <a:lnTo>
                  <a:pt x="1156551" y="1487437"/>
                </a:lnTo>
                <a:lnTo>
                  <a:pt x="1055500" y="1475121"/>
                </a:lnTo>
                <a:lnTo>
                  <a:pt x="957073" y="1454991"/>
                </a:lnTo>
                <a:lnTo>
                  <a:pt x="861596" y="1427370"/>
                </a:lnTo>
                <a:lnTo>
                  <a:pt x="769393" y="1392584"/>
                </a:lnTo>
                <a:lnTo>
                  <a:pt x="680788" y="1350957"/>
                </a:lnTo>
                <a:lnTo>
                  <a:pt x="596107" y="1302813"/>
                </a:lnTo>
                <a:lnTo>
                  <a:pt x="515689" y="1248488"/>
                </a:lnTo>
                <a:lnTo>
                  <a:pt x="439832" y="1188288"/>
                </a:lnTo>
                <a:lnTo>
                  <a:pt x="368871" y="1122545"/>
                </a:lnTo>
                <a:lnTo>
                  <a:pt x="303132" y="1051583"/>
                </a:lnTo>
                <a:lnTo>
                  <a:pt x="242939" y="975728"/>
                </a:lnTo>
                <a:lnTo>
                  <a:pt x="188617" y="895304"/>
                </a:lnTo>
                <a:lnTo>
                  <a:pt x="140490" y="810635"/>
                </a:lnTo>
                <a:lnTo>
                  <a:pt x="98883" y="722045"/>
                </a:lnTo>
                <a:lnTo>
                  <a:pt x="64120" y="629860"/>
                </a:lnTo>
                <a:lnTo>
                  <a:pt x="36525" y="534403"/>
                </a:lnTo>
                <a:lnTo>
                  <a:pt x="16424" y="435999"/>
                </a:lnTo>
                <a:lnTo>
                  <a:pt x="4141" y="334972"/>
                </a:lnTo>
                <a:lnTo>
                  <a:pt x="0" y="231647"/>
                </a:lnTo>
                <a:lnTo>
                  <a:pt x="4141" y="128269"/>
                </a:lnTo>
                <a:lnTo>
                  <a:pt x="16424" y="27193"/>
                </a:lnTo>
                <a:lnTo>
                  <a:pt x="21977" y="0"/>
                </a:lnTo>
                <a:lnTo>
                  <a:pt x="1979676" y="0"/>
                </a:lnTo>
                <a:lnTo>
                  <a:pt x="1979676" y="1264998"/>
                </a:lnTo>
                <a:lnTo>
                  <a:pt x="1923683" y="1302821"/>
                </a:lnTo>
                <a:lnTo>
                  <a:pt x="1839004" y="1350962"/>
                </a:lnTo>
                <a:lnTo>
                  <a:pt x="1750403" y="1392587"/>
                </a:lnTo>
                <a:lnTo>
                  <a:pt x="1658203" y="1427372"/>
                </a:lnTo>
                <a:lnTo>
                  <a:pt x="1562728" y="1454991"/>
                </a:lnTo>
                <a:lnTo>
                  <a:pt x="1464304" y="1475121"/>
                </a:lnTo>
                <a:lnTo>
                  <a:pt x="1363254" y="1487437"/>
                </a:lnTo>
                <a:lnTo>
                  <a:pt x="1259903" y="1491615"/>
                </a:lnTo>
                <a:close/>
              </a:path>
            </a:pathLst>
          </a:custGeom>
          <a:solidFill xmlns:a="http://schemas.openxmlformats.org/drawingml/2006/main">
            <a:srgbClr val="091F5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6805F477-6628-B7BD-D690-DA003E48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3031" y="257809"/>
            <a:ext cx="878840" cy="879475"/>
          </a:xfrm>
          <a:custGeom xmlns:a="http://schemas.openxmlformats.org/drawingml/2006/main">
            <a:rect l="l" t="t" r="r" b="b"/>
            <a:pathLst>
              <a:path w="878840" h="879475">
                <a:moveTo>
                  <a:pt x="438975" y="879474"/>
                </a:moveTo>
                <a:lnTo>
                  <a:pt x="367645" y="873719"/>
                </a:lnTo>
                <a:lnTo>
                  <a:pt x="299980" y="857057"/>
                </a:lnTo>
                <a:lnTo>
                  <a:pt x="236889" y="830392"/>
                </a:lnTo>
                <a:lnTo>
                  <a:pt x="179284" y="794631"/>
                </a:lnTo>
                <a:lnTo>
                  <a:pt x="128077" y="750679"/>
                </a:lnTo>
                <a:lnTo>
                  <a:pt x="84181" y="699441"/>
                </a:lnTo>
                <a:lnTo>
                  <a:pt x="48581" y="641975"/>
                </a:lnTo>
                <a:lnTo>
                  <a:pt x="22046" y="578956"/>
                </a:lnTo>
                <a:lnTo>
                  <a:pt x="5548" y="511389"/>
                </a:lnTo>
                <a:lnTo>
                  <a:pt x="0" y="440181"/>
                </a:lnTo>
                <a:lnTo>
                  <a:pt x="1349" y="404053"/>
                </a:lnTo>
                <a:lnTo>
                  <a:pt x="12485" y="334335"/>
                </a:lnTo>
                <a:lnTo>
                  <a:pt x="34115" y="268758"/>
                </a:lnTo>
                <a:lnTo>
                  <a:pt x="65411" y="208101"/>
                </a:lnTo>
                <a:lnTo>
                  <a:pt x="105285" y="153560"/>
                </a:lnTo>
                <a:lnTo>
                  <a:pt x="152918" y="105852"/>
                </a:lnTo>
                <a:lnTo>
                  <a:pt x="207405" y="65882"/>
                </a:lnTo>
                <a:lnTo>
                  <a:pt x="267839" y="34556"/>
                </a:lnTo>
                <a:lnTo>
                  <a:pt x="333310" y="12779"/>
                </a:lnTo>
                <a:lnTo>
                  <a:pt x="402911" y="1457"/>
                </a:lnTo>
                <a:lnTo>
                  <a:pt x="438975" y="0"/>
                </a:lnTo>
                <a:lnTo>
                  <a:pt x="475041" y="1457"/>
                </a:lnTo>
                <a:lnTo>
                  <a:pt x="544655" y="12781"/>
                </a:lnTo>
                <a:lnTo>
                  <a:pt x="610156" y="34563"/>
                </a:lnTo>
                <a:lnTo>
                  <a:pt x="670639" y="65901"/>
                </a:lnTo>
                <a:lnTo>
                  <a:pt x="725196" y="105892"/>
                </a:lnTo>
                <a:lnTo>
                  <a:pt x="772919" y="153634"/>
                </a:lnTo>
                <a:lnTo>
                  <a:pt x="812900" y="208223"/>
                </a:lnTo>
                <a:lnTo>
                  <a:pt x="844156" y="268571"/>
                </a:lnTo>
                <a:lnTo>
                  <a:pt x="865933" y="334062"/>
                </a:lnTo>
                <a:lnTo>
                  <a:pt x="877255" y="403671"/>
                </a:lnTo>
                <a:lnTo>
                  <a:pt x="878713" y="439737"/>
                </a:lnTo>
                <a:lnTo>
                  <a:pt x="877255" y="475803"/>
                </a:lnTo>
                <a:lnTo>
                  <a:pt x="865933" y="545412"/>
                </a:lnTo>
                <a:lnTo>
                  <a:pt x="844156" y="610903"/>
                </a:lnTo>
                <a:lnTo>
                  <a:pt x="812748" y="671495"/>
                </a:lnTo>
                <a:lnTo>
                  <a:pt x="772792" y="725988"/>
                </a:lnTo>
                <a:lnTo>
                  <a:pt x="725101" y="773663"/>
                </a:lnTo>
                <a:lnTo>
                  <a:pt x="670577" y="813611"/>
                </a:lnTo>
                <a:lnTo>
                  <a:pt x="610123" y="844925"/>
                </a:lnTo>
                <a:lnTo>
                  <a:pt x="544642" y="866696"/>
                </a:lnTo>
                <a:lnTo>
                  <a:pt x="475039" y="878017"/>
                </a:lnTo>
                <a:lnTo>
                  <a:pt x="438975" y="879474"/>
                </a:lnTo>
                <a:close/>
              </a:path>
            </a:pathLst>
          </a:custGeom>
          <a:solidFill xmlns:a="http://schemas.openxmlformats.org/drawingml/2006/main">
            <a:srgbClr val="091F5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3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1c3135ea74e7d"/>
          <a:stretch xmlns:a="http://schemas.openxmlformats.org/drawingml/2006/main"/>
        </p:blipFill>
        <p:spPr>
          <a:xfrm xmlns:a="http://schemas.openxmlformats.org/drawingml/2006/main">
            <a:off x="7429308" y="395637"/>
            <a:ext cx="1483997" cy="339652"/>
          </a:xfrm>
          <a:prstGeom xmlns:a="http://schemas.openxmlformats.org/drawingml/2006/main" prst="rect">
            <a:avLst/>
          </a:prstGeom>
        </p:spPr>
      </p:pic>
      <p:sp>
        <p:nvSpPr>
          <p:cNvPr id="26" name="object 3">
            <a:extLst xmlns:a="http://schemas.openxmlformats.org/drawingml/2006/main">
              <a:ext uri="{FF2B5EF4-FFF2-40B4-BE49-F238E27FC236}">
                <a16:creationId xmlns:a16="http://schemas.microsoft.com/office/drawing/2014/main" id="{8BEEF823-C43E-56B1-2C2C-A384C6A2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79" y="308642"/>
            <a:ext cx="1950085" cy="1536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ts val="1200"/>
              </a:lnSpc>
              <a:buNone/>
            </a:pPr>
            <a:r>
              <a:rPr sz="1050">
                <a:latin typeface="微软雅黑"/>
                <a:ea typeface="微软雅黑"/>
                <a:cs typeface="微软雅黑"/>
              </a:rPr>
              <a:t>EMPIRICAL RESULTS  /  02</a:t>
            </a:r>
          </a:p>
        </p:txBody>
      </p:sp>
      <p:sp>
        <p:nvSpPr>
          <p:cNvPr id="27" name="object 4">
            <a:extLst xmlns:a="http://schemas.openxmlformats.org/drawingml/2006/main">
              <a:ext uri="{FF2B5EF4-FFF2-40B4-BE49-F238E27FC236}">
                <a16:creationId xmlns:a16="http://schemas.microsoft.com/office/drawing/2014/main" id="{E9CE6BC3-B49E-225F-BBB4-426173F8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" y="468630"/>
            <a:ext cx="1950085" cy="5473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>
            <a:lvl1pPr>
              <a:buNone/>
              <a:defRPr sz="1800" b="1" i="0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12700">
              <a:lnSpc>
                <a:spcPts val="2155"/>
              </a:lnSpc>
              <a:buNone/>
            </a:pPr>
            <a:r>
              <a:t>约束性治理：污染治理响应</a:t>
            </a:r>
          </a:p>
        </p:txBody>
      </p:sp>
      <p:sp>
        <p:nvSpPr>
          <p:cNvPr id="23" name="object 5">
            <a:extLst xmlns:a="http://schemas.openxmlformats.org/drawingml/2006/main">
              <a:ext uri="{FF2B5EF4-FFF2-40B4-BE49-F238E27FC236}">
                <a16:creationId xmlns:a16="http://schemas.microsoft.com/office/drawing/2014/main" id="{A5F73BBC-C87C-8DF7-AA80-E561BC5E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367665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 indent="0">
              <a:lnSpc>
                <a:spcPct val="150000"/>
              </a:lnSpc>
              <a:buNone/>
            </a:pPr>
            <a:r>
              <a:rPr sz="750">
                <a:solidFill>
                  <a:srgbClr val="536273"/>
                </a:solidFill>
                <a:latin typeface="微软雅黑"/>
                <a:ea typeface="微软雅黑"/>
                <a:cs typeface="微软雅黑"/>
              </a:rPr>
              <a:t>注：括号内为标准误；控制省份和年份固定效应。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876300" y="2057400"/>
          <a:ext xmlns:a="http://schemas.openxmlformats.org/drawingml/2006/main" cx="367665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38300"/>
                <a:gridCol w="1133475"/>
                <a:gridCol w="904875"/>
              </a:tblGrid>
              <a:tr h="3143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9256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结果变量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9256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核心系数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9256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标准误</a:t>
                      </a:r>
                    </a:p>
                  </a:txBody>
                  <a:tcPr marL="91440" marR="91440" marT="45720" marB="45720"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工业二氧化硫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-72.5887***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(19.6996)</a:t>
                      </a:r>
                    </a:p>
                  </a:txBody>
                  <a:tcPr marL="91440" marR="91440" marT="45720" marB="45720"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氮氧化物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-43.9915**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(16.8916)</a:t>
                      </a:r>
                    </a:p>
                  </a:txBody>
                  <a:tcPr marL="91440" marR="91440" marT="45720" marB="45720"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工业固废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-47.2683**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(20.0521)</a:t>
                      </a:r>
                    </a:p>
                  </a:txBody>
                  <a:tcPr marL="91440" marR="91440" marT="45720" marB="45720"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颗粒物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-10.1339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(28.0627)</a:t>
                      </a:r>
                    </a:p>
                  </a:txBody>
                  <a:tcPr marL="91440" marR="91440" marT="45720" marB="45720"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工业废水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-40594.6149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(24203.0698)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1193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05916841-B295-CA37-2753-CBDB85A9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76" y="1203960"/>
            <a:ext cx="2377440" cy="388620"/>
          </a:xfrm>
          <a:custGeom xmlns:a="http://schemas.openxmlformats.org/drawingml/2006/main">
            <a:rect l="l" t="t" r="r" b="b"/>
            <a:pathLst>
              <a:path w="2377440" h="388619">
                <a:moveTo>
                  <a:pt x="2182368" y="388619"/>
                </a:moveTo>
                <a:lnTo>
                  <a:pt x="193548" y="388619"/>
                </a:lnTo>
                <a:lnTo>
                  <a:pt x="177665" y="387999"/>
                </a:lnTo>
                <a:lnTo>
                  <a:pt x="132307" y="378793"/>
                </a:lnTo>
                <a:lnTo>
                  <a:pt x="91448" y="359624"/>
                </a:lnTo>
                <a:lnTo>
                  <a:pt x="56461" y="331847"/>
                </a:lnTo>
                <a:lnTo>
                  <a:pt x="28819" y="296980"/>
                </a:lnTo>
                <a:lnTo>
                  <a:pt x="9717" y="256191"/>
                </a:lnTo>
                <a:lnTo>
                  <a:pt x="589" y="210921"/>
                </a:lnTo>
                <a:lnTo>
                  <a:pt x="0" y="195071"/>
                </a:lnTo>
                <a:lnTo>
                  <a:pt x="589" y="179050"/>
                </a:lnTo>
                <a:lnTo>
                  <a:pt x="9717" y="133362"/>
                </a:lnTo>
                <a:lnTo>
                  <a:pt x="28819" y="92277"/>
                </a:lnTo>
                <a:lnTo>
                  <a:pt x="56610" y="57056"/>
                </a:lnTo>
                <a:lnTo>
                  <a:pt x="91531" y="29231"/>
                </a:lnTo>
                <a:lnTo>
                  <a:pt x="132336" y="9986"/>
                </a:lnTo>
                <a:lnTo>
                  <a:pt x="177667" y="667"/>
                </a:lnTo>
                <a:lnTo>
                  <a:pt x="193548" y="0"/>
                </a:lnTo>
                <a:lnTo>
                  <a:pt x="2182368" y="0"/>
                </a:lnTo>
                <a:lnTo>
                  <a:pt x="2229217" y="5712"/>
                </a:lnTo>
                <a:lnTo>
                  <a:pt x="2271943" y="21813"/>
                </a:lnTo>
                <a:lnTo>
                  <a:pt x="2309199" y="46965"/>
                </a:lnTo>
                <a:lnTo>
                  <a:pt x="2339631" y="79836"/>
                </a:lnTo>
                <a:lnTo>
                  <a:pt x="2361783" y="118838"/>
                </a:lnTo>
                <a:lnTo>
                  <a:pt x="2374515" y="162956"/>
                </a:lnTo>
                <a:lnTo>
                  <a:pt x="2377059" y="194475"/>
                </a:lnTo>
                <a:lnTo>
                  <a:pt x="2376414" y="210409"/>
                </a:lnTo>
                <a:lnTo>
                  <a:pt x="2367149" y="255886"/>
                </a:lnTo>
                <a:lnTo>
                  <a:pt x="2347930" y="296816"/>
                </a:lnTo>
                <a:lnTo>
                  <a:pt x="2320018" y="331922"/>
                </a:lnTo>
                <a:lnTo>
                  <a:pt x="2284953" y="359650"/>
                </a:lnTo>
                <a:lnTo>
                  <a:pt x="2243954" y="378798"/>
                </a:lnTo>
                <a:lnTo>
                  <a:pt x="2198356" y="387999"/>
                </a:lnTo>
                <a:lnTo>
                  <a:pt x="2182368" y="388619"/>
                </a:lnTo>
                <a:close/>
              </a:path>
            </a:pathLst>
          </a:custGeom>
          <a:solidFill xmlns:a="http://schemas.openxmlformats.org/drawingml/2006/main">
            <a:srgbClr val="001F5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24F10EE6-A96F-F2B0-324F-221BC932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7859" y="1686598"/>
            <a:ext cx="3531285" cy="125477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3257ece339e4447a"/>
            <a:stretch/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DDCE0049-82CC-9491-B869-41D21C92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325" y="3088398"/>
            <a:ext cx="3458819" cy="125171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a7ca28f0ecf94a64"/>
            <a:stretch/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0DEECB41-A312-380B-6325-A8C614FF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127" y="2209998"/>
            <a:ext cx="237490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过渡信号</a:t>
            </a:r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43C93230-CEA0-CE0E-718C-54BFC73D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127" y="2415738"/>
            <a:ext cx="237490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5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煤炭消费占比显著下降，约束效应已外溢到能源使用比例。</a:t>
            </a: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C7CC93EB-3C9C-79E8-E643-6E27C9DE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5129" y="3608738"/>
            <a:ext cx="2374900" cy="1384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结构边界</a:t>
            </a:r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5262670A-FECF-DE3F-6AFE-74A2172D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5129" y="3814478"/>
            <a:ext cx="237490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5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二氧化碳和火电结构未同步稳定变化，尚非完整结构性去煤。</a:t>
            </a:r>
          </a:p>
        </p:txBody>
      </p:sp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D07B1F19-827F-8D85-40B1-B5CB2647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552" y="1306526"/>
            <a:ext cx="737235" cy="213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结构边界</a:t>
            </a:r>
          </a:p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A0518D75-6A3E-69DE-CC3A-9BB0FC20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35" y="173583"/>
            <a:ext cx="150418" cy="72155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a59eb101265c4816"/>
            <a:stretch/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8400D909-1BAC-436D-AE0A-6D1E491C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323" y="0"/>
            <a:ext cx="1979930" cy="1491615"/>
          </a:xfrm>
          <a:custGeom xmlns:a="http://schemas.openxmlformats.org/drawingml/2006/main">
            <a:rect l="l" t="t" r="r" b="b"/>
            <a:pathLst>
              <a:path w="1979929" h="1491615">
                <a:moveTo>
                  <a:pt x="1259903" y="1491615"/>
                </a:moveTo>
                <a:lnTo>
                  <a:pt x="1156551" y="1487437"/>
                </a:lnTo>
                <a:lnTo>
                  <a:pt x="1055500" y="1475121"/>
                </a:lnTo>
                <a:lnTo>
                  <a:pt x="957073" y="1454991"/>
                </a:lnTo>
                <a:lnTo>
                  <a:pt x="861596" y="1427370"/>
                </a:lnTo>
                <a:lnTo>
                  <a:pt x="769393" y="1392584"/>
                </a:lnTo>
                <a:lnTo>
                  <a:pt x="680788" y="1350957"/>
                </a:lnTo>
                <a:lnTo>
                  <a:pt x="596107" y="1302813"/>
                </a:lnTo>
                <a:lnTo>
                  <a:pt x="515689" y="1248488"/>
                </a:lnTo>
                <a:lnTo>
                  <a:pt x="439832" y="1188288"/>
                </a:lnTo>
                <a:lnTo>
                  <a:pt x="368871" y="1122545"/>
                </a:lnTo>
                <a:lnTo>
                  <a:pt x="303132" y="1051583"/>
                </a:lnTo>
                <a:lnTo>
                  <a:pt x="242939" y="975728"/>
                </a:lnTo>
                <a:lnTo>
                  <a:pt x="188617" y="895304"/>
                </a:lnTo>
                <a:lnTo>
                  <a:pt x="140490" y="810635"/>
                </a:lnTo>
                <a:lnTo>
                  <a:pt x="98883" y="722045"/>
                </a:lnTo>
                <a:lnTo>
                  <a:pt x="64120" y="629860"/>
                </a:lnTo>
                <a:lnTo>
                  <a:pt x="36525" y="534403"/>
                </a:lnTo>
                <a:lnTo>
                  <a:pt x="16424" y="435999"/>
                </a:lnTo>
                <a:lnTo>
                  <a:pt x="4141" y="334972"/>
                </a:lnTo>
                <a:lnTo>
                  <a:pt x="0" y="231647"/>
                </a:lnTo>
                <a:lnTo>
                  <a:pt x="4141" y="128269"/>
                </a:lnTo>
                <a:lnTo>
                  <a:pt x="16424" y="27193"/>
                </a:lnTo>
                <a:lnTo>
                  <a:pt x="21977" y="0"/>
                </a:lnTo>
                <a:lnTo>
                  <a:pt x="1979676" y="0"/>
                </a:lnTo>
                <a:lnTo>
                  <a:pt x="1979676" y="1264998"/>
                </a:lnTo>
                <a:lnTo>
                  <a:pt x="1923683" y="1302821"/>
                </a:lnTo>
                <a:lnTo>
                  <a:pt x="1839004" y="1350962"/>
                </a:lnTo>
                <a:lnTo>
                  <a:pt x="1750403" y="1392587"/>
                </a:lnTo>
                <a:lnTo>
                  <a:pt x="1658203" y="1427372"/>
                </a:lnTo>
                <a:lnTo>
                  <a:pt x="1562728" y="1454991"/>
                </a:lnTo>
                <a:lnTo>
                  <a:pt x="1464304" y="1475121"/>
                </a:lnTo>
                <a:lnTo>
                  <a:pt x="1363254" y="1487437"/>
                </a:lnTo>
                <a:lnTo>
                  <a:pt x="1259903" y="1491615"/>
                </a:lnTo>
                <a:close/>
              </a:path>
            </a:pathLst>
          </a:custGeom>
          <a:solidFill xmlns:a="http://schemas.openxmlformats.org/drawingml/2006/main">
            <a:srgbClr val="091F5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6805F477-6628-B7BD-D690-DA003E48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3031" y="257809"/>
            <a:ext cx="878840" cy="879475"/>
          </a:xfrm>
          <a:custGeom xmlns:a="http://schemas.openxmlformats.org/drawingml/2006/main">
            <a:rect l="l" t="t" r="r" b="b"/>
            <a:pathLst>
              <a:path w="878840" h="879475">
                <a:moveTo>
                  <a:pt x="438975" y="879474"/>
                </a:moveTo>
                <a:lnTo>
                  <a:pt x="367645" y="873719"/>
                </a:lnTo>
                <a:lnTo>
                  <a:pt x="299980" y="857057"/>
                </a:lnTo>
                <a:lnTo>
                  <a:pt x="236889" y="830392"/>
                </a:lnTo>
                <a:lnTo>
                  <a:pt x="179284" y="794631"/>
                </a:lnTo>
                <a:lnTo>
                  <a:pt x="128077" y="750679"/>
                </a:lnTo>
                <a:lnTo>
                  <a:pt x="84181" y="699441"/>
                </a:lnTo>
                <a:lnTo>
                  <a:pt x="48581" y="641975"/>
                </a:lnTo>
                <a:lnTo>
                  <a:pt x="22046" y="578956"/>
                </a:lnTo>
                <a:lnTo>
                  <a:pt x="5548" y="511389"/>
                </a:lnTo>
                <a:lnTo>
                  <a:pt x="0" y="440181"/>
                </a:lnTo>
                <a:lnTo>
                  <a:pt x="1349" y="404053"/>
                </a:lnTo>
                <a:lnTo>
                  <a:pt x="12485" y="334335"/>
                </a:lnTo>
                <a:lnTo>
                  <a:pt x="34115" y="268758"/>
                </a:lnTo>
                <a:lnTo>
                  <a:pt x="65411" y="208101"/>
                </a:lnTo>
                <a:lnTo>
                  <a:pt x="105285" y="153560"/>
                </a:lnTo>
                <a:lnTo>
                  <a:pt x="152918" y="105852"/>
                </a:lnTo>
                <a:lnTo>
                  <a:pt x="207405" y="65882"/>
                </a:lnTo>
                <a:lnTo>
                  <a:pt x="267839" y="34556"/>
                </a:lnTo>
                <a:lnTo>
                  <a:pt x="333310" y="12779"/>
                </a:lnTo>
                <a:lnTo>
                  <a:pt x="402911" y="1457"/>
                </a:lnTo>
                <a:lnTo>
                  <a:pt x="438975" y="0"/>
                </a:lnTo>
                <a:lnTo>
                  <a:pt x="475041" y="1457"/>
                </a:lnTo>
                <a:lnTo>
                  <a:pt x="544655" y="12781"/>
                </a:lnTo>
                <a:lnTo>
                  <a:pt x="610156" y="34563"/>
                </a:lnTo>
                <a:lnTo>
                  <a:pt x="670639" y="65901"/>
                </a:lnTo>
                <a:lnTo>
                  <a:pt x="725196" y="105892"/>
                </a:lnTo>
                <a:lnTo>
                  <a:pt x="772919" y="153634"/>
                </a:lnTo>
                <a:lnTo>
                  <a:pt x="812900" y="208223"/>
                </a:lnTo>
                <a:lnTo>
                  <a:pt x="844156" y="268571"/>
                </a:lnTo>
                <a:lnTo>
                  <a:pt x="865933" y="334062"/>
                </a:lnTo>
                <a:lnTo>
                  <a:pt x="877255" y="403671"/>
                </a:lnTo>
                <a:lnTo>
                  <a:pt x="878713" y="439737"/>
                </a:lnTo>
                <a:lnTo>
                  <a:pt x="877255" y="475803"/>
                </a:lnTo>
                <a:lnTo>
                  <a:pt x="865933" y="545412"/>
                </a:lnTo>
                <a:lnTo>
                  <a:pt x="844156" y="610903"/>
                </a:lnTo>
                <a:lnTo>
                  <a:pt x="812748" y="671495"/>
                </a:lnTo>
                <a:lnTo>
                  <a:pt x="772792" y="725988"/>
                </a:lnTo>
                <a:lnTo>
                  <a:pt x="725101" y="773663"/>
                </a:lnTo>
                <a:lnTo>
                  <a:pt x="670577" y="813611"/>
                </a:lnTo>
                <a:lnTo>
                  <a:pt x="610123" y="844925"/>
                </a:lnTo>
                <a:lnTo>
                  <a:pt x="544642" y="866696"/>
                </a:lnTo>
                <a:lnTo>
                  <a:pt x="475039" y="878017"/>
                </a:lnTo>
                <a:lnTo>
                  <a:pt x="438975" y="879474"/>
                </a:lnTo>
                <a:close/>
              </a:path>
            </a:pathLst>
          </a:custGeom>
          <a:solidFill xmlns:a="http://schemas.openxmlformats.org/drawingml/2006/main">
            <a:srgbClr val="091F5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3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cffe6a0314b00"/>
          <a:stretch xmlns:a="http://schemas.openxmlformats.org/drawingml/2006/main"/>
        </p:blipFill>
        <p:spPr>
          <a:xfrm xmlns:a="http://schemas.openxmlformats.org/drawingml/2006/main">
            <a:off x="7429308" y="395637"/>
            <a:ext cx="1483997" cy="339652"/>
          </a:xfrm>
          <a:prstGeom xmlns:a="http://schemas.openxmlformats.org/drawingml/2006/main" prst="rect">
            <a:avLst/>
          </a:prstGeom>
        </p:spPr>
      </p:pic>
      <p:sp>
        <p:nvSpPr>
          <p:cNvPr id="26" name="object 3">
            <a:extLst xmlns:a="http://schemas.openxmlformats.org/drawingml/2006/main">
              <a:ext uri="{FF2B5EF4-FFF2-40B4-BE49-F238E27FC236}">
                <a16:creationId xmlns:a16="http://schemas.microsoft.com/office/drawing/2014/main" id="{8BEEF823-C43E-56B1-2C2C-A384C6A2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79" y="308642"/>
            <a:ext cx="1950085" cy="1536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ts val="1200"/>
              </a:lnSpc>
              <a:buNone/>
            </a:pPr>
            <a:r>
              <a:rPr sz="1050">
                <a:latin typeface="微软雅黑"/>
                <a:ea typeface="微软雅黑"/>
                <a:cs typeface="微软雅黑"/>
              </a:rPr>
              <a:t>EMPIRICAL RESULTS  /  03</a:t>
            </a:r>
          </a:p>
        </p:txBody>
      </p:sp>
      <p:sp>
        <p:nvSpPr>
          <p:cNvPr id="27" name="object 4">
            <a:extLst xmlns:a="http://schemas.openxmlformats.org/drawingml/2006/main">
              <a:ext uri="{FF2B5EF4-FFF2-40B4-BE49-F238E27FC236}">
                <a16:creationId xmlns:a16="http://schemas.microsoft.com/office/drawing/2014/main" id="{E9CE6BC3-B49E-225F-BBB4-426173F8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" y="468630"/>
            <a:ext cx="1950085" cy="821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>
            <a:lvl1pPr>
              <a:buNone/>
              <a:defRPr sz="1800" b="1" i="0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12700">
              <a:lnSpc>
                <a:spcPts val="2155"/>
              </a:lnSpc>
              <a:buNone/>
            </a:pPr>
            <a:r>
              <a:t>结构性治理边界：比例下降不等于去煤完成</a:t>
            </a:r>
          </a:p>
        </p:txBody>
      </p:sp>
      <p:sp>
        <p:nvSpPr>
          <p:cNvPr id="23" name="object 5">
            <a:extLst xmlns:a="http://schemas.openxmlformats.org/drawingml/2006/main">
              <a:ext uri="{FF2B5EF4-FFF2-40B4-BE49-F238E27FC236}">
                <a16:creationId xmlns:a16="http://schemas.microsoft.com/office/drawing/2014/main" id="{A5F73BBC-C87C-8DF7-AA80-E561BC5E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367665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 indent="0">
              <a:lnSpc>
                <a:spcPct val="150000"/>
              </a:lnSpc>
              <a:buNone/>
            </a:pPr>
            <a:r>
              <a:rPr sz="750">
                <a:solidFill>
                  <a:srgbClr val="536273"/>
                </a:solidFill>
                <a:latin typeface="微软雅黑"/>
                <a:ea typeface="微软雅黑"/>
                <a:cs typeface="微软雅黑"/>
              </a:rPr>
              <a:t>注：括号内为标准误；控制省份和年份固定效应。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876300" y="2057400"/>
          <a:ext xmlns:a="http://schemas.openxmlformats.org/drawingml/2006/main" cx="367665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38300"/>
                <a:gridCol w="1133475"/>
                <a:gridCol w="904875"/>
              </a:tblGrid>
              <a:tr h="3143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9256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结果变量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9256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核心系数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9256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标准误</a:t>
                      </a:r>
                    </a:p>
                  </a:txBody>
                  <a:tcPr marL="91440" marR="91440" marT="45720" marB="45720"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煤炭占比（五类）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-0.2495***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(0.0754)</a:t>
                      </a:r>
                    </a:p>
                  </a:txBody>
                  <a:tcPr marL="91440" marR="91440" marT="45720" marB="45720"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煤炭占比（原口径）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-0.1900***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(0.0651)</a:t>
                      </a:r>
                    </a:p>
                  </a:txBody>
                  <a:tcPr marL="91440" marR="91440" marT="45720" marB="45720"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二氧化碳（对数）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-0.0982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(0.1034)</a:t>
                      </a:r>
                    </a:p>
                  </a:txBody>
                  <a:tcPr marL="91440" marR="91440" marT="45720" marB="45720"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火电装机占比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0.0517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(0.0945)</a:t>
                      </a:r>
                    </a:p>
                  </a:txBody>
                  <a:tcPr marL="91440" marR="91440" marT="45720" marB="45720"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火电发电占比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0.0888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(0.0754)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11933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05916841-B295-CA37-2753-CBDB85A9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76" y="1203960"/>
            <a:ext cx="2377440" cy="388620"/>
          </a:xfrm>
          <a:custGeom xmlns:a="http://schemas.openxmlformats.org/drawingml/2006/main">
            <a:rect l="l" t="t" r="r" b="b"/>
            <a:pathLst>
              <a:path w="2377440" h="388619">
                <a:moveTo>
                  <a:pt x="2182368" y="388619"/>
                </a:moveTo>
                <a:lnTo>
                  <a:pt x="193548" y="388619"/>
                </a:lnTo>
                <a:lnTo>
                  <a:pt x="177665" y="387999"/>
                </a:lnTo>
                <a:lnTo>
                  <a:pt x="132307" y="378793"/>
                </a:lnTo>
                <a:lnTo>
                  <a:pt x="91448" y="359624"/>
                </a:lnTo>
                <a:lnTo>
                  <a:pt x="56461" y="331847"/>
                </a:lnTo>
                <a:lnTo>
                  <a:pt x="28819" y="296980"/>
                </a:lnTo>
                <a:lnTo>
                  <a:pt x="9717" y="256191"/>
                </a:lnTo>
                <a:lnTo>
                  <a:pt x="589" y="210921"/>
                </a:lnTo>
                <a:lnTo>
                  <a:pt x="0" y="195071"/>
                </a:lnTo>
                <a:lnTo>
                  <a:pt x="589" y="179050"/>
                </a:lnTo>
                <a:lnTo>
                  <a:pt x="9717" y="133362"/>
                </a:lnTo>
                <a:lnTo>
                  <a:pt x="28819" y="92277"/>
                </a:lnTo>
                <a:lnTo>
                  <a:pt x="56610" y="57056"/>
                </a:lnTo>
                <a:lnTo>
                  <a:pt x="91531" y="29231"/>
                </a:lnTo>
                <a:lnTo>
                  <a:pt x="132336" y="9986"/>
                </a:lnTo>
                <a:lnTo>
                  <a:pt x="177667" y="667"/>
                </a:lnTo>
                <a:lnTo>
                  <a:pt x="193548" y="0"/>
                </a:lnTo>
                <a:lnTo>
                  <a:pt x="2182368" y="0"/>
                </a:lnTo>
                <a:lnTo>
                  <a:pt x="2229217" y="5712"/>
                </a:lnTo>
                <a:lnTo>
                  <a:pt x="2271943" y="21813"/>
                </a:lnTo>
                <a:lnTo>
                  <a:pt x="2309199" y="46965"/>
                </a:lnTo>
                <a:lnTo>
                  <a:pt x="2339631" y="79836"/>
                </a:lnTo>
                <a:lnTo>
                  <a:pt x="2361783" y="118838"/>
                </a:lnTo>
                <a:lnTo>
                  <a:pt x="2374515" y="162956"/>
                </a:lnTo>
                <a:lnTo>
                  <a:pt x="2377059" y="194475"/>
                </a:lnTo>
                <a:lnTo>
                  <a:pt x="2376414" y="210409"/>
                </a:lnTo>
                <a:lnTo>
                  <a:pt x="2367149" y="255886"/>
                </a:lnTo>
                <a:lnTo>
                  <a:pt x="2347930" y="296816"/>
                </a:lnTo>
                <a:lnTo>
                  <a:pt x="2320018" y="331922"/>
                </a:lnTo>
                <a:lnTo>
                  <a:pt x="2284953" y="359650"/>
                </a:lnTo>
                <a:lnTo>
                  <a:pt x="2243954" y="378798"/>
                </a:lnTo>
                <a:lnTo>
                  <a:pt x="2198356" y="387999"/>
                </a:lnTo>
                <a:lnTo>
                  <a:pt x="2182368" y="388619"/>
                </a:lnTo>
                <a:close/>
              </a:path>
            </a:pathLst>
          </a:custGeom>
          <a:solidFill xmlns:a="http://schemas.openxmlformats.org/drawingml/2006/main">
            <a:srgbClr val="001F5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24F10EE6-A96F-F2B0-324F-221BC932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7859" y="1686598"/>
            <a:ext cx="3531285" cy="125477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e3c69ae46b3e4788"/>
            <a:stretch/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DDCE0049-82CC-9491-B869-41D21C92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325" y="3088398"/>
            <a:ext cx="3458819" cy="125171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f6ea8002545548f0"/>
            <a:stretch/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0DEECB41-A312-380B-6325-A8C614FF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127" y="2209998"/>
            <a:ext cx="237490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模型结论</a:t>
            </a:r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43C93230-CEA0-CE0E-718C-54BFC73D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127" y="2415738"/>
            <a:ext cx="237490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5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三重交互为负且显著，不支持低碳基础自动放大新能源替代。</a:t>
            </a: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C7CC93EB-3C9C-79E8-E643-6E27C9DE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5129" y="3608738"/>
            <a:ext cx="2374900" cy="1384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案例补充</a:t>
            </a:r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5262670A-FECF-DE3F-6AFE-74A2172D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5129" y="3814478"/>
            <a:ext cx="237490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5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晋蒙文本反映政策注意力和后验承接表现，不承担全国因果识别。</a:t>
            </a:r>
          </a:p>
        </p:txBody>
      </p:sp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D07B1F19-827F-8D85-40B1-B5CB2647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552" y="1306526"/>
            <a:ext cx="737235" cy="213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条件路径</a:t>
            </a:r>
          </a:p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A0518D75-6A3E-69DE-CC3A-9BB0FC20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35" y="173583"/>
            <a:ext cx="150418" cy="72155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27335fa0fa2e4f9f"/>
            <a:stretch/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8400D909-1BAC-436D-AE0A-6D1E491C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323" y="0"/>
            <a:ext cx="1979930" cy="1491615"/>
          </a:xfrm>
          <a:custGeom xmlns:a="http://schemas.openxmlformats.org/drawingml/2006/main">
            <a:rect l="l" t="t" r="r" b="b"/>
            <a:pathLst>
              <a:path w="1979929" h="1491615">
                <a:moveTo>
                  <a:pt x="1259903" y="1491615"/>
                </a:moveTo>
                <a:lnTo>
                  <a:pt x="1156551" y="1487437"/>
                </a:lnTo>
                <a:lnTo>
                  <a:pt x="1055500" y="1475121"/>
                </a:lnTo>
                <a:lnTo>
                  <a:pt x="957073" y="1454991"/>
                </a:lnTo>
                <a:lnTo>
                  <a:pt x="861596" y="1427370"/>
                </a:lnTo>
                <a:lnTo>
                  <a:pt x="769393" y="1392584"/>
                </a:lnTo>
                <a:lnTo>
                  <a:pt x="680788" y="1350957"/>
                </a:lnTo>
                <a:lnTo>
                  <a:pt x="596107" y="1302813"/>
                </a:lnTo>
                <a:lnTo>
                  <a:pt x="515689" y="1248488"/>
                </a:lnTo>
                <a:lnTo>
                  <a:pt x="439832" y="1188288"/>
                </a:lnTo>
                <a:lnTo>
                  <a:pt x="368871" y="1122545"/>
                </a:lnTo>
                <a:lnTo>
                  <a:pt x="303132" y="1051583"/>
                </a:lnTo>
                <a:lnTo>
                  <a:pt x="242939" y="975728"/>
                </a:lnTo>
                <a:lnTo>
                  <a:pt x="188617" y="895304"/>
                </a:lnTo>
                <a:lnTo>
                  <a:pt x="140490" y="810635"/>
                </a:lnTo>
                <a:lnTo>
                  <a:pt x="98883" y="722045"/>
                </a:lnTo>
                <a:lnTo>
                  <a:pt x="64120" y="629860"/>
                </a:lnTo>
                <a:lnTo>
                  <a:pt x="36525" y="534403"/>
                </a:lnTo>
                <a:lnTo>
                  <a:pt x="16424" y="435999"/>
                </a:lnTo>
                <a:lnTo>
                  <a:pt x="4141" y="334972"/>
                </a:lnTo>
                <a:lnTo>
                  <a:pt x="0" y="231647"/>
                </a:lnTo>
                <a:lnTo>
                  <a:pt x="4141" y="128269"/>
                </a:lnTo>
                <a:lnTo>
                  <a:pt x="16424" y="27193"/>
                </a:lnTo>
                <a:lnTo>
                  <a:pt x="21977" y="0"/>
                </a:lnTo>
                <a:lnTo>
                  <a:pt x="1979676" y="0"/>
                </a:lnTo>
                <a:lnTo>
                  <a:pt x="1979676" y="1264998"/>
                </a:lnTo>
                <a:lnTo>
                  <a:pt x="1923683" y="1302821"/>
                </a:lnTo>
                <a:lnTo>
                  <a:pt x="1839004" y="1350962"/>
                </a:lnTo>
                <a:lnTo>
                  <a:pt x="1750403" y="1392587"/>
                </a:lnTo>
                <a:lnTo>
                  <a:pt x="1658203" y="1427372"/>
                </a:lnTo>
                <a:lnTo>
                  <a:pt x="1562728" y="1454991"/>
                </a:lnTo>
                <a:lnTo>
                  <a:pt x="1464304" y="1475121"/>
                </a:lnTo>
                <a:lnTo>
                  <a:pt x="1363254" y="1487437"/>
                </a:lnTo>
                <a:lnTo>
                  <a:pt x="1259903" y="1491615"/>
                </a:lnTo>
                <a:close/>
              </a:path>
            </a:pathLst>
          </a:custGeom>
          <a:solidFill xmlns:a="http://schemas.openxmlformats.org/drawingml/2006/main">
            <a:srgbClr val="091F5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6805F477-6628-B7BD-D690-DA003E48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3031" y="257809"/>
            <a:ext cx="878840" cy="879475"/>
          </a:xfrm>
          <a:custGeom xmlns:a="http://schemas.openxmlformats.org/drawingml/2006/main">
            <a:rect l="l" t="t" r="r" b="b"/>
            <a:pathLst>
              <a:path w="878840" h="879475">
                <a:moveTo>
                  <a:pt x="438975" y="879474"/>
                </a:moveTo>
                <a:lnTo>
                  <a:pt x="367645" y="873719"/>
                </a:lnTo>
                <a:lnTo>
                  <a:pt x="299980" y="857057"/>
                </a:lnTo>
                <a:lnTo>
                  <a:pt x="236889" y="830392"/>
                </a:lnTo>
                <a:lnTo>
                  <a:pt x="179284" y="794631"/>
                </a:lnTo>
                <a:lnTo>
                  <a:pt x="128077" y="750679"/>
                </a:lnTo>
                <a:lnTo>
                  <a:pt x="84181" y="699441"/>
                </a:lnTo>
                <a:lnTo>
                  <a:pt x="48581" y="641975"/>
                </a:lnTo>
                <a:lnTo>
                  <a:pt x="22046" y="578956"/>
                </a:lnTo>
                <a:lnTo>
                  <a:pt x="5548" y="511389"/>
                </a:lnTo>
                <a:lnTo>
                  <a:pt x="0" y="440181"/>
                </a:lnTo>
                <a:lnTo>
                  <a:pt x="1349" y="404053"/>
                </a:lnTo>
                <a:lnTo>
                  <a:pt x="12485" y="334335"/>
                </a:lnTo>
                <a:lnTo>
                  <a:pt x="34115" y="268758"/>
                </a:lnTo>
                <a:lnTo>
                  <a:pt x="65411" y="208101"/>
                </a:lnTo>
                <a:lnTo>
                  <a:pt x="105285" y="153560"/>
                </a:lnTo>
                <a:lnTo>
                  <a:pt x="152918" y="105852"/>
                </a:lnTo>
                <a:lnTo>
                  <a:pt x="207405" y="65882"/>
                </a:lnTo>
                <a:lnTo>
                  <a:pt x="267839" y="34556"/>
                </a:lnTo>
                <a:lnTo>
                  <a:pt x="333310" y="12779"/>
                </a:lnTo>
                <a:lnTo>
                  <a:pt x="402911" y="1457"/>
                </a:lnTo>
                <a:lnTo>
                  <a:pt x="438975" y="0"/>
                </a:lnTo>
                <a:lnTo>
                  <a:pt x="475041" y="1457"/>
                </a:lnTo>
                <a:lnTo>
                  <a:pt x="544655" y="12781"/>
                </a:lnTo>
                <a:lnTo>
                  <a:pt x="610156" y="34563"/>
                </a:lnTo>
                <a:lnTo>
                  <a:pt x="670639" y="65901"/>
                </a:lnTo>
                <a:lnTo>
                  <a:pt x="725196" y="105892"/>
                </a:lnTo>
                <a:lnTo>
                  <a:pt x="772919" y="153634"/>
                </a:lnTo>
                <a:lnTo>
                  <a:pt x="812900" y="208223"/>
                </a:lnTo>
                <a:lnTo>
                  <a:pt x="844156" y="268571"/>
                </a:lnTo>
                <a:lnTo>
                  <a:pt x="865933" y="334062"/>
                </a:lnTo>
                <a:lnTo>
                  <a:pt x="877255" y="403671"/>
                </a:lnTo>
                <a:lnTo>
                  <a:pt x="878713" y="439737"/>
                </a:lnTo>
                <a:lnTo>
                  <a:pt x="877255" y="475803"/>
                </a:lnTo>
                <a:lnTo>
                  <a:pt x="865933" y="545412"/>
                </a:lnTo>
                <a:lnTo>
                  <a:pt x="844156" y="610903"/>
                </a:lnTo>
                <a:lnTo>
                  <a:pt x="812748" y="671495"/>
                </a:lnTo>
                <a:lnTo>
                  <a:pt x="772792" y="725988"/>
                </a:lnTo>
                <a:lnTo>
                  <a:pt x="725101" y="773663"/>
                </a:lnTo>
                <a:lnTo>
                  <a:pt x="670577" y="813611"/>
                </a:lnTo>
                <a:lnTo>
                  <a:pt x="610123" y="844925"/>
                </a:lnTo>
                <a:lnTo>
                  <a:pt x="544642" y="866696"/>
                </a:lnTo>
                <a:lnTo>
                  <a:pt x="475039" y="878017"/>
                </a:lnTo>
                <a:lnTo>
                  <a:pt x="438975" y="879474"/>
                </a:lnTo>
                <a:close/>
              </a:path>
            </a:pathLst>
          </a:custGeom>
          <a:solidFill xmlns:a="http://schemas.openxmlformats.org/drawingml/2006/main">
            <a:srgbClr val="091F5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3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3b60fb2987445d"/>
          <a:stretch xmlns:a="http://schemas.openxmlformats.org/drawingml/2006/main"/>
        </p:blipFill>
        <p:spPr>
          <a:xfrm xmlns:a="http://schemas.openxmlformats.org/drawingml/2006/main">
            <a:off x="7429308" y="395637"/>
            <a:ext cx="1483997" cy="339652"/>
          </a:xfrm>
          <a:prstGeom xmlns:a="http://schemas.openxmlformats.org/drawingml/2006/main" prst="rect">
            <a:avLst/>
          </a:prstGeom>
        </p:spPr>
      </p:pic>
      <p:sp>
        <p:nvSpPr>
          <p:cNvPr id="26" name="object 3">
            <a:extLst xmlns:a="http://schemas.openxmlformats.org/drawingml/2006/main">
              <a:ext uri="{FF2B5EF4-FFF2-40B4-BE49-F238E27FC236}">
                <a16:creationId xmlns:a16="http://schemas.microsoft.com/office/drawing/2014/main" id="{8BEEF823-C43E-56B1-2C2C-A384C6A2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79" y="308642"/>
            <a:ext cx="1950085" cy="1536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ts val="1200"/>
              </a:lnSpc>
              <a:buNone/>
            </a:pPr>
            <a:r>
              <a:rPr sz="1050">
                <a:latin typeface="微软雅黑"/>
                <a:ea typeface="微软雅黑"/>
                <a:cs typeface="微软雅黑"/>
              </a:rPr>
              <a:t>EMPIRICAL RESULTS  /  04</a:t>
            </a:r>
          </a:p>
        </p:txBody>
      </p:sp>
      <p:sp>
        <p:nvSpPr>
          <p:cNvPr id="27" name="object 4">
            <a:extLst xmlns:a="http://schemas.openxmlformats.org/drawingml/2006/main">
              <a:ext uri="{FF2B5EF4-FFF2-40B4-BE49-F238E27FC236}">
                <a16:creationId xmlns:a16="http://schemas.microsoft.com/office/drawing/2014/main" id="{E9CE6BC3-B49E-225F-BBB4-426173F8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" y="468630"/>
            <a:ext cx="1950085" cy="5473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>
            <a:lvl1pPr>
              <a:buNone/>
              <a:defRPr sz="1800" b="1" i="0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12700">
              <a:lnSpc>
                <a:spcPts val="2155"/>
              </a:lnSpc>
              <a:buNone/>
            </a:pPr>
            <a:r>
              <a:t>承接条件：低碳禀赋并非充分条件</a:t>
            </a:r>
          </a:p>
        </p:txBody>
      </p:sp>
      <p:sp>
        <p:nvSpPr>
          <p:cNvPr id="23" name="object 5">
            <a:extLst xmlns:a="http://schemas.openxmlformats.org/drawingml/2006/main">
              <a:ext uri="{FF2B5EF4-FFF2-40B4-BE49-F238E27FC236}">
                <a16:creationId xmlns:a16="http://schemas.microsoft.com/office/drawing/2014/main" id="{A5F73BBC-C87C-8DF7-AA80-E561BC5E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4825"/>
            <a:ext cx="367665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 indent="0">
              <a:lnSpc>
                <a:spcPct val="150000"/>
              </a:lnSpc>
              <a:buNone/>
            </a:pPr>
            <a:r>
              <a:rPr sz="713">
                <a:solidFill>
                  <a:srgbClr val="536273"/>
                </a:solidFill>
                <a:latin typeface="微软雅黑"/>
                <a:ea typeface="微软雅黑"/>
                <a:cs typeface="微软雅黑"/>
              </a:rPr>
              <a:t>注：三重差分包含低阶交互项；政策文本仅刻画后验政策注意力。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876300" y="1952625"/>
          <a:ext xmlns:a="http://schemas.openxmlformats.org/drawingml/2006/main" cx="3676650" cy="971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62100"/>
                <a:gridCol w="1057275"/>
                <a:gridCol w="1057275"/>
              </a:tblGrid>
              <a:tr h="3238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9256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低碳禀赋检验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9256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风电发电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9256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风光发电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后期低碳禀赋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0.0309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0.0908*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三重交互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-0.0927**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-0.2363**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30" name=""/>
          <p:cNvGraphicFramePr/>
          <p:nvPr/>
        </p:nvGraphicFramePr>
        <p:xfrm>
          <a:off xmlns:a="http://schemas.openxmlformats.org/drawingml/2006/main" x="876300" y="3171825"/>
          <a:ext xmlns:a="http://schemas.openxmlformats.org/drawingml/2006/main" cx="3676650" cy="971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62100"/>
                <a:gridCol w="1057275"/>
                <a:gridCol w="1057275"/>
              </a:tblGrid>
              <a:tr h="3238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9256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晋蒙政策文本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9256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词频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9256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覆盖比例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绿色金融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0.3062*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0.0382**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煤炭清洁治理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9.3511***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0.1361***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11933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2026-05-27T15:08:22.0880000Z</dcterms:created>
  <dcterms:modified xsi:type="dcterms:W3CDTF">2026-05-27T15:08:22.0880000Z</dcterms:modified>
</coreProperties>
</file>