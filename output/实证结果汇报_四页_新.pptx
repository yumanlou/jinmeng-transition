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13"/>
    <p:restoredTop sz="94610"/>
  </p:normalViewPr>
  <p:slideViewPr>
    <p:cSldViewPr snapToGrid="0" snapToObjects="1">
      <p:cViewPr>
        <p:scale>
          <a:sx n="128" d="100"/>
          <a:sy n="128" d="100"/>
        </p:scale>
        <p:origin x="920" y="8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7100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10896" y="256032"/>
            <a:ext cx="45720" cy="749808"/>
          </a:xfrm>
          <a:prstGeom prst="rect">
            <a:avLst/>
          </a:prstGeom>
          <a:solidFill>
            <a:srgbClr val="07245E"/>
          </a:solidFill>
          <a:ln w="12700">
            <a:solidFill>
              <a:srgbClr val="07245E"/>
            </a:solidFill>
            <a:prstDash val="solid"/>
          </a:ln>
        </p:spPr>
      </p:sp>
      <p:sp>
        <p:nvSpPr>
          <p:cNvPr id="7" name="Text 5"/>
          <p:cNvSpPr/>
          <p:nvPr/>
        </p:nvSpPr>
        <p:spPr>
          <a:xfrm>
            <a:off x="530352" y="256032"/>
            <a:ext cx="3017520" cy="219456"/>
          </a:xfrm>
          <a:prstGeom prst="rect">
            <a:avLst/>
          </a:prstGeom>
          <a:noFill/>
          <a:ln/>
        </p:spPr>
        <p:txBody>
          <a:bodyPr wrap="square" lIns="0" tIns="0" rIns="0" bIns="0" rtlCol="0" anchor="ctr"/>
          <a:lstStyle/>
          <a:p>
            <a:pPr marL="0" indent="0">
              <a:buNone/>
            </a:pPr>
            <a:r>
              <a:rPr lang="en-US" sz="1050" dirty="0">
                <a:solidFill>
                  <a:srgbClr val="32363A"/>
                </a:solidFill>
                <a:latin typeface="Arial" pitchFamily="34" charset="0"/>
                <a:ea typeface="Arial" pitchFamily="34" charset="-122"/>
                <a:cs typeface="Arial" pitchFamily="34" charset="-120"/>
              </a:rPr>
              <a:t>EMPIRICAL RESULTS / 01</a:t>
            </a:r>
            <a:endParaRPr lang="en-US" sz="1050" dirty="0"/>
          </a:p>
        </p:txBody>
      </p:sp>
      <p:sp>
        <p:nvSpPr>
          <p:cNvPr id="9" name="Text 7"/>
          <p:cNvSpPr/>
          <p:nvPr/>
        </p:nvSpPr>
        <p:spPr>
          <a:xfrm>
            <a:off x="530352" y="512064"/>
            <a:ext cx="8686800" cy="384048"/>
          </a:xfrm>
          <a:prstGeom prst="rect">
            <a:avLst/>
          </a:prstGeom>
          <a:noFill/>
          <a:ln/>
        </p:spPr>
        <p:txBody>
          <a:bodyPr wrap="square" lIns="0" tIns="0" rIns="0" bIns="0" rtlCol="0" anchor="ctr"/>
          <a:lstStyle/>
          <a:p>
            <a:pPr marL="0" indent="0">
              <a:buNone/>
            </a:pPr>
            <a:r>
              <a:rPr lang="en-US" sz="2400" b="1" dirty="0">
                <a:solidFill>
                  <a:srgbClr val="32363A"/>
                </a:solidFill>
                <a:latin typeface="Microsoft YaHei" pitchFamily="34" charset="0"/>
                <a:ea typeface="Microsoft YaHei" pitchFamily="34" charset="-122"/>
                <a:cs typeface="Microsoft YaHei" pitchFamily="34" charset="-120"/>
              </a:rPr>
              <a:t>表二与表三：绿色信贷首先体现为强度压降和污染治理</a:t>
            </a:r>
            <a:endParaRPr lang="en-US" sz="2400" dirty="0"/>
          </a:p>
        </p:txBody>
      </p:sp>
      <p:sp>
        <p:nvSpPr>
          <p:cNvPr id="11" name="Shape 9"/>
          <p:cNvSpPr/>
          <p:nvPr/>
        </p:nvSpPr>
        <p:spPr>
          <a:xfrm>
            <a:off x="455660" y="1241553"/>
            <a:ext cx="5640340" cy="417664"/>
          </a:xfrm>
          <a:prstGeom prst="roundRect">
            <a:avLst>
              <a:gd name="adj" fmla="val 18750"/>
            </a:avLst>
          </a:prstGeom>
          <a:solidFill>
            <a:srgbClr val="07245E"/>
          </a:solidFill>
          <a:ln w="12700">
            <a:solidFill>
              <a:srgbClr val="07245E"/>
            </a:solidFill>
            <a:prstDash val="solid"/>
          </a:ln>
        </p:spPr>
      </p:sp>
      <p:sp>
        <p:nvSpPr>
          <p:cNvPr id="12" name="Text 10"/>
          <p:cNvSpPr/>
          <p:nvPr/>
        </p:nvSpPr>
        <p:spPr>
          <a:xfrm>
            <a:off x="565388" y="1345625"/>
            <a:ext cx="5541264" cy="137160"/>
          </a:xfrm>
          <a:prstGeom prst="rect">
            <a:avLst/>
          </a:prstGeom>
          <a:noFill/>
          <a:ln/>
        </p:spPr>
        <p:txBody>
          <a:bodyPr wrap="square" lIns="0" tIns="0" rIns="0" bIns="0" rtlCol="0" anchor="ctr"/>
          <a:lstStyle/>
          <a:p>
            <a:pPr marL="0" indent="0">
              <a:buNone/>
            </a:pPr>
            <a:r>
              <a:rPr lang="en-US" sz="1400" b="1" dirty="0">
                <a:solidFill>
                  <a:srgbClr val="FFFFFF"/>
                </a:solidFill>
                <a:latin typeface="Microsoft YaHei" pitchFamily="34" charset="0"/>
                <a:ea typeface="Microsoft YaHei" pitchFamily="34" charset="-122"/>
                <a:cs typeface="Microsoft YaHei" pitchFamily="34" charset="-120"/>
              </a:rPr>
              <a:t>表二：能源强度压降</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289031472"/>
              </p:ext>
            </p:extLst>
          </p:nvPr>
        </p:nvGraphicFramePr>
        <p:xfrm>
          <a:off x="455660" y="1576959"/>
          <a:ext cx="5641848" cy="1627632"/>
        </p:xfrm>
        <a:graphic>
          <a:graphicData uri="http://schemas.openxmlformats.org/drawingml/2006/table">
            <a:tbl>
              <a:tblPr/>
              <a:tblGrid>
                <a:gridCol w="1143000">
                  <a:extLst>
                    <a:ext uri="{9D8B030D-6E8A-4147-A177-3AD203B41FA5}">
                      <a16:colId xmlns:a16="http://schemas.microsoft.com/office/drawing/2014/main" val="20000"/>
                    </a:ext>
                  </a:extLst>
                </a:gridCol>
                <a:gridCol w="1024128">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271272">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变量</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00" b="1" dirty="0">
                          <a:solidFill>
                            <a:srgbClr val="32363A"/>
                          </a:solidFill>
                          <a:latin typeface="Microsoft YaHei" pitchFamily="34" charset="0"/>
                          <a:ea typeface="Microsoft YaHei" pitchFamily="34" charset="-122"/>
                          <a:cs typeface="Microsoft YaHei" pitchFamily="34" charset="-120"/>
                        </a:rPr>
                        <a:t>绿色TFP</a:t>
                      </a:r>
                      <a:endParaRPr lang="en-US" sz="100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00" b="1" dirty="0">
                          <a:solidFill>
                            <a:srgbClr val="32363A"/>
                          </a:solidFill>
                          <a:latin typeface="Microsoft YaHei" pitchFamily="34" charset="0"/>
                          <a:ea typeface="Microsoft YaHei" pitchFamily="34" charset="-122"/>
                          <a:cs typeface="Microsoft YaHei" pitchFamily="34" charset="-120"/>
                        </a:rPr>
                        <a:t>GML</a:t>
                      </a:r>
                      <a:endParaRPr lang="en-US" sz="100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00" b="1" dirty="0" err="1">
                          <a:solidFill>
                            <a:srgbClr val="32363A"/>
                          </a:solidFill>
                          <a:latin typeface="Microsoft YaHei" pitchFamily="34" charset="0"/>
                          <a:ea typeface="Microsoft YaHei" pitchFamily="34" charset="-122"/>
                          <a:cs typeface="Microsoft YaHei" pitchFamily="34" charset="-120"/>
                        </a:rPr>
                        <a:t>五类能源强度</a:t>
                      </a:r>
                      <a:r>
                        <a:rPr lang="zh-CN" altLang="zh-CN" sz="1800" b="0" i="0" u="none" strike="noStrike" kern="1200" baseline="30000" dirty="0">
                          <a:solidFill>
                            <a:schemeClr val="tx1"/>
                          </a:solidFill>
                          <a:effectLst/>
                          <a:latin typeface="+mn-lt"/>
                          <a:ea typeface="+mn-ea"/>
                          <a:cs typeface="+mn-cs"/>
                        </a:rPr>
                        <a:t>†</a:t>
                      </a:r>
                      <a:endParaRPr lang="en-US" sz="1000" baseline="3000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00" b="1" dirty="0">
                          <a:solidFill>
                            <a:srgbClr val="32363A"/>
                          </a:solidFill>
                          <a:latin typeface="Microsoft YaHei" pitchFamily="34" charset="0"/>
                          <a:ea typeface="Microsoft YaHei" pitchFamily="34" charset="-122"/>
                          <a:cs typeface="Microsoft YaHei" pitchFamily="34" charset="-120"/>
                        </a:rPr>
                        <a:t>煤炭终端强度</a:t>
                      </a:r>
                      <a:endParaRPr lang="en-US" sz="100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271272">
                <a:tc>
                  <a:txBody>
                    <a:bodyPr/>
                    <a:lstStyle/>
                    <a:p>
                      <a:pPr marL="0" indent="0" algn="l">
                        <a:buNone/>
                      </a:pPr>
                      <a:r>
                        <a:rPr lang="en-US" sz="1050" b="1" dirty="0">
                          <a:solidFill>
                            <a:srgbClr val="32363A"/>
                          </a:solidFill>
                          <a:latin typeface="Microsoft YaHei" pitchFamily="34" charset="0"/>
                          <a:ea typeface="Microsoft YaHei" pitchFamily="34" charset="-122"/>
                          <a:cs typeface="Microsoft YaHei" pitchFamily="34" charset="-120"/>
                        </a:rPr>
                        <a:t>政策后×煤炭暴露</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6F8FC"/>
                    </a:solidFill>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-1.0498</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-0.1342</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-0.2895**</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-0.4262***</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71272">
                <a:tc>
                  <a:txBody>
                    <a:bodyPr/>
                    <a:lstStyle/>
                    <a:p>
                      <a:pPr marL="0" indent="0" algn="l">
                        <a:buNone/>
                      </a:pPr>
                      <a:r>
                        <a:rPr lang="en-US" sz="1050" dirty="0">
                          <a:solidFill>
                            <a:srgbClr val="32363A"/>
                          </a:solidFill>
                          <a:latin typeface="Microsoft YaHei" pitchFamily="34" charset="0"/>
                          <a:ea typeface="Microsoft YaHei" pitchFamily="34" charset="-122"/>
                          <a:cs typeface="Microsoft YaHei" pitchFamily="34" charset="-120"/>
                        </a:rPr>
                        <a:t>标准误</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(0.7528)</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(0.0830)</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(0.1190)</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(0.0776)</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71272">
                <a:tc>
                  <a:txBody>
                    <a:bodyPr/>
                    <a:lstStyle/>
                    <a:p>
                      <a:pPr marL="0" indent="0" algn="l">
                        <a:buNone/>
                      </a:pPr>
                      <a:r>
                        <a:rPr lang="en-US" sz="1050" dirty="0">
                          <a:solidFill>
                            <a:srgbClr val="32363A"/>
                          </a:solidFill>
                          <a:latin typeface="Microsoft YaHei" pitchFamily="34" charset="0"/>
                          <a:ea typeface="Microsoft YaHei" pitchFamily="34" charset="-122"/>
                          <a:cs typeface="Microsoft YaHei" pitchFamily="34" charset="-120"/>
                        </a:rPr>
                        <a:t>样本量</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510</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510</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480</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480</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1272">
                <a:tc>
                  <a:txBody>
                    <a:bodyPr/>
                    <a:lstStyle/>
                    <a:p>
                      <a:pPr marL="0" indent="0" algn="l">
                        <a:buNone/>
                      </a:pPr>
                      <a:r>
                        <a:rPr lang="en-US" sz="1050" dirty="0">
                          <a:solidFill>
                            <a:srgbClr val="32363A"/>
                          </a:solidFill>
                          <a:latin typeface="Microsoft YaHei" pitchFamily="34" charset="0"/>
                          <a:ea typeface="Microsoft YaHei" pitchFamily="34" charset="-122"/>
                          <a:cs typeface="Microsoft YaHei" pitchFamily="34" charset="-120"/>
                        </a:rPr>
                        <a:t>R²</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0.7644</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0.2719</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0.9592</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0.9237</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71272">
                <a:tc>
                  <a:txBody>
                    <a:bodyPr/>
                    <a:lstStyle/>
                    <a:p>
                      <a:pPr marL="0" indent="0" algn="l">
                        <a:buNone/>
                      </a:pPr>
                      <a:r>
                        <a:rPr lang="en-US" sz="1050" dirty="0">
                          <a:solidFill>
                            <a:srgbClr val="32363A"/>
                          </a:solidFill>
                          <a:latin typeface="Microsoft YaHei" pitchFamily="34" charset="0"/>
                          <a:ea typeface="Microsoft YaHei" pitchFamily="34" charset="-122"/>
                          <a:cs typeface="Microsoft YaHei" pitchFamily="34" charset="-120"/>
                        </a:rPr>
                        <a:t>省份/年份FE</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是</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是</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是</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是</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14" name="Shape 11"/>
          <p:cNvSpPr/>
          <p:nvPr/>
        </p:nvSpPr>
        <p:spPr>
          <a:xfrm>
            <a:off x="455660" y="3323463"/>
            <a:ext cx="5650992" cy="409448"/>
          </a:xfrm>
          <a:prstGeom prst="roundRect">
            <a:avLst>
              <a:gd name="adj" fmla="val 18750"/>
            </a:avLst>
          </a:prstGeom>
          <a:solidFill>
            <a:srgbClr val="07245E"/>
          </a:solidFill>
          <a:ln w="12700">
            <a:solidFill>
              <a:srgbClr val="07245E"/>
            </a:solidFill>
            <a:prstDash val="solid"/>
          </a:ln>
        </p:spPr>
      </p:sp>
      <p:sp>
        <p:nvSpPr>
          <p:cNvPr id="15" name="Text 12"/>
          <p:cNvSpPr/>
          <p:nvPr/>
        </p:nvSpPr>
        <p:spPr>
          <a:xfrm>
            <a:off x="565388" y="3437569"/>
            <a:ext cx="5541264" cy="137160"/>
          </a:xfrm>
          <a:prstGeom prst="rect">
            <a:avLst/>
          </a:prstGeom>
          <a:noFill/>
          <a:ln/>
        </p:spPr>
        <p:txBody>
          <a:bodyPr wrap="square" lIns="0" tIns="0" rIns="0" bIns="0" rtlCol="0" anchor="ctr"/>
          <a:lstStyle/>
          <a:p>
            <a:pPr marL="0" indent="0">
              <a:buNone/>
            </a:pPr>
            <a:r>
              <a:rPr lang="en-US" sz="1400" b="1" dirty="0">
                <a:solidFill>
                  <a:srgbClr val="FFFFFF"/>
                </a:solidFill>
                <a:latin typeface="Microsoft YaHei" pitchFamily="34" charset="0"/>
                <a:ea typeface="Microsoft YaHei" pitchFamily="34" charset="-122"/>
                <a:cs typeface="Microsoft YaHei" pitchFamily="34" charset="-120"/>
              </a:rPr>
              <a:t>表三：污染治理响应</a:t>
            </a:r>
            <a:endParaRPr lang="en-US" sz="1400" dirty="0"/>
          </a:p>
        </p:txBody>
      </p:sp>
      <p:graphicFrame>
        <p:nvGraphicFramePr>
          <p:cNvPr id="16" name="Table 1"/>
          <p:cNvGraphicFramePr>
            <a:graphicFrameLocks noGrp="1"/>
          </p:cNvGraphicFramePr>
          <p:nvPr>
            <p:extLst>
              <p:ext uri="{D42A27DB-BD31-4B8C-83A1-F6EECF244321}">
                <p14:modId xmlns:p14="http://schemas.microsoft.com/office/powerpoint/2010/main" val="1266725854"/>
              </p:ext>
            </p:extLst>
          </p:nvPr>
        </p:nvGraphicFramePr>
        <p:xfrm>
          <a:off x="455660" y="3668903"/>
          <a:ext cx="5650992" cy="1737360"/>
        </p:xfrm>
        <a:graphic>
          <a:graphicData uri="http://schemas.openxmlformats.org/drawingml/2006/table">
            <a:tbl>
              <a:tblPr/>
              <a:tblGrid>
                <a:gridCol w="1126822">
                  <a:extLst>
                    <a:ext uri="{9D8B030D-6E8A-4147-A177-3AD203B41FA5}">
                      <a16:colId xmlns:a16="http://schemas.microsoft.com/office/drawing/2014/main" val="20000"/>
                    </a:ext>
                  </a:extLst>
                </a:gridCol>
                <a:gridCol w="884858">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124712">
                  <a:extLst>
                    <a:ext uri="{9D8B030D-6E8A-4147-A177-3AD203B41FA5}">
                      <a16:colId xmlns:a16="http://schemas.microsoft.com/office/drawing/2014/main" val="20005"/>
                    </a:ext>
                  </a:extLst>
                </a:gridCol>
              </a:tblGrid>
              <a:tr h="289560">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变量</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00" b="1" dirty="0">
                          <a:solidFill>
                            <a:srgbClr val="32363A"/>
                          </a:solidFill>
                          <a:latin typeface="Microsoft YaHei" pitchFamily="34" charset="0"/>
                          <a:ea typeface="Microsoft YaHei" pitchFamily="34" charset="-122"/>
                          <a:cs typeface="Microsoft YaHei" pitchFamily="34" charset="-120"/>
                        </a:rPr>
                        <a:t>工业SO₂</a:t>
                      </a:r>
                      <a:endParaRPr lang="en-US" sz="100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00" b="1" dirty="0">
                          <a:solidFill>
                            <a:srgbClr val="32363A"/>
                          </a:solidFill>
                          <a:latin typeface="Microsoft YaHei" pitchFamily="34" charset="0"/>
                          <a:ea typeface="Microsoft YaHei" pitchFamily="34" charset="-122"/>
                          <a:cs typeface="Microsoft YaHei" pitchFamily="34" charset="-120"/>
                        </a:rPr>
                        <a:t>NOx</a:t>
                      </a:r>
                      <a:endParaRPr lang="en-US" sz="100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00" b="1" dirty="0">
                          <a:solidFill>
                            <a:srgbClr val="32363A"/>
                          </a:solidFill>
                          <a:latin typeface="Microsoft YaHei" pitchFamily="34" charset="0"/>
                          <a:ea typeface="Microsoft YaHei" pitchFamily="34" charset="-122"/>
                          <a:cs typeface="Microsoft YaHei" pitchFamily="34" charset="-120"/>
                        </a:rPr>
                        <a:t>颗粒物</a:t>
                      </a:r>
                      <a:endParaRPr lang="en-US" sz="100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00" b="1" dirty="0">
                          <a:solidFill>
                            <a:srgbClr val="32363A"/>
                          </a:solidFill>
                          <a:latin typeface="Microsoft YaHei" pitchFamily="34" charset="0"/>
                          <a:ea typeface="Microsoft YaHei" pitchFamily="34" charset="-122"/>
                          <a:cs typeface="Microsoft YaHei" pitchFamily="34" charset="-120"/>
                        </a:rPr>
                        <a:t>工业固废</a:t>
                      </a:r>
                      <a:endParaRPr lang="en-US" sz="100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00" b="1" dirty="0">
                          <a:solidFill>
                            <a:srgbClr val="32363A"/>
                          </a:solidFill>
                          <a:latin typeface="Microsoft YaHei" pitchFamily="34" charset="0"/>
                          <a:ea typeface="Microsoft YaHei" pitchFamily="34" charset="-122"/>
                          <a:cs typeface="Microsoft YaHei" pitchFamily="34" charset="-120"/>
                        </a:rPr>
                        <a:t>工业废水</a:t>
                      </a:r>
                      <a:endParaRPr lang="en-US" sz="100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289560">
                <a:tc>
                  <a:txBody>
                    <a:bodyPr/>
                    <a:lstStyle/>
                    <a:p>
                      <a:pPr marL="0" indent="0" algn="l">
                        <a:buNone/>
                      </a:pPr>
                      <a:r>
                        <a:rPr lang="en-US" sz="1050" b="1" dirty="0">
                          <a:solidFill>
                            <a:srgbClr val="32363A"/>
                          </a:solidFill>
                          <a:latin typeface="Microsoft YaHei" pitchFamily="34" charset="0"/>
                          <a:ea typeface="Microsoft YaHei" pitchFamily="34" charset="-122"/>
                          <a:cs typeface="Microsoft YaHei" pitchFamily="34" charset="-120"/>
                        </a:rPr>
                        <a:t>政策后×煤炭暴露</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6F8FC"/>
                    </a:solidFill>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-72.5887***</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-43.9915**</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-10.1339</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-47.2683**</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-40594.6149</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89560">
                <a:tc>
                  <a:txBody>
                    <a:bodyPr/>
                    <a:lstStyle/>
                    <a:p>
                      <a:pPr marL="0" indent="0" algn="l">
                        <a:buNone/>
                      </a:pPr>
                      <a:r>
                        <a:rPr lang="en-US" sz="1050" dirty="0">
                          <a:solidFill>
                            <a:srgbClr val="32363A"/>
                          </a:solidFill>
                          <a:latin typeface="Microsoft YaHei" pitchFamily="34" charset="0"/>
                          <a:ea typeface="Microsoft YaHei" pitchFamily="34" charset="-122"/>
                          <a:cs typeface="Microsoft YaHei" pitchFamily="34" charset="-120"/>
                        </a:rPr>
                        <a:t>标准误</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(19.6996)</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(16.8916)</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(28.0627)</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(20.0521)</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(24203.0698)</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89560">
                <a:tc>
                  <a:txBody>
                    <a:bodyPr/>
                    <a:lstStyle/>
                    <a:p>
                      <a:pPr marL="0" indent="0" algn="l">
                        <a:buNone/>
                      </a:pPr>
                      <a:r>
                        <a:rPr lang="en-US" sz="1050" dirty="0">
                          <a:solidFill>
                            <a:srgbClr val="32363A"/>
                          </a:solidFill>
                          <a:latin typeface="Microsoft YaHei" pitchFamily="34" charset="0"/>
                          <a:ea typeface="Microsoft YaHei" pitchFamily="34" charset="-122"/>
                          <a:cs typeface="Microsoft YaHei" pitchFamily="34" charset="-120"/>
                        </a:rPr>
                        <a:t>样本量</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510</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336</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154</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510</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510</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89560">
                <a:tc>
                  <a:txBody>
                    <a:bodyPr/>
                    <a:lstStyle/>
                    <a:p>
                      <a:pPr marL="0" indent="0" algn="l">
                        <a:buNone/>
                      </a:pPr>
                      <a:r>
                        <a:rPr lang="en-US" sz="1050" dirty="0">
                          <a:solidFill>
                            <a:srgbClr val="32363A"/>
                          </a:solidFill>
                          <a:latin typeface="Microsoft YaHei" pitchFamily="34" charset="0"/>
                          <a:ea typeface="Microsoft YaHei" pitchFamily="34" charset="-122"/>
                          <a:cs typeface="Microsoft YaHei" pitchFamily="34" charset="-120"/>
                        </a:rPr>
                        <a:t>R²</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0.8812</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0.9223</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0.8225</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0.7837</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0.9108</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89560">
                <a:tc>
                  <a:txBody>
                    <a:bodyPr/>
                    <a:lstStyle/>
                    <a:p>
                      <a:pPr marL="0" indent="0" algn="l">
                        <a:buNone/>
                      </a:pPr>
                      <a:r>
                        <a:rPr lang="en-US" sz="1050" dirty="0">
                          <a:solidFill>
                            <a:srgbClr val="32363A"/>
                          </a:solidFill>
                          <a:latin typeface="Microsoft YaHei" pitchFamily="34" charset="0"/>
                          <a:ea typeface="Microsoft YaHei" pitchFamily="34" charset="-122"/>
                          <a:cs typeface="Microsoft YaHei" pitchFamily="34" charset="-120"/>
                        </a:rPr>
                        <a:t>省份/年份FE</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是</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是</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是</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是</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是</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19" name="Text 15"/>
          <p:cNvSpPr/>
          <p:nvPr/>
        </p:nvSpPr>
        <p:spPr>
          <a:xfrm>
            <a:off x="6574537" y="2037364"/>
            <a:ext cx="4840390" cy="3840480"/>
          </a:xfrm>
          <a:prstGeom prst="rect">
            <a:avLst/>
          </a:prstGeom>
          <a:noFill/>
          <a:ln/>
        </p:spPr>
        <p:txBody>
          <a:bodyPr wrap="square" lIns="0" tIns="0" rIns="0" bIns="0" rtlCol="0" anchor="t">
            <a:normAutofit/>
          </a:bodyPr>
          <a:lstStyle/>
          <a:p>
            <a:pPr algn="just">
              <a:lnSpc>
                <a:spcPct val="150000"/>
              </a:lnSpc>
            </a:pPr>
            <a:r>
              <a:rPr lang="zh-CN" altLang="zh-CN" b="1" dirty="0">
                <a:latin typeface="Microsoft YaHei" pitchFamily="34" charset="0"/>
                <a:ea typeface="Microsoft YaHei" pitchFamily="34" charset="-122"/>
              </a:rPr>
              <a:t>绿色信贷显著推动高煤炭暴露地区降低能源和煤炭使用强度，并同步改善重点工业污染治理。</a:t>
            </a:r>
            <a:endParaRPr lang="en-US" altLang="zh-CN" b="1" dirty="0">
              <a:latin typeface="Microsoft YaHei" pitchFamily="34" charset="0"/>
              <a:ea typeface="Microsoft YaHei" pitchFamily="34" charset="-122"/>
            </a:endParaRPr>
          </a:p>
          <a:p>
            <a:pPr algn="just">
              <a:lnSpc>
                <a:spcPct val="150000"/>
              </a:lnSpc>
            </a:pPr>
            <a:endParaRPr lang="en-US" b="1" dirty="0">
              <a:latin typeface="Microsoft YaHei" pitchFamily="34" charset="0"/>
              <a:ea typeface="Microsoft YaHei" pitchFamily="34" charset="-122"/>
            </a:endParaRPr>
          </a:p>
          <a:p>
            <a:pPr algn="just">
              <a:lnSpc>
                <a:spcPct val="150000"/>
              </a:lnSpc>
            </a:pPr>
            <a:r>
              <a:rPr lang="zh-CN" altLang="en-US" dirty="0">
                <a:latin typeface="Microsoft YaHei" pitchFamily="34" charset="0"/>
                <a:ea typeface="Microsoft YaHei" pitchFamily="34" charset="-122"/>
              </a:rPr>
              <a:t>表二和表三</a:t>
            </a:r>
            <a:r>
              <a:rPr lang="zh-CN" altLang="zh-CN" dirty="0">
                <a:latin typeface="Microsoft YaHei" pitchFamily="34" charset="0"/>
                <a:ea typeface="Microsoft YaHei" pitchFamily="34" charset="-122"/>
              </a:rPr>
              <a:t>结果显示，高煤炭暴露地区在政策后五类能源强度和煤炭终端强度显著下降，工业 SO₂、NOx 和工业固废也同步下降</a:t>
            </a:r>
            <a:r>
              <a:rPr lang="zh-CN" altLang="en-US" dirty="0">
                <a:latin typeface="Microsoft YaHei" pitchFamily="34" charset="0"/>
                <a:ea typeface="Microsoft YaHei" pitchFamily="34" charset="-122"/>
              </a:rPr>
              <a:t>。</a:t>
            </a:r>
            <a:r>
              <a:rPr lang="en-US" altLang="zh-CN" dirty="0">
                <a:latin typeface="Microsoft YaHei" pitchFamily="34" charset="0"/>
                <a:ea typeface="Microsoft YaHei" pitchFamily="34" charset="-122"/>
              </a:rPr>
              <a:t>GTFP</a:t>
            </a:r>
            <a:r>
              <a:rPr lang="zh-CN" altLang="en-US" dirty="0">
                <a:latin typeface="Microsoft YaHei" pitchFamily="34" charset="0"/>
                <a:ea typeface="Microsoft YaHei" pitchFamily="34" charset="-122"/>
              </a:rPr>
              <a:t>和</a:t>
            </a:r>
            <a:r>
              <a:rPr lang="en-US" altLang="zh-CN" dirty="0">
                <a:latin typeface="Microsoft YaHei" pitchFamily="34" charset="0"/>
                <a:ea typeface="Microsoft YaHei" pitchFamily="34" charset="-122"/>
              </a:rPr>
              <a:t>GML</a:t>
            </a:r>
            <a:r>
              <a:rPr lang="zh-CN" altLang="en-US" dirty="0">
                <a:latin typeface="Microsoft YaHei" pitchFamily="34" charset="0"/>
                <a:ea typeface="Microsoft YaHei" pitchFamily="34" charset="-122"/>
              </a:rPr>
              <a:t>虽有下降，但并不显著。结果</a:t>
            </a:r>
            <a:r>
              <a:rPr lang="zh-CN" altLang="zh-CN" dirty="0">
                <a:latin typeface="Microsoft YaHei" pitchFamily="34" charset="0"/>
                <a:ea typeface="Microsoft YaHei" pitchFamily="34" charset="-122"/>
              </a:rPr>
              <a:t>说明绿色信贷对高煤炭地区形成了较强的外部约束，最先体现为能源使用压降和重点工业污染治理改善。</a:t>
            </a:r>
            <a:endParaRPr lang="en-US" altLang="zh-CN" dirty="0">
              <a:latin typeface="Microsoft YaHei" pitchFamily="34" charset="0"/>
              <a:ea typeface="Microsoft YaHei" pitchFamily="34" charset="-122"/>
            </a:endParaRPr>
          </a:p>
          <a:p>
            <a:pPr algn="just">
              <a:lnSpc>
                <a:spcPct val="150000"/>
              </a:lnSpc>
            </a:pPr>
            <a:endParaRPr lang="en-US" b="1" dirty="0">
              <a:latin typeface="Microsoft YaHei" pitchFamily="34" charset="0"/>
              <a:ea typeface="Microsoft YaHei" pitchFamily="34" charset="-122"/>
            </a:endParaRPr>
          </a:p>
        </p:txBody>
      </p:sp>
      <p:sp>
        <p:nvSpPr>
          <p:cNvPr id="20" name="Text 16"/>
          <p:cNvSpPr/>
          <p:nvPr/>
        </p:nvSpPr>
        <p:spPr>
          <a:xfrm>
            <a:off x="455660" y="5490241"/>
            <a:ext cx="5870449" cy="775206"/>
          </a:xfrm>
          <a:prstGeom prst="rect">
            <a:avLst/>
          </a:prstGeom>
          <a:noFill/>
          <a:ln/>
        </p:spPr>
        <p:txBody>
          <a:bodyPr wrap="square" lIns="0" tIns="0" rIns="0" bIns="0" rtlCol="0" anchor="ctr"/>
          <a:lstStyle/>
          <a:p>
            <a:pPr marL="0" indent="0">
              <a:buNone/>
            </a:pPr>
            <a:r>
              <a:rPr lang="en-US" sz="1000" dirty="0" err="1">
                <a:solidFill>
                  <a:srgbClr val="6B7280"/>
                </a:solidFill>
                <a:latin typeface="Microsoft YaHei" pitchFamily="34" charset="0"/>
                <a:ea typeface="Microsoft YaHei" pitchFamily="34" charset="-122"/>
                <a:cs typeface="Microsoft YaHei" pitchFamily="34" charset="-120"/>
              </a:rPr>
              <a:t>注</a:t>
            </a:r>
            <a:r>
              <a:rPr lang="en-US" sz="1000" dirty="0">
                <a:solidFill>
                  <a:srgbClr val="6B7280"/>
                </a:solidFill>
                <a:latin typeface="Microsoft YaHei" pitchFamily="34" charset="0"/>
                <a:ea typeface="Microsoft YaHei" pitchFamily="34" charset="-122"/>
                <a:cs typeface="Microsoft YaHei" pitchFamily="34" charset="-120"/>
              </a:rPr>
              <a:t>：</a:t>
            </a:r>
          </a:p>
          <a:p>
            <a:pPr marL="0" indent="0">
              <a:buNone/>
            </a:pPr>
            <a:r>
              <a:rPr lang="en-US" sz="1000" dirty="0" err="1">
                <a:solidFill>
                  <a:srgbClr val="6B7280"/>
                </a:solidFill>
                <a:latin typeface="Microsoft YaHei" pitchFamily="34" charset="0"/>
                <a:ea typeface="Microsoft YaHei" pitchFamily="34" charset="-122"/>
                <a:cs typeface="Microsoft YaHei" pitchFamily="34" charset="-120"/>
              </a:rPr>
              <a:t>括号内为标准误；所有全国连续DID控制</a:t>
            </a:r>
            <a:r>
              <a:rPr lang="en-US" sz="1000" dirty="0">
                <a:solidFill>
                  <a:srgbClr val="6B7280"/>
                </a:solidFill>
                <a:latin typeface="Microsoft YaHei" pitchFamily="34" charset="0"/>
                <a:ea typeface="Microsoft YaHei" pitchFamily="34" charset="-122"/>
                <a:cs typeface="Microsoft YaHei" pitchFamily="34" charset="-120"/>
              </a:rPr>
              <a:t> </a:t>
            </a:r>
            <a:r>
              <a:rPr lang="en-US" sz="1000" dirty="0" err="1">
                <a:solidFill>
                  <a:srgbClr val="6B7280"/>
                </a:solidFill>
                <a:latin typeface="Microsoft YaHei" pitchFamily="34" charset="0"/>
                <a:ea typeface="Microsoft YaHei" pitchFamily="34" charset="-122"/>
                <a:cs typeface="Microsoft YaHei" pitchFamily="34" charset="-120"/>
              </a:rPr>
              <a:t>GDP、人口、工业占比、城镇化率、环保财政支出占比、市场化指数，并控制省份与年份固定效应，标准误按省份聚类</a:t>
            </a:r>
            <a:r>
              <a:rPr lang="en-US" sz="1000" dirty="0">
                <a:solidFill>
                  <a:srgbClr val="6B7280"/>
                </a:solidFill>
                <a:latin typeface="Microsoft YaHei" pitchFamily="34" charset="0"/>
                <a:ea typeface="Microsoft YaHei" pitchFamily="34" charset="-122"/>
                <a:cs typeface="Microsoft YaHei" pitchFamily="34" charset="-120"/>
              </a:rPr>
              <a:t>。</a:t>
            </a:r>
          </a:p>
          <a:p>
            <a:r>
              <a:rPr lang="zh-CN" altLang="zh-CN" sz="1000" dirty="0">
                <a:solidFill>
                  <a:srgbClr val="6B7280"/>
                </a:solidFill>
                <a:latin typeface="Microsoft YaHei" pitchFamily="34" charset="0"/>
                <a:ea typeface="Microsoft YaHei" pitchFamily="34" charset="-122"/>
              </a:rPr>
              <a:t>†</a:t>
            </a:r>
            <a:r>
              <a:rPr lang="zh-CN" altLang="en-US" sz="1000" dirty="0">
                <a:solidFill>
                  <a:srgbClr val="6B7280"/>
                </a:solidFill>
                <a:latin typeface="Microsoft YaHei" pitchFamily="34" charset="0"/>
                <a:ea typeface="Microsoft YaHei" pitchFamily="34" charset="-122"/>
              </a:rPr>
              <a:t>：</a:t>
            </a:r>
            <a:r>
              <a:rPr lang="en-US" sz="1000" dirty="0" err="1">
                <a:solidFill>
                  <a:srgbClr val="6B7280"/>
                </a:solidFill>
                <a:latin typeface="Microsoft YaHei" pitchFamily="34" charset="0"/>
                <a:ea typeface="Microsoft YaHei" pitchFamily="34" charset="-122"/>
              </a:rPr>
              <a:t>五类能源包括</a:t>
            </a:r>
            <a:r>
              <a:rPr lang="zh-CN" altLang="zh-CN" sz="1000" dirty="0">
                <a:solidFill>
                  <a:srgbClr val="6B7280"/>
                </a:solidFill>
                <a:latin typeface="Microsoft YaHei" pitchFamily="34" charset="0"/>
                <a:ea typeface="Microsoft YaHei" pitchFamily="34" charset="-122"/>
              </a:rPr>
              <a:t>煤炭</a:t>
            </a:r>
            <a:r>
              <a:rPr lang="zh-CN" altLang="en-US" sz="1000" dirty="0">
                <a:solidFill>
                  <a:srgbClr val="6B7280"/>
                </a:solidFill>
                <a:latin typeface="Microsoft YaHei" pitchFamily="34" charset="0"/>
                <a:ea typeface="Microsoft YaHei" pitchFamily="34" charset="-122"/>
              </a:rPr>
              <a:t>、</a:t>
            </a:r>
            <a:r>
              <a:rPr lang="zh-CN" altLang="zh-CN" sz="1000" dirty="0">
                <a:solidFill>
                  <a:srgbClr val="6B7280"/>
                </a:solidFill>
                <a:latin typeface="Microsoft YaHei" pitchFamily="34" charset="0"/>
                <a:ea typeface="Microsoft YaHei" pitchFamily="34" charset="-122"/>
              </a:rPr>
              <a:t>油品</a:t>
            </a:r>
            <a:r>
              <a:rPr lang="zh-CN" altLang="en-US" sz="1000" dirty="0">
                <a:solidFill>
                  <a:srgbClr val="6B7280"/>
                </a:solidFill>
                <a:latin typeface="Microsoft YaHei" pitchFamily="34" charset="0"/>
                <a:ea typeface="Microsoft YaHei" pitchFamily="34" charset="-122"/>
              </a:rPr>
              <a:t>、</a:t>
            </a:r>
            <a:r>
              <a:rPr lang="zh-CN" altLang="zh-CN" sz="1000" dirty="0">
                <a:solidFill>
                  <a:srgbClr val="6B7280"/>
                </a:solidFill>
                <a:latin typeface="Microsoft YaHei" pitchFamily="34" charset="0"/>
                <a:ea typeface="Microsoft YaHei" pitchFamily="34" charset="-122"/>
              </a:rPr>
              <a:t>液化石油气</a:t>
            </a:r>
            <a:r>
              <a:rPr lang="zh-CN" altLang="en-US" sz="1000" dirty="0">
                <a:solidFill>
                  <a:srgbClr val="6B7280"/>
                </a:solidFill>
                <a:latin typeface="Microsoft YaHei" pitchFamily="34" charset="0"/>
                <a:ea typeface="Microsoft YaHei" pitchFamily="34" charset="-122"/>
              </a:rPr>
              <a:t>、</a:t>
            </a:r>
            <a:r>
              <a:rPr lang="zh-CN" altLang="zh-CN" sz="1000" dirty="0">
                <a:solidFill>
                  <a:srgbClr val="6B7280"/>
                </a:solidFill>
                <a:latin typeface="Microsoft YaHei" pitchFamily="34" charset="0"/>
                <a:ea typeface="Microsoft YaHei" pitchFamily="34" charset="-122"/>
              </a:rPr>
              <a:t>天然气</a:t>
            </a:r>
            <a:r>
              <a:rPr lang="zh-CN" altLang="en-US" sz="1000" dirty="0">
                <a:solidFill>
                  <a:srgbClr val="6B7280"/>
                </a:solidFill>
                <a:latin typeface="Microsoft YaHei" pitchFamily="34" charset="0"/>
                <a:ea typeface="Microsoft YaHei" pitchFamily="34" charset="-122"/>
              </a:rPr>
              <a:t>、</a:t>
            </a:r>
            <a:r>
              <a:rPr lang="zh-CN" altLang="zh-CN" sz="1000" dirty="0">
                <a:solidFill>
                  <a:srgbClr val="6B7280"/>
                </a:solidFill>
                <a:latin typeface="Microsoft YaHei" pitchFamily="34" charset="0"/>
                <a:ea typeface="Microsoft YaHei" pitchFamily="34" charset="-122"/>
              </a:rPr>
              <a:t>电力</a:t>
            </a:r>
            <a:r>
              <a:rPr lang="zh-CN" altLang="en-US" sz="1000" dirty="0">
                <a:solidFill>
                  <a:srgbClr val="6B7280"/>
                </a:solidFill>
                <a:latin typeface="Microsoft YaHei" pitchFamily="34" charset="0"/>
                <a:ea typeface="Microsoft YaHei" pitchFamily="34" charset="-122"/>
              </a:rPr>
              <a:t>，五类能源强度为：</a:t>
            </a:r>
            <a:r>
              <a:rPr lang="zh-CN" altLang="zh-CN" sz="1000" dirty="0">
                <a:solidFill>
                  <a:srgbClr val="6B7280"/>
                </a:solidFill>
                <a:latin typeface="Microsoft YaHei" pitchFamily="34" charset="0"/>
                <a:ea typeface="Microsoft YaHei" pitchFamily="34" charset="-122"/>
              </a:rPr>
              <a:t>五类能源终端消费合计 / GDP</a:t>
            </a:r>
          </a:p>
        </p:txBody>
      </p:sp>
      <p:sp>
        <p:nvSpPr>
          <p:cNvPr id="21" name="object 21">
            <a:extLst>
              <a:ext uri="{FF2B5EF4-FFF2-40B4-BE49-F238E27FC236}">
                <a16:creationId xmlns:a16="http://schemas.microsoft.com/office/drawing/2014/main" id="{62ADC501-032F-9202-6285-E813857245A3}"/>
              </a:ext>
            </a:extLst>
          </p:cNvPr>
          <p:cNvSpPr/>
          <p:nvPr/>
        </p:nvSpPr>
        <p:spPr bwMode="auto">
          <a:xfrm>
            <a:off x="10232136" y="-19431"/>
            <a:ext cx="1979930" cy="1491615"/>
          </a:xfrm>
          <a:custGeom>
            <a:avLst/>
            <a:gdLst/>
            <a:ahLst/>
            <a:cxnLst/>
            <a:rect l="l" t="t" r="r" b="b"/>
            <a:pathLst>
              <a:path w="1979929" h="1491615" extrusionOk="0">
                <a:moveTo>
                  <a:pt x="1259903" y="1491615"/>
                </a:moveTo>
                <a:lnTo>
                  <a:pt x="1156551" y="1487437"/>
                </a:lnTo>
                <a:lnTo>
                  <a:pt x="1055500" y="1475121"/>
                </a:lnTo>
                <a:lnTo>
                  <a:pt x="957073" y="1454991"/>
                </a:lnTo>
                <a:lnTo>
                  <a:pt x="861596" y="1427370"/>
                </a:lnTo>
                <a:lnTo>
                  <a:pt x="769393" y="1392584"/>
                </a:lnTo>
                <a:lnTo>
                  <a:pt x="680788" y="1350957"/>
                </a:lnTo>
                <a:lnTo>
                  <a:pt x="596107" y="1302813"/>
                </a:lnTo>
                <a:lnTo>
                  <a:pt x="515689" y="1248488"/>
                </a:lnTo>
                <a:lnTo>
                  <a:pt x="439832" y="1188288"/>
                </a:lnTo>
                <a:lnTo>
                  <a:pt x="368871" y="1122545"/>
                </a:lnTo>
                <a:lnTo>
                  <a:pt x="303132" y="1051583"/>
                </a:lnTo>
                <a:lnTo>
                  <a:pt x="242939" y="975728"/>
                </a:lnTo>
                <a:lnTo>
                  <a:pt x="188617" y="895304"/>
                </a:lnTo>
                <a:lnTo>
                  <a:pt x="140490" y="810635"/>
                </a:lnTo>
                <a:lnTo>
                  <a:pt x="98883" y="722045"/>
                </a:lnTo>
                <a:lnTo>
                  <a:pt x="64120" y="629860"/>
                </a:lnTo>
                <a:lnTo>
                  <a:pt x="36525" y="534403"/>
                </a:lnTo>
                <a:lnTo>
                  <a:pt x="16424" y="435999"/>
                </a:lnTo>
                <a:lnTo>
                  <a:pt x="4141" y="334972"/>
                </a:lnTo>
                <a:lnTo>
                  <a:pt x="0" y="231647"/>
                </a:lnTo>
                <a:lnTo>
                  <a:pt x="4141" y="128269"/>
                </a:lnTo>
                <a:lnTo>
                  <a:pt x="16424" y="27193"/>
                </a:lnTo>
                <a:lnTo>
                  <a:pt x="21977" y="0"/>
                </a:lnTo>
                <a:lnTo>
                  <a:pt x="1979676" y="0"/>
                </a:lnTo>
                <a:lnTo>
                  <a:pt x="1979676" y="1264998"/>
                </a:lnTo>
                <a:lnTo>
                  <a:pt x="1923683" y="1302821"/>
                </a:lnTo>
                <a:lnTo>
                  <a:pt x="1839004" y="1350962"/>
                </a:lnTo>
                <a:lnTo>
                  <a:pt x="1750403" y="1392587"/>
                </a:lnTo>
                <a:lnTo>
                  <a:pt x="1658203" y="1427372"/>
                </a:lnTo>
                <a:lnTo>
                  <a:pt x="1562728" y="1454991"/>
                </a:lnTo>
                <a:lnTo>
                  <a:pt x="1464304" y="1475121"/>
                </a:lnTo>
                <a:lnTo>
                  <a:pt x="1363254" y="1487437"/>
                </a:lnTo>
                <a:lnTo>
                  <a:pt x="1259903" y="1491615"/>
                </a:lnTo>
                <a:close/>
              </a:path>
            </a:pathLst>
          </a:custGeom>
          <a:solidFill>
            <a:srgbClr val="091F5F"/>
          </a:solidFill>
        </p:spPr>
        <p:txBody>
          <a:bodyPr wrap="square" lIns="0" tIns="0" rIns="0" bIns="0" rtlCol="0"/>
          <a:lstStyle/>
          <a:p>
            <a:pPr>
              <a:defRPr/>
            </a:pPr>
            <a:endParaRPr/>
          </a:p>
        </p:txBody>
      </p:sp>
      <p:sp>
        <p:nvSpPr>
          <p:cNvPr id="22" name="object 22">
            <a:extLst>
              <a:ext uri="{FF2B5EF4-FFF2-40B4-BE49-F238E27FC236}">
                <a16:creationId xmlns:a16="http://schemas.microsoft.com/office/drawing/2014/main" id="{406CE3E0-755E-A008-4B45-5B58A02B7717}"/>
              </a:ext>
            </a:extLst>
          </p:cNvPr>
          <p:cNvSpPr/>
          <p:nvPr/>
        </p:nvSpPr>
        <p:spPr bwMode="auto">
          <a:xfrm>
            <a:off x="9800844" y="238378"/>
            <a:ext cx="878840" cy="879475"/>
          </a:xfrm>
          <a:custGeom>
            <a:avLst/>
            <a:gdLst/>
            <a:ahLst/>
            <a:cxnLst/>
            <a:rect l="l" t="t" r="r" b="b"/>
            <a:pathLst>
              <a:path w="878840" h="879475" extrusionOk="0">
                <a:moveTo>
                  <a:pt x="438975" y="879474"/>
                </a:moveTo>
                <a:lnTo>
                  <a:pt x="367645" y="873719"/>
                </a:lnTo>
                <a:lnTo>
                  <a:pt x="299980" y="857057"/>
                </a:lnTo>
                <a:lnTo>
                  <a:pt x="236889" y="830392"/>
                </a:lnTo>
                <a:lnTo>
                  <a:pt x="179284" y="794631"/>
                </a:lnTo>
                <a:lnTo>
                  <a:pt x="128077" y="750679"/>
                </a:lnTo>
                <a:lnTo>
                  <a:pt x="84181" y="699441"/>
                </a:lnTo>
                <a:lnTo>
                  <a:pt x="48581" y="641975"/>
                </a:lnTo>
                <a:lnTo>
                  <a:pt x="22046" y="578956"/>
                </a:lnTo>
                <a:lnTo>
                  <a:pt x="5548" y="511389"/>
                </a:lnTo>
                <a:lnTo>
                  <a:pt x="0" y="440181"/>
                </a:lnTo>
                <a:lnTo>
                  <a:pt x="1349" y="404053"/>
                </a:lnTo>
                <a:lnTo>
                  <a:pt x="12485" y="334335"/>
                </a:lnTo>
                <a:lnTo>
                  <a:pt x="34115" y="268758"/>
                </a:lnTo>
                <a:lnTo>
                  <a:pt x="65411" y="208101"/>
                </a:lnTo>
                <a:lnTo>
                  <a:pt x="105285" y="153560"/>
                </a:lnTo>
                <a:lnTo>
                  <a:pt x="152918" y="105852"/>
                </a:lnTo>
                <a:lnTo>
                  <a:pt x="207405" y="65882"/>
                </a:lnTo>
                <a:lnTo>
                  <a:pt x="267839" y="34556"/>
                </a:lnTo>
                <a:lnTo>
                  <a:pt x="333310" y="12779"/>
                </a:lnTo>
                <a:lnTo>
                  <a:pt x="402911" y="1457"/>
                </a:lnTo>
                <a:lnTo>
                  <a:pt x="438975" y="0"/>
                </a:lnTo>
                <a:lnTo>
                  <a:pt x="475041" y="1457"/>
                </a:lnTo>
                <a:lnTo>
                  <a:pt x="544655" y="12781"/>
                </a:lnTo>
                <a:lnTo>
                  <a:pt x="610156" y="34563"/>
                </a:lnTo>
                <a:lnTo>
                  <a:pt x="670639" y="65901"/>
                </a:lnTo>
                <a:lnTo>
                  <a:pt x="725196" y="105892"/>
                </a:lnTo>
                <a:lnTo>
                  <a:pt x="772919" y="153634"/>
                </a:lnTo>
                <a:lnTo>
                  <a:pt x="812900" y="208223"/>
                </a:lnTo>
                <a:lnTo>
                  <a:pt x="844156" y="268571"/>
                </a:lnTo>
                <a:lnTo>
                  <a:pt x="865933" y="334062"/>
                </a:lnTo>
                <a:lnTo>
                  <a:pt x="877255" y="403671"/>
                </a:lnTo>
                <a:lnTo>
                  <a:pt x="878713" y="439737"/>
                </a:lnTo>
                <a:lnTo>
                  <a:pt x="877255" y="475803"/>
                </a:lnTo>
                <a:lnTo>
                  <a:pt x="865933" y="545412"/>
                </a:lnTo>
                <a:lnTo>
                  <a:pt x="844156" y="610903"/>
                </a:lnTo>
                <a:lnTo>
                  <a:pt x="812748" y="671495"/>
                </a:lnTo>
                <a:lnTo>
                  <a:pt x="772792" y="725988"/>
                </a:lnTo>
                <a:lnTo>
                  <a:pt x="725101" y="773663"/>
                </a:lnTo>
                <a:lnTo>
                  <a:pt x="670577" y="813611"/>
                </a:lnTo>
                <a:lnTo>
                  <a:pt x="610123" y="844925"/>
                </a:lnTo>
                <a:lnTo>
                  <a:pt x="544642" y="866696"/>
                </a:lnTo>
                <a:lnTo>
                  <a:pt x="475039" y="878017"/>
                </a:lnTo>
                <a:lnTo>
                  <a:pt x="438975" y="879474"/>
                </a:lnTo>
                <a:close/>
              </a:path>
            </a:pathLst>
          </a:custGeom>
          <a:solidFill>
            <a:srgbClr val="091F5F"/>
          </a:solidFill>
        </p:spPr>
        <p:txBody>
          <a:bodyPr wrap="square" lIns="0" tIns="0" rIns="0" bIns="0" rtlCol="0"/>
          <a:lstStyle/>
          <a:p>
            <a:pPr>
              <a:defRPr/>
            </a:pPr>
            <a:endParaRPr/>
          </a:p>
        </p:txBody>
      </p:sp>
      <p:pic>
        <p:nvPicPr>
          <p:cNvPr id="23" name="图片 22">
            <a:extLst>
              <a:ext uri="{FF2B5EF4-FFF2-40B4-BE49-F238E27FC236}">
                <a16:creationId xmlns:a16="http://schemas.microsoft.com/office/drawing/2014/main" id="{73D2A221-6713-F142-2070-40CA82C61381}"/>
              </a:ext>
            </a:extLst>
          </p:cNvPr>
          <p:cNvPicPr>
            <a:picLocks noChangeAspect="1"/>
          </p:cNvPicPr>
          <p:nvPr/>
        </p:nvPicPr>
        <p:blipFill>
          <a:blip r:embed="rId3"/>
          <a:stretch/>
        </p:blipFill>
        <p:spPr bwMode="auto">
          <a:xfrm>
            <a:off x="10497121" y="376206"/>
            <a:ext cx="1483997" cy="3396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10896" y="256032"/>
            <a:ext cx="45720" cy="749808"/>
          </a:xfrm>
          <a:prstGeom prst="rect">
            <a:avLst/>
          </a:prstGeom>
          <a:solidFill>
            <a:srgbClr val="07245E"/>
          </a:solidFill>
          <a:ln w="12700">
            <a:solidFill>
              <a:srgbClr val="07245E"/>
            </a:solidFill>
            <a:prstDash val="solid"/>
          </a:ln>
        </p:spPr>
      </p:sp>
      <p:sp>
        <p:nvSpPr>
          <p:cNvPr id="7" name="Text 5"/>
          <p:cNvSpPr/>
          <p:nvPr/>
        </p:nvSpPr>
        <p:spPr>
          <a:xfrm>
            <a:off x="530352" y="256032"/>
            <a:ext cx="3017520" cy="219456"/>
          </a:xfrm>
          <a:prstGeom prst="rect">
            <a:avLst/>
          </a:prstGeom>
          <a:noFill/>
          <a:ln/>
        </p:spPr>
        <p:txBody>
          <a:bodyPr wrap="square" lIns="0" tIns="0" rIns="0" bIns="0" rtlCol="0" anchor="ctr"/>
          <a:lstStyle/>
          <a:p>
            <a:r>
              <a:rPr lang="en-US" sz="1050" dirty="0">
                <a:solidFill>
                  <a:srgbClr val="32363A"/>
                </a:solidFill>
                <a:latin typeface="Arial" pitchFamily="34" charset="0"/>
                <a:cs typeface="Arial" pitchFamily="34" charset="-120"/>
              </a:rPr>
              <a:t>EMPIRICAL RESULTS / 02</a:t>
            </a:r>
          </a:p>
        </p:txBody>
      </p:sp>
      <p:sp>
        <p:nvSpPr>
          <p:cNvPr id="9" name="Text 7"/>
          <p:cNvSpPr/>
          <p:nvPr/>
        </p:nvSpPr>
        <p:spPr>
          <a:xfrm>
            <a:off x="530352" y="512064"/>
            <a:ext cx="8686800" cy="384048"/>
          </a:xfrm>
          <a:prstGeom prst="rect">
            <a:avLst/>
          </a:prstGeom>
          <a:noFill/>
          <a:ln/>
        </p:spPr>
        <p:txBody>
          <a:bodyPr wrap="square" lIns="0" tIns="0" rIns="0" bIns="0" rtlCol="0" anchor="ctr"/>
          <a:lstStyle/>
          <a:p>
            <a:r>
              <a:rPr lang="en-US" sz="2400" b="1" dirty="0" err="1">
                <a:solidFill>
                  <a:srgbClr val="32363A"/>
                </a:solidFill>
                <a:latin typeface="Microsoft YaHei" pitchFamily="34" charset="0"/>
                <a:ea typeface="Microsoft YaHei" pitchFamily="34" charset="-122"/>
              </a:rPr>
              <a:t>表四：煤炭占比下降，但不等于结构性去煤完成</a:t>
            </a:r>
            <a:endParaRPr lang="en-US" sz="2400" b="1" dirty="0">
              <a:solidFill>
                <a:srgbClr val="32363A"/>
              </a:solidFill>
              <a:latin typeface="Microsoft YaHei" pitchFamily="34" charset="0"/>
              <a:ea typeface="Microsoft YaHei" pitchFamily="34" charset="-122"/>
            </a:endParaRPr>
          </a:p>
        </p:txBody>
      </p:sp>
      <p:sp>
        <p:nvSpPr>
          <p:cNvPr id="10" name="Text 8"/>
          <p:cNvSpPr/>
          <p:nvPr/>
        </p:nvSpPr>
        <p:spPr>
          <a:xfrm>
            <a:off x="530352" y="987552"/>
            <a:ext cx="8778240" cy="256032"/>
          </a:xfrm>
          <a:prstGeom prst="rect">
            <a:avLst/>
          </a:prstGeom>
          <a:noFill/>
          <a:ln/>
        </p:spPr>
        <p:txBody>
          <a:bodyPr wrap="square" lIns="0" tIns="0" rIns="0" bIns="0" rtlCol="0" anchor="ctr"/>
          <a:lstStyle/>
          <a:p>
            <a:pPr marL="0" indent="0">
              <a:buNone/>
            </a:pPr>
            <a:r>
              <a:rPr lang="en-US" sz="1050" dirty="0">
                <a:solidFill>
                  <a:srgbClr val="6B7280"/>
                </a:solidFill>
                <a:latin typeface="Microsoft YaHei" pitchFamily="34" charset="0"/>
                <a:ea typeface="Microsoft YaHei" pitchFamily="34" charset="-122"/>
              </a:rPr>
              <a:t>同一连续煤炭暴露度 </a:t>
            </a:r>
            <a:r>
              <a:rPr lang="en-US" sz="1050" dirty="0" err="1">
                <a:solidFill>
                  <a:srgbClr val="6B7280"/>
                </a:solidFill>
                <a:latin typeface="Microsoft YaHei" pitchFamily="34" charset="0"/>
                <a:ea typeface="Microsoft YaHei" pitchFamily="34" charset="-122"/>
              </a:rPr>
              <a:t>DID；</a:t>
            </a:r>
            <a:r>
              <a:rPr lang="en-US" sz="1050" u="sng" dirty="0" err="1">
                <a:solidFill>
                  <a:srgbClr val="6B7280"/>
                </a:solidFill>
                <a:latin typeface="Microsoft YaHei" pitchFamily="34" charset="0"/>
                <a:ea typeface="Microsoft YaHei" pitchFamily="34" charset="-122"/>
              </a:rPr>
              <a:t>检验煤炭消费比例、碳排放和火电结构是否同步变化</a:t>
            </a:r>
            <a:r>
              <a:rPr lang="en-US" sz="1050" u="sng" dirty="0">
                <a:solidFill>
                  <a:srgbClr val="6B7280"/>
                </a:solidFill>
                <a:latin typeface="Microsoft YaHei" pitchFamily="34" charset="0"/>
                <a:ea typeface="Microsoft YaHei" pitchFamily="34" charset="-122"/>
              </a:rPr>
              <a:t>。</a:t>
            </a:r>
          </a:p>
        </p:txBody>
      </p:sp>
      <p:sp>
        <p:nvSpPr>
          <p:cNvPr id="11" name="Shape 9"/>
          <p:cNvSpPr/>
          <p:nvPr/>
        </p:nvSpPr>
        <p:spPr>
          <a:xfrm>
            <a:off x="530352" y="1592770"/>
            <a:ext cx="10716768" cy="374904"/>
          </a:xfrm>
          <a:prstGeom prst="roundRect">
            <a:avLst>
              <a:gd name="adj" fmla="val 18750"/>
            </a:avLst>
          </a:prstGeom>
          <a:solidFill>
            <a:srgbClr val="07245E"/>
          </a:solidFill>
          <a:ln w="12700">
            <a:solidFill>
              <a:srgbClr val="07245E"/>
            </a:solidFill>
            <a:prstDash val="solid"/>
          </a:ln>
        </p:spPr>
      </p:sp>
      <p:sp>
        <p:nvSpPr>
          <p:cNvPr id="12" name="Text 10"/>
          <p:cNvSpPr/>
          <p:nvPr/>
        </p:nvSpPr>
        <p:spPr>
          <a:xfrm>
            <a:off x="585216" y="1711642"/>
            <a:ext cx="10771632" cy="137160"/>
          </a:xfrm>
          <a:prstGeom prst="rect">
            <a:avLst/>
          </a:prstGeom>
          <a:noFill/>
          <a:ln/>
        </p:spPr>
        <p:txBody>
          <a:bodyPr wrap="square" lIns="0" tIns="0" rIns="0" bIns="0" rtlCol="0" anchor="ctr"/>
          <a:lstStyle/>
          <a:p>
            <a:pPr marL="0" indent="0">
              <a:buNone/>
            </a:pPr>
            <a:r>
              <a:rPr lang="en-US" sz="1400" b="1" dirty="0">
                <a:solidFill>
                  <a:srgbClr val="FFFFFF"/>
                </a:solidFill>
                <a:latin typeface="Microsoft YaHei" pitchFamily="34" charset="0"/>
                <a:ea typeface="Microsoft YaHei" pitchFamily="34" charset="-122"/>
                <a:cs typeface="Microsoft YaHei" pitchFamily="34" charset="-120"/>
              </a:rPr>
              <a:t>表四：从约束性治理到结构性治理</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2420266259"/>
              </p:ext>
            </p:extLst>
          </p:nvPr>
        </p:nvGraphicFramePr>
        <p:xfrm>
          <a:off x="530352" y="1940242"/>
          <a:ext cx="10716768" cy="1965960"/>
        </p:xfrm>
        <a:graphic>
          <a:graphicData uri="http://schemas.openxmlformats.org/drawingml/2006/table">
            <a:tbl>
              <a:tblPr/>
              <a:tblGrid>
                <a:gridCol w="1325880">
                  <a:extLst>
                    <a:ext uri="{9D8B030D-6E8A-4147-A177-3AD203B41FA5}">
                      <a16:colId xmlns:a16="http://schemas.microsoft.com/office/drawing/2014/main" val="20000"/>
                    </a:ext>
                  </a:extLst>
                </a:gridCol>
                <a:gridCol w="1901952">
                  <a:extLst>
                    <a:ext uri="{9D8B030D-6E8A-4147-A177-3AD203B41FA5}">
                      <a16:colId xmlns:a16="http://schemas.microsoft.com/office/drawing/2014/main" val="20001"/>
                    </a:ext>
                  </a:extLst>
                </a:gridCol>
                <a:gridCol w="1901952">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901952">
                  <a:extLst>
                    <a:ext uri="{9D8B030D-6E8A-4147-A177-3AD203B41FA5}">
                      <a16:colId xmlns:a16="http://schemas.microsoft.com/office/drawing/2014/main" val="20004"/>
                    </a:ext>
                  </a:extLst>
                </a:gridCol>
                <a:gridCol w="1901952">
                  <a:extLst>
                    <a:ext uri="{9D8B030D-6E8A-4147-A177-3AD203B41FA5}">
                      <a16:colId xmlns:a16="http://schemas.microsoft.com/office/drawing/2014/main" val="20005"/>
                    </a:ext>
                  </a:extLst>
                </a:gridCol>
              </a:tblGrid>
              <a:tr h="327660">
                <a:tc>
                  <a:txBody>
                    <a:bodyPr/>
                    <a:lstStyle/>
                    <a:p>
                      <a:pPr marL="0" indent="0" algn="ctr">
                        <a:buNone/>
                      </a:pPr>
                      <a:r>
                        <a:rPr lang="en-US" sz="1200" b="1" dirty="0">
                          <a:solidFill>
                            <a:srgbClr val="32363A"/>
                          </a:solidFill>
                          <a:latin typeface="Microsoft YaHei" pitchFamily="34" charset="0"/>
                          <a:ea typeface="Microsoft YaHei" pitchFamily="34" charset="-122"/>
                          <a:cs typeface="Microsoft YaHei" pitchFamily="34" charset="-120"/>
                        </a:rPr>
                        <a:t>变量</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32363A"/>
                          </a:solidFill>
                          <a:latin typeface="Microsoft YaHei" pitchFamily="34" charset="0"/>
                          <a:ea typeface="Microsoft YaHei" pitchFamily="34" charset="-122"/>
                          <a:cs typeface="Microsoft YaHei" pitchFamily="34" charset="-120"/>
                        </a:rPr>
                        <a:t>五类能源煤炭占比</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32363A"/>
                          </a:solidFill>
                          <a:latin typeface="Microsoft YaHei" pitchFamily="34" charset="0"/>
                          <a:ea typeface="Microsoft YaHei" pitchFamily="34" charset="-122"/>
                          <a:cs typeface="Microsoft YaHei" pitchFamily="34" charset="-120"/>
                        </a:rPr>
                        <a:t>原口径煤炭占比</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32363A"/>
                          </a:solidFill>
                          <a:latin typeface="Microsoft YaHei" pitchFamily="34" charset="0"/>
                          <a:ea typeface="Microsoft YaHei" pitchFamily="34" charset="-122"/>
                          <a:cs typeface="Microsoft YaHei" pitchFamily="34" charset="-120"/>
                        </a:rPr>
                        <a:t>CO₂排放对数</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32363A"/>
                          </a:solidFill>
                          <a:latin typeface="Microsoft YaHei" pitchFamily="34" charset="0"/>
                          <a:ea typeface="Microsoft YaHei" pitchFamily="34" charset="-122"/>
                          <a:cs typeface="Microsoft YaHei" pitchFamily="34" charset="-120"/>
                        </a:rPr>
                        <a:t>火电装机占比</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32363A"/>
                          </a:solidFill>
                          <a:latin typeface="Microsoft YaHei" pitchFamily="34" charset="0"/>
                          <a:ea typeface="Microsoft YaHei" pitchFamily="34" charset="-122"/>
                          <a:cs typeface="Microsoft YaHei" pitchFamily="34" charset="-120"/>
                        </a:rPr>
                        <a:t>火电发电占比</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27660">
                <a:tc>
                  <a:txBody>
                    <a:bodyPr/>
                    <a:lstStyle/>
                    <a:p>
                      <a:pPr marL="0" indent="0" algn="l">
                        <a:buNone/>
                      </a:pPr>
                      <a:r>
                        <a:rPr lang="en-US" sz="1200" b="1" dirty="0">
                          <a:solidFill>
                            <a:srgbClr val="32363A"/>
                          </a:solidFill>
                          <a:latin typeface="Microsoft YaHei" pitchFamily="34" charset="0"/>
                          <a:ea typeface="Microsoft YaHei" pitchFamily="34" charset="-122"/>
                          <a:cs typeface="Microsoft YaHei" pitchFamily="34" charset="-120"/>
                        </a:rPr>
                        <a:t>政策后×煤炭暴露</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6F8FC"/>
                    </a:solidFill>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-0.2495***</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-0.1900***</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-0.0982</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0.0517</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0.0888</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extLst>
                  <a:ext uri="{0D108BD9-81ED-4DB2-BD59-A6C34878D82A}">
                    <a16:rowId xmlns:a16="http://schemas.microsoft.com/office/drawing/2014/main" val="10001"/>
                  </a:ext>
                </a:extLst>
              </a:tr>
              <a:tr h="327660">
                <a:tc>
                  <a:txBody>
                    <a:bodyPr/>
                    <a:lstStyle/>
                    <a:p>
                      <a:pPr marL="0" indent="0" algn="l">
                        <a:buNone/>
                      </a:pPr>
                      <a:r>
                        <a:rPr lang="en-US" sz="1200" dirty="0">
                          <a:solidFill>
                            <a:srgbClr val="32363A"/>
                          </a:solidFill>
                          <a:latin typeface="Microsoft YaHei" pitchFamily="34" charset="0"/>
                          <a:ea typeface="Microsoft YaHei" pitchFamily="34" charset="-122"/>
                          <a:cs typeface="Microsoft YaHei" pitchFamily="34" charset="-120"/>
                        </a:rPr>
                        <a:t>标准误</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(0.0754)</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(0.0651)</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(0.1034)</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(0.0945)</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(0.0754)</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extLst>
                  <a:ext uri="{0D108BD9-81ED-4DB2-BD59-A6C34878D82A}">
                    <a16:rowId xmlns:a16="http://schemas.microsoft.com/office/drawing/2014/main" val="10002"/>
                  </a:ext>
                </a:extLst>
              </a:tr>
              <a:tr h="327660">
                <a:tc>
                  <a:txBody>
                    <a:bodyPr/>
                    <a:lstStyle/>
                    <a:p>
                      <a:pPr marL="0" indent="0" algn="l">
                        <a:buNone/>
                      </a:pPr>
                      <a:r>
                        <a:rPr lang="en-US" sz="1200" dirty="0">
                          <a:solidFill>
                            <a:srgbClr val="32363A"/>
                          </a:solidFill>
                          <a:latin typeface="Microsoft YaHei" pitchFamily="34" charset="0"/>
                          <a:ea typeface="Microsoft YaHei" pitchFamily="34" charset="-122"/>
                          <a:cs typeface="Microsoft YaHei" pitchFamily="34" charset="-120"/>
                        </a:rPr>
                        <a:t>样本量</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480</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480</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510</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510</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507</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extLst>
                  <a:ext uri="{0D108BD9-81ED-4DB2-BD59-A6C34878D82A}">
                    <a16:rowId xmlns:a16="http://schemas.microsoft.com/office/drawing/2014/main" val="10003"/>
                  </a:ext>
                </a:extLst>
              </a:tr>
              <a:tr h="327660">
                <a:tc>
                  <a:txBody>
                    <a:bodyPr/>
                    <a:lstStyle/>
                    <a:p>
                      <a:pPr marL="0" indent="0" algn="l">
                        <a:buNone/>
                      </a:pPr>
                      <a:r>
                        <a:rPr lang="en-US" sz="1200" dirty="0">
                          <a:solidFill>
                            <a:srgbClr val="32363A"/>
                          </a:solidFill>
                          <a:latin typeface="Microsoft YaHei" pitchFamily="34" charset="0"/>
                          <a:ea typeface="Microsoft YaHei" pitchFamily="34" charset="-122"/>
                          <a:cs typeface="Microsoft YaHei" pitchFamily="34" charset="-120"/>
                        </a:rPr>
                        <a:t>R²</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0.9224</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0.9382</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0.9904</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0.9368</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0.9478</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extLst>
                  <a:ext uri="{0D108BD9-81ED-4DB2-BD59-A6C34878D82A}">
                    <a16:rowId xmlns:a16="http://schemas.microsoft.com/office/drawing/2014/main" val="10004"/>
                  </a:ext>
                </a:extLst>
              </a:tr>
              <a:tr h="327660">
                <a:tc>
                  <a:txBody>
                    <a:bodyPr/>
                    <a:lstStyle/>
                    <a:p>
                      <a:pPr marL="0" indent="0" algn="l">
                        <a:buNone/>
                      </a:pPr>
                      <a:r>
                        <a:rPr lang="en-US" sz="1200" dirty="0">
                          <a:solidFill>
                            <a:srgbClr val="32363A"/>
                          </a:solidFill>
                          <a:latin typeface="Microsoft YaHei" pitchFamily="34" charset="0"/>
                          <a:ea typeface="Microsoft YaHei" pitchFamily="34" charset="-122"/>
                          <a:cs typeface="Microsoft YaHei" pitchFamily="34" charset="-120"/>
                        </a:rPr>
                        <a:t>省份/年份FE</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是</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是</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是</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是</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marL="0" indent="0" algn="ctr">
                        <a:buNone/>
                      </a:pPr>
                      <a:r>
                        <a:rPr lang="en-US" sz="1200" dirty="0">
                          <a:solidFill>
                            <a:srgbClr val="32363A"/>
                          </a:solidFill>
                          <a:latin typeface="Microsoft YaHei" pitchFamily="34" charset="0"/>
                          <a:ea typeface="Microsoft YaHei" pitchFamily="34" charset="-122"/>
                          <a:cs typeface="Microsoft YaHei" pitchFamily="34" charset="-120"/>
                        </a:rPr>
                        <a:t>是</a:t>
                      </a:r>
                      <a:endParaRPr lang="en-US" sz="12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7" name="Text 14"/>
          <p:cNvSpPr/>
          <p:nvPr/>
        </p:nvSpPr>
        <p:spPr>
          <a:xfrm>
            <a:off x="530352" y="3942778"/>
            <a:ext cx="11201400" cy="164592"/>
          </a:xfrm>
          <a:prstGeom prst="rect">
            <a:avLst/>
          </a:prstGeom>
          <a:noFill/>
          <a:ln/>
        </p:spPr>
        <p:txBody>
          <a:bodyPr wrap="square" lIns="0" tIns="0" rIns="0" bIns="0" rtlCol="0" anchor="ctr"/>
          <a:lstStyle/>
          <a:p>
            <a:pPr marL="0" indent="0">
              <a:buNone/>
            </a:pPr>
            <a:r>
              <a:rPr lang="en-US" sz="900" dirty="0">
                <a:solidFill>
                  <a:srgbClr val="6B7280"/>
                </a:solidFill>
                <a:latin typeface="Microsoft YaHei" pitchFamily="34" charset="0"/>
                <a:ea typeface="Microsoft YaHei" pitchFamily="34" charset="-122"/>
                <a:cs typeface="Microsoft YaHei" pitchFamily="34" charset="-120"/>
              </a:rPr>
              <a:t>注：表中结构变量使用连续煤炭暴露度DID；火电发电占比存在政策前趋势问题，在论文中作为结构锁定边界证据而非强因果证据。</a:t>
            </a:r>
            <a:endParaRPr lang="en-US" sz="900" dirty="0"/>
          </a:p>
        </p:txBody>
      </p:sp>
      <p:sp>
        <p:nvSpPr>
          <p:cNvPr id="18" name="object 21">
            <a:extLst>
              <a:ext uri="{FF2B5EF4-FFF2-40B4-BE49-F238E27FC236}">
                <a16:creationId xmlns:a16="http://schemas.microsoft.com/office/drawing/2014/main" id="{3E882393-0107-968E-A0A0-1DF1149B576C}"/>
              </a:ext>
            </a:extLst>
          </p:cNvPr>
          <p:cNvSpPr/>
          <p:nvPr/>
        </p:nvSpPr>
        <p:spPr bwMode="auto">
          <a:xfrm>
            <a:off x="10232136" y="-15430"/>
            <a:ext cx="1979930" cy="1491615"/>
          </a:xfrm>
          <a:custGeom>
            <a:avLst/>
            <a:gdLst/>
            <a:ahLst/>
            <a:cxnLst/>
            <a:rect l="l" t="t" r="r" b="b"/>
            <a:pathLst>
              <a:path w="1979929" h="1491615" extrusionOk="0">
                <a:moveTo>
                  <a:pt x="1259903" y="1491615"/>
                </a:moveTo>
                <a:lnTo>
                  <a:pt x="1156551" y="1487437"/>
                </a:lnTo>
                <a:lnTo>
                  <a:pt x="1055500" y="1475121"/>
                </a:lnTo>
                <a:lnTo>
                  <a:pt x="957073" y="1454991"/>
                </a:lnTo>
                <a:lnTo>
                  <a:pt x="861596" y="1427370"/>
                </a:lnTo>
                <a:lnTo>
                  <a:pt x="769393" y="1392584"/>
                </a:lnTo>
                <a:lnTo>
                  <a:pt x="680788" y="1350957"/>
                </a:lnTo>
                <a:lnTo>
                  <a:pt x="596107" y="1302813"/>
                </a:lnTo>
                <a:lnTo>
                  <a:pt x="515689" y="1248488"/>
                </a:lnTo>
                <a:lnTo>
                  <a:pt x="439832" y="1188288"/>
                </a:lnTo>
                <a:lnTo>
                  <a:pt x="368871" y="1122545"/>
                </a:lnTo>
                <a:lnTo>
                  <a:pt x="303132" y="1051583"/>
                </a:lnTo>
                <a:lnTo>
                  <a:pt x="242939" y="975728"/>
                </a:lnTo>
                <a:lnTo>
                  <a:pt x="188617" y="895304"/>
                </a:lnTo>
                <a:lnTo>
                  <a:pt x="140490" y="810635"/>
                </a:lnTo>
                <a:lnTo>
                  <a:pt x="98883" y="722045"/>
                </a:lnTo>
                <a:lnTo>
                  <a:pt x="64120" y="629860"/>
                </a:lnTo>
                <a:lnTo>
                  <a:pt x="36525" y="534403"/>
                </a:lnTo>
                <a:lnTo>
                  <a:pt x="16424" y="435999"/>
                </a:lnTo>
                <a:lnTo>
                  <a:pt x="4141" y="334972"/>
                </a:lnTo>
                <a:lnTo>
                  <a:pt x="0" y="231647"/>
                </a:lnTo>
                <a:lnTo>
                  <a:pt x="4141" y="128269"/>
                </a:lnTo>
                <a:lnTo>
                  <a:pt x="16424" y="27193"/>
                </a:lnTo>
                <a:lnTo>
                  <a:pt x="21977" y="0"/>
                </a:lnTo>
                <a:lnTo>
                  <a:pt x="1979676" y="0"/>
                </a:lnTo>
                <a:lnTo>
                  <a:pt x="1979676" y="1264998"/>
                </a:lnTo>
                <a:lnTo>
                  <a:pt x="1923683" y="1302821"/>
                </a:lnTo>
                <a:lnTo>
                  <a:pt x="1839004" y="1350962"/>
                </a:lnTo>
                <a:lnTo>
                  <a:pt x="1750403" y="1392587"/>
                </a:lnTo>
                <a:lnTo>
                  <a:pt x="1658203" y="1427372"/>
                </a:lnTo>
                <a:lnTo>
                  <a:pt x="1562728" y="1454991"/>
                </a:lnTo>
                <a:lnTo>
                  <a:pt x="1464304" y="1475121"/>
                </a:lnTo>
                <a:lnTo>
                  <a:pt x="1363254" y="1487437"/>
                </a:lnTo>
                <a:lnTo>
                  <a:pt x="1259903" y="1491615"/>
                </a:lnTo>
                <a:close/>
              </a:path>
            </a:pathLst>
          </a:custGeom>
          <a:solidFill>
            <a:srgbClr val="091F5F"/>
          </a:solidFill>
        </p:spPr>
        <p:txBody>
          <a:bodyPr wrap="square" lIns="0" tIns="0" rIns="0" bIns="0" rtlCol="0"/>
          <a:lstStyle/>
          <a:p>
            <a:pPr>
              <a:defRPr/>
            </a:pPr>
            <a:endParaRPr/>
          </a:p>
        </p:txBody>
      </p:sp>
      <p:sp>
        <p:nvSpPr>
          <p:cNvPr id="19" name="object 22">
            <a:extLst>
              <a:ext uri="{FF2B5EF4-FFF2-40B4-BE49-F238E27FC236}">
                <a16:creationId xmlns:a16="http://schemas.microsoft.com/office/drawing/2014/main" id="{12CC8071-B819-8FD1-E5BD-14FD8BF3DFB9}"/>
              </a:ext>
            </a:extLst>
          </p:cNvPr>
          <p:cNvSpPr/>
          <p:nvPr/>
        </p:nvSpPr>
        <p:spPr bwMode="auto">
          <a:xfrm>
            <a:off x="9800844" y="242379"/>
            <a:ext cx="878840" cy="879475"/>
          </a:xfrm>
          <a:custGeom>
            <a:avLst/>
            <a:gdLst/>
            <a:ahLst/>
            <a:cxnLst/>
            <a:rect l="l" t="t" r="r" b="b"/>
            <a:pathLst>
              <a:path w="878840" h="879475" extrusionOk="0">
                <a:moveTo>
                  <a:pt x="438975" y="879474"/>
                </a:moveTo>
                <a:lnTo>
                  <a:pt x="367645" y="873719"/>
                </a:lnTo>
                <a:lnTo>
                  <a:pt x="299980" y="857057"/>
                </a:lnTo>
                <a:lnTo>
                  <a:pt x="236889" y="830392"/>
                </a:lnTo>
                <a:lnTo>
                  <a:pt x="179284" y="794631"/>
                </a:lnTo>
                <a:lnTo>
                  <a:pt x="128077" y="750679"/>
                </a:lnTo>
                <a:lnTo>
                  <a:pt x="84181" y="699441"/>
                </a:lnTo>
                <a:lnTo>
                  <a:pt x="48581" y="641975"/>
                </a:lnTo>
                <a:lnTo>
                  <a:pt x="22046" y="578956"/>
                </a:lnTo>
                <a:lnTo>
                  <a:pt x="5548" y="511389"/>
                </a:lnTo>
                <a:lnTo>
                  <a:pt x="0" y="440181"/>
                </a:lnTo>
                <a:lnTo>
                  <a:pt x="1349" y="404053"/>
                </a:lnTo>
                <a:lnTo>
                  <a:pt x="12485" y="334335"/>
                </a:lnTo>
                <a:lnTo>
                  <a:pt x="34115" y="268758"/>
                </a:lnTo>
                <a:lnTo>
                  <a:pt x="65411" y="208101"/>
                </a:lnTo>
                <a:lnTo>
                  <a:pt x="105285" y="153560"/>
                </a:lnTo>
                <a:lnTo>
                  <a:pt x="152918" y="105852"/>
                </a:lnTo>
                <a:lnTo>
                  <a:pt x="207405" y="65882"/>
                </a:lnTo>
                <a:lnTo>
                  <a:pt x="267839" y="34556"/>
                </a:lnTo>
                <a:lnTo>
                  <a:pt x="333310" y="12779"/>
                </a:lnTo>
                <a:lnTo>
                  <a:pt x="402911" y="1457"/>
                </a:lnTo>
                <a:lnTo>
                  <a:pt x="438975" y="0"/>
                </a:lnTo>
                <a:lnTo>
                  <a:pt x="475041" y="1457"/>
                </a:lnTo>
                <a:lnTo>
                  <a:pt x="544655" y="12781"/>
                </a:lnTo>
                <a:lnTo>
                  <a:pt x="610156" y="34563"/>
                </a:lnTo>
                <a:lnTo>
                  <a:pt x="670639" y="65901"/>
                </a:lnTo>
                <a:lnTo>
                  <a:pt x="725196" y="105892"/>
                </a:lnTo>
                <a:lnTo>
                  <a:pt x="772919" y="153634"/>
                </a:lnTo>
                <a:lnTo>
                  <a:pt x="812900" y="208223"/>
                </a:lnTo>
                <a:lnTo>
                  <a:pt x="844156" y="268571"/>
                </a:lnTo>
                <a:lnTo>
                  <a:pt x="865933" y="334062"/>
                </a:lnTo>
                <a:lnTo>
                  <a:pt x="877255" y="403671"/>
                </a:lnTo>
                <a:lnTo>
                  <a:pt x="878713" y="439737"/>
                </a:lnTo>
                <a:lnTo>
                  <a:pt x="877255" y="475803"/>
                </a:lnTo>
                <a:lnTo>
                  <a:pt x="865933" y="545412"/>
                </a:lnTo>
                <a:lnTo>
                  <a:pt x="844156" y="610903"/>
                </a:lnTo>
                <a:lnTo>
                  <a:pt x="812748" y="671495"/>
                </a:lnTo>
                <a:lnTo>
                  <a:pt x="772792" y="725988"/>
                </a:lnTo>
                <a:lnTo>
                  <a:pt x="725101" y="773663"/>
                </a:lnTo>
                <a:lnTo>
                  <a:pt x="670577" y="813611"/>
                </a:lnTo>
                <a:lnTo>
                  <a:pt x="610123" y="844925"/>
                </a:lnTo>
                <a:lnTo>
                  <a:pt x="544642" y="866696"/>
                </a:lnTo>
                <a:lnTo>
                  <a:pt x="475039" y="878017"/>
                </a:lnTo>
                <a:lnTo>
                  <a:pt x="438975" y="879474"/>
                </a:lnTo>
                <a:close/>
              </a:path>
            </a:pathLst>
          </a:custGeom>
          <a:solidFill>
            <a:srgbClr val="091F5F"/>
          </a:solidFill>
        </p:spPr>
        <p:txBody>
          <a:bodyPr wrap="square" lIns="0" tIns="0" rIns="0" bIns="0" rtlCol="0"/>
          <a:lstStyle/>
          <a:p>
            <a:pPr>
              <a:defRPr/>
            </a:pPr>
            <a:endParaRPr/>
          </a:p>
        </p:txBody>
      </p:sp>
      <p:pic>
        <p:nvPicPr>
          <p:cNvPr id="20" name="图片 19">
            <a:extLst>
              <a:ext uri="{FF2B5EF4-FFF2-40B4-BE49-F238E27FC236}">
                <a16:creationId xmlns:a16="http://schemas.microsoft.com/office/drawing/2014/main" id="{3E17E731-8992-C599-0C8C-53940D4C7C65}"/>
              </a:ext>
            </a:extLst>
          </p:cNvPr>
          <p:cNvPicPr>
            <a:picLocks noChangeAspect="1"/>
          </p:cNvPicPr>
          <p:nvPr/>
        </p:nvPicPr>
        <p:blipFill>
          <a:blip r:embed="rId3"/>
          <a:stretch/>
        </p:blipFill>
        <p:spPr bwMode="auto">
          <a:xfrm>
            <a:off x="10497121" y="380207"/>
            <a:ext cx="1483997" cy="339652"/>
          </a:xfrm>
          <a:prstGeom prst="rect">
            <a:avLst/>
          </a:prstGeom>
        </p:spPr>
      </p:pic>
      <p:sp>
        <p:nvSpPr>
          <p:cNvPr id="22" name="文本框 21">
            <a:extLst>
              <a:ext uri="{FF2B5EF4-FFF2-40B4-BE49-F238E27FC236}">
                <a16:creationId xmlns:a16="http://schemas.microsoft.com/office/drawing/2014/main" id="{D092E01E-90B5-9B7D-EA67-CFF92FE907D1}"/>
              </a:ext>
            </a:extLst>
          </p:cNvPr>
          <p:cNvSpPr txBox="1"/>
          <p:nvPr/>
        </p:nvSpPr>
        <p:spPr>
          <a:xfrm>
            <a:off x="1041645" y="4724018"/>
            <a:ext cx="9858773" cy="1477328"/>
          </a:xfrm>
          <a:prstGeom prst="rect">
            <a:avLst/>
          </a:prstGeom>
          <a:noFill/>
        </p:spPr>
        <p:txBody>
          <a:bodyPr wrap="square">
            <a:spAutoFit/>
          </a:bodyPr>
          <a:lstStyle/>
          <a:p>
            <a:pPr algn="just"/>
            <a:r>
              <a:rPr lang="zh-CN" altLang="zh-CN" b="1" dirty="0">
                <a:solidFill>
                  <a:srgbClr val="32363A"/>
                </a:solidFill>
                <a:latin typeface="Microsoft YaHei" pitchFamily="34" charset="0"/>
                <a:ea typeface="Microsoft YaHei" pitchFamily="34" charset="-122"/>
              </a:rPr>
              <a:t>绿色信贷推动煤炭消费占比下降，但深层火电结构和碳排放路径尚未同步调整。</a:t>
            </a:r>
            <a:endParaRPr lang="en-US" altLang="zh-CN" b="1" dirty="0">
              <a:solidFill>
                <a:srgbClr val="32363A"/>
              </a:solidFill>
              <a:latin typeface="Microsoft YaHei" pitchFamily="34" charset="0"/>
              <a:ea typeface="Microsoft YaHei" pitchFamily="34" charset="-122"/>
            </a:endParaRPr>
          </a:p>
          <a:p>
            <a:pPr algn="just"/>
            <a:endParaRPr lang="en-US" altLang="zh-CN" b="1" dirty="0">
              <a:solidFill>
                <a:srgbClr val="32363A"/>
              </a:solidFill>
              <a:latin typeface="Microsoft YaHei" pitchFamily="34" charset="0"/>
              <a:ea typeface="Microsoft YaHei" pitchFamily="34" charset="-122"/>
            </a:endParaRPr>
          </a:p>
          <a:p>
            <a:pPr algn="just"/>
            <a:r>
              <a:rPr lang="zh-CN" altLang="zh-CN" dirty="0">
                <a:solidFill>
                  <a:srgbClr val="32363A"/>
                </a:solidFill>
                <a:latin typeface="Microsoft YaHei" pitchFamily="34" charset="0"/>
                <a:ea typeface="Microsoft YaHei" pitchFamily="34" charset="-122"/>
              </a:rPr>
              <a:t>结果显示，五类能源口径煤炭占比和原口径煤炭占比都显著下降，说明绿色信贷的影响已经进入能源消费结构层面。但 CO₂、火电装机占比和火电发电占比没有同步显著变化，说明更深层的能源资本结构和发电结构调整仍需要更长周期和更多条件支撑。</a:t>
            </a:r>
            <a:endParaRPr lang="zh-CN" altLang="en-US" dirty="0">
              <a:solidFill>
                <a:srgbClr val="32363A"/>
              </a:solidFill>
              <a:latin typeface="Microsoft YaHei" pitchFamily="34" charset="0"/>
              <a:ea typeface="Microsoft YaHei"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10896" y="256032"/>
            <a:ext cx="45720" cy="749808"/>
          </a:xfrm>
          <a:prstGeom prst="rect">
            <a:avLst/>
          </a:prstGeom>
          <a:solidFill>
            <a:srgbClr val="07245E"/>
          </a:solidFill>
          <a:ln w="12700">
            <a:solidFill>
              <a:srgbClr val="07245E"/>
            </a:solidFill>
            <a:prstDash val="solid"/>
          </a:ln>
        </p:spPr>
      </p:sp>
      <p:sp>
        <p:nvSpPr>
          <p:cNvPr id="7" name="Text 5"/>
          <p:cNvSpPr/>
          <p:nvPr/>
        </p:nvSpPr>
        <p:spPr>
          <a:xfrm>
            <a:off x="530352" y="256032"/>
            <a:ext cx="3017520" cy="219456"/>
          </a:xfrm>
          <a:prstGeom prst="rect">
            <a:avLst/>
          </a:prstGeom>
          <a:noFill/>
          <a:ln/>
        </p:spPr>
        <p:txBody>
          <a:bodyPr wrap="square" lIns="0" tIns="0" rIns="0" bIns="0" rtlCol="0" anchor="ctr"/>
          <a:lstStyle/>
          <a:p>
            <a:pPr marL="0" indent="0">
              <a:buNone/>
            </a:pPr>
            <a:r>
              <a:rPr lang="en-US" sz="1050" dirty="0">
                <a:solidFill>
                  <a:srgbClr val="32363A"/>
                </a:solidFill>
                <a:latin typeface="Arial" pitchFamily="34" charset="0"/>
                <a:cs typeface="Arial" pitchFamily="34" charset="-120"/>
              </a:rPr>
              <a:t>EMPIRICAL RESULTS / 03</a:t>
            </a:r>
          </a:p>
        </p:txBody>
      </p:sp>
      <p:sp>
        <p:nvSpPr>
          <p:cNvPr id="9" name="Text 7"/>
          <p:cNvSpPr/>
          <p:nvPr/>
        </p:nvSpPr>
        <p:spPr>
          <a:xfrm>
            <a:off x="530352" y="512064"/>
            <a:ext cx="8686800" cy="384048"/>
          </a:xfrm>
          <a:prstGeom prst="rect">
            <a:avLst/>
          </a:prstGeom>
          <a:noFill/>
          <a:ln/>
        </p:spPr>
        <p:txBody>
          <a:bodyPr wrap="square" lIns="0" tIns="0" rIns="0" bIns="0" rtlCol="0" anchor="ctr"/>
          <a:lstStyle/>
          <a:p>
            <a:pPr marL="0" indent="0">
              <a:buNone/>
            </a:pPr>
            <a:r>
              <a:rPr lang="en-US" sz="2400" b="1" dirty="0" err="1">
                <a:solidFill>
                  <a:srgbClr val="32363A"/>
                </a:solidFill>
                <a:latin typeface="Microsoft YaHei" pitchFamily="34" charset="0"/>
                <a:ea typeface="Microsoft YaHei" pitchFamily="34" charset="-122"/>
              </a:rPr>
              <a:t>表五：低碳禀赋不是结构性治理的充分条件</a:t>
            </a:r>
            <a:endParaRPr lang="en-US" sz="2400" b="1" dirty="0">
              <a:solidFill>
                <a:srgbClr val="32363A"/>
              </a:solidFill>
              <a:latin typeface="Microsoft YaHei" pitchFamily="34" charset="0"/>
              <a:ea typeface="Microsoft YaHei" pitchFamily="34" charset="-122"/>
            </a:endParaRPr>
          </a:p>
        </p:txBody>
      </p:sp>
      <p:sp>
        <p:nvSpPr>
          <p:cNvPr id="10" name="Text 8"/>
          <p:cNvSpPr/>
          <p:nvPr/>
        </p:nvSpPr>
        <p:spPr>
          <a:xfrm>
            <a:off x="530352" y="987552"/>
            <a:ext cx="8778240" cy="256032"/>
          </a:xfrm>
          <a:prstGeom prst="rect">
            <a:avLst/>
          </a:prstGeom>
          <a:noFill/>
          <a:ln/>
        </p:spPr>
        <p:txBody>
          <a:bodyPr wrap="square" lIns="0" tIns="0" rIns="0" bIns="0" rtlCol="0" anchor="ctr"/>
          <a:lstStyle/>
          <a:p>
            <a:pPr marL="0" indent="0">
              <a:buNone/>
            </a:pPr>
            <a:r>
              <a:rPr lang="en-US" sz="1050" dirty="0" err="1">
                <a:solidFill>
                  <a:srgbClr val="6B7280"/>
                </a:solidFill>
                <a:latin typeface="Microsoft YaHei" pitchFamily="34" charset="0"/>
                <a:ea typeface="Microsoft YaHei" pitchFamily="34" charset="-122"/>
              </a:rPr>
              <a:t>后期DDD</a:t>
            </a:r>
            <a:r>
              <a:rPr lang="en-US" sz="1050" u="sng" dirty="0" err="1">
                <a:solidFill>
                  <a:srgbClr val="6B7280"/>
                </a:solidFill>
                <a:latin typeface="Microsoft YaHei" pitchFamily="34" charset="0"/>
                <a:ea typeface="Microsoft YaHei" pitchFamily="34" charset="-122"/>
              </a:rPr>
              <a:t>模型检验高煤炭暴露地区能否借助早期低碳基础进一步形成新能源替代</a:t>
            </a:r>
            <a:r>
              <a:rPr lang="en-US" sz="1050" u="sng" dirty="0">
                <a:solidFill>
                  <a:srgbClr val="6B7280"/>
                </a:solidFill>
                <a:latin typeface="Microsoft YaHei" pitchFamily="34" charset="0"/>
                <a:ea typeface="Microsoft YaHei" pitchFamily="34" charset="-122"/>
              </a:rPr>
              <a:t>。</a:t>
            </a:r>
          </a:p>
        </p:txBody>
      </p:sp>
      <p:sp>
        <p:nvSpPr>
          <p:cNvPr id="11" name="Shape 9"/>
          <p:cNvSpPr/>
          <p:nvPr/>
        </p:nvSpPr>
        <p:spPr>
          <a:xfrm>
            <a:off x="530352" y="1390988"/>
            <a:ext cx="10881360" cy="538828"/>
          </a:xfrm>
          <a:prstGeom prst="roundRect">
            <a:avLst>
              <a:gd name="adj" fmla="val 18750"/>
            </a:avLst>
          </a:prstGeom>
          <a:solidFill>
            <a:srgbClr val="07245E"/>
          </a:solidFill>
          <a:ln w="12700">
            <a:solidFill>
              <a:srgbClr val="07245E"/>
            </a:solidFill>
            <a:prstDash val="solid"/>
          </a:ln>
        </p:spPr>
      </p:sp>
      <p:sp>
        <p:nvSpPr>
          <p:cNvPr id="12" name="Text 10"/>
          <p:cNvSpPr/>
          <p:nvPr/>
        </p:nvSpPr>
        <p:spPr>
          <a:xfrm>
            <a:off x="585216" y="1503617"/>
            <a:ext cx="10771632" cy="137160"/>
          </a:xfrm>
          <a:prstGeom prst="rect">
            <a:avLst/>
          </a:prstGeom>
          <a:noFill/>
          <a:ln/>
        </p:spPr>
        <p:txBody>
          <a:bodyPr wrap="square" lIns="0" tIns="0" rIns="0" bIns="0" rtlCol="0" anchor="ctr"/>
          <a:lstStyle/>
          <a:p>
            <a:pPr marL="0" indent="0">
              <a:buNone/>
            </a:pPr>
            <a:r>
              <a:rPr lang="en-US" sz="1400" b="1" dirty="0" err="1">
                <a:solidFill>
                  <a:srgbClr val="FFFFFF"/>
                </a:solidFill>
                <a:latin typeface="Microsoft YaHei" pitchFamily="34" charset="0"/>
                <a:ea typeface="Microsoft YaHei" pitchFamily="34" charset="-122"/>
              </a:rPr>
              <a:t>表五：结构性治理条件的DDD检验</a:t>
            </a:r>
            <a:endParaRPr lang="en-US" sz="1400" b="1" dirty="0">
              <a:solidFill>
                <a:srgbClr val="FFFFFF"/>
              </a:solidFill>
              <a:latin typeface="Microsoft YaHei" pitchFamily="34" charset="0"/>
              <a:ea typeface="Microsoft YaHei" pitchFamily="34" charset="-122"/>
            </a:endParaRPr>
          </a:p>
        </p:txBody>
      </p:sp>
      <p:graphicFrame>
        <p:nvGraphicFramePr>
          <p:cNvPr id="13" name="Table 0"/>
          <p:cNvGraphicFramePr>
            <a:graphicFrameLocks noGrp="1"/>
          </p:cNvGraphicFramePr>
          <p:nvPr>
            <p:extLst>
              <p:ext uri="{D42A27DB-BD31-4B8C-83A1-F6EECF244321}">
                <p14:modId xmlns:p14="http://schemas.microsoft.com/office/powerpoint/2010/main" val="2916335396"/>
              </p:ext>
            </p:extLst>
          </p:nvPr>
        </p:nvGraphicFramePr>
        <p:xfrm>
          <a:off x="530352" y="1764792"/>
          <a:ext cx="10881360" cy="3044952"/>
        </p:xfrm>
        <a:graphic>
          <a:graphicData uri="http://schemas.openxmlformats.org/drawingml/2006/table">
            <a:tbl>
              <a:tblPr/>
              <a:tblGrid>
                <a:gridCol w="160020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338328">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变量</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非火电发电占比</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风电发电占比</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风光发电占比</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风电装机占比</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38328">
                <a:tc>
                  <a:txBody>
                    <a:bodyPr/>
                    <a:lstStyle/>
                    <a:p>
                      <a:pPr marL="0" indent="0" algn="l">
                        <a:buNone/>
                      </a:pPr>
                      <a:r>
                        <a:rPr lang="en-US" sz="1050" b="1" dirty="0">
                          <a:solidFill>
                            <a:srgbClr val="32363A"/>
                          </a:solidFill>
                          <a:latin typeface="Microsoft YaHei" pitchFamily="34" charset="0"/>
                          <a:ea typeface="Microsoft YaHei" pitchFamily="34" charset="-122"/>
                          <a:cs typeface="Microsoft YaHei" pitchFamily="34" charset="-120"/>
                        </a:rPr>
                        <a:t>后期×煤炭暴露</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6F8FC"/>
                    </a:solidFill>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-0.2231*</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0.0024</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-0.0919</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0.0273</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38328">
                <a:tc>
                  <a:txBody>
                    <a:bodyPr/>
                    <a:lstStyle/>
                    <a:p>
                      <a:pPr marL="0" indent="0" algn="l">
                        <a:buNone/>
                      </a:pPr>
                      <a:r>
                        <a:rPr lang="en-US" sz="1050" dirty="0">
                          <a:solidFill>
                            <a:srgbClr val="32363A"/>
                          </a:solidFill>
                          <a:latin typeface="Microsoft YaHei" pitchFamily="34" charset="0"/>
                          <a:ea typeface="Microsoft YaHei" pitchFamily="34" charset="-122"/>
                          <a:cs typeface="Microsoft YaHei" pitchFamily="34" charset="-120"/>
                        </a:rPr>
                        <a:t>标准误</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(0.1164)</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(0.0240)</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(0.0724)</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(0.0675)</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38328">
                <a:tc>
                  <a:txBody>
                    <a:bodyPr/>
                    <a:lstStyle/>
                    <a:p>
                      <a:pPr marL="0" indent="0" algn="l">
                        <a:buNone/>
                      </a:pPr>
                      <a:r>
                        <a:rPr lang="en-US" sz="1050" b="1" dirty="0">
                          <a:solidFill>
                            <a:srgbClr val="32363A"/>
                          </a:solidFill>
                          <a:latin typeface="Microsoft YaHei" pitchFamily="34" charset="0"/>
                          <a:ea typeface="Microsoft YaHei" pitchFamily="34" charset="-122"/>
                          <a:cs typeface="Microsoft YaHei" pitchFamily="34" charset="-120"/>
                        </a:rPr>
                        <a:t>后期×低碳禀赋</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6F8FC"/>
                    </a:solidFill>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0.1072</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0.0309</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0.0908*</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0.0246</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38328">
                <a:tc>
                  <a:txBody>
                    <a:bodyPr/>
                    <a:lstStyle/>
                    <a:p>
                      <a:pPr marL="0" indent="0" algn="l">
                        <a:buNone/>
                      </a:pPr>
                      <a:r>
                        <a:rPr lang="en-US" sz="1050" dirty="0">
                          <a:solidFill>
                            <a:srgbClr val="32363A"/>
                          </a:solidFill>
                          <a:latin typeface="Microsoft YaHei" pitchFamily="34" charset="0"/>
                          <a:ea typeface="Microsoft YaHei" pitchFamily="34" charset="-122"/>
                          <a:cs typeface="Microsoft YaHei" pitchFamily="34" charset="-120"/>
                        </a:rPr>
                        <a:t>标准误</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(0.0695)</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(0.0182)</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(0.0461)</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(0.0329)</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38328">
                <a:tc>
                  <a:txBody>
                    <a:bodyPr/>
                    <a:lstStyle/>
                    <a:p>
                      <a:pPr marL="0" indent="0" algn="l">
                        <a:buNone/>
                      </a:pPr>
                      <a:r>
                        <a:rPr lang="en-US" sz="1050" b="1" dirty="0">
                          <a:solidFill>
                            <a:srgbClr val="32363A"/>
                          </a:solidFill>
                          <a:latin typeface="Microsoft YaHei" pitchFamily="34" charset="0"/>
                          <a:ea typeface="Microsoft YaHei" pitchFamily="34" charset="-122"/>
                          <a:cs typeface="Microsoft YaHei" pitchFamily="34" charset="-120"/>
                        </a:rPr>
                        <a:t>三重交互项</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6F8FC"/>
                    </a:solidFill>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-0.1757</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-0.0927**</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-0.2363**</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-0.1077</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38328">
                <a:tc>
                  <a:txBody>
                    <a:bodyPr/>
                    <a:lstStyle/>
                    <a:p>
                      <a:pPr marL="0" indent="0" algn="l">
                        <a:buNone/>
                      </a:pPr>
                      <a:r>
                        <a:rPr lang="en-US" sz="1050" dirty="0">
                          <a:solidFill>
                            <a:srgbClr val="32363A"/>
                          </a:solidFill>
                          <a:latin typeface="Microsoft YaHei" pitchFamily="34" charset="0"/>
                          <a:ea typeface="Microsoft YaHei" pitchFamily="34" charset="-122"/>
                          <a:cs typeface="Microsoft YaHei" pitchFamily="34" charset="-120"/>
                        </a:rPr>
                        <a:t>标准误</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(0.1514)</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(0.0402)</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(0.1093)</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(0.0821)</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38328">
                <a:tc>
                  <a:txBody>
                    <a:bodyPr/>
                    <a:lstStyle/>
                    <a:p>
                      <a:pPr marL="0" indent="0" algn="l">
                        <a:buNone/>
                      </a:pPr>
                      <a:r>
                        <a:rPr lang="en-US" sz="1050" dirty="0">
                          <a:solidFill>
                            <a:srgbClr val="32363A"/>
                          </a:solidFill>
                          <a:latin typeface="Microsoft YaHei" pitchFamily="34" charset="0"/>
                          <a:ea typeface="Microsoft YaHei" pitchFamily="34" charset="-122"/>
                          <a:cs typeface="Microsoft YaHei" pitchFamily="34" charset="-120"/>
                        </a:rPr>
                        <a:t>样本量 / R²</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507 / 0.9514</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330 / 0.8916</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330 / 0.8921</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288 / 0.9311</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38328">
                <a:tc>
                  <a:txBody>
                    <a:bodyPr/>
                    <a:lstStyle/>
                    <a:p>
                      <a:pPr marL="0" indent="0" algn="l">
                        <a:buNone/>
                      </a:pPr>
                      <a:r>
                        <a:rPr lang="en-US" sz="1050" dirty="0">
                          <a:solidFill>
                            <a:srgbClr val="32363A"/>
                          </a:solidFill>
                          <a:latin typeface="Microsoft YaHei" pitchFamily="34" charset="0"/>
                          <a:ea typeface="Microsoft YaHei" pitchFamily="34" charset="-122"/>
                          <a:cs typeface="Microsoft YaHei" pitchFamily="34" charset="-120"/>
                        </a:rPr>
                        <a:t>省份/年份FE</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是</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是</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是</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是</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sp>
        <p:nvSpPr>
          <p:cNvPr id="17" name="Text 14"/>
          <p:cNvSpPr/>
          <p:nvPr/>
        </p:nvSpPr>
        <p:spPr>
          <a:xfrm>
            <a:off x="530352" y="4852560"/>
            <a:ext cx="11201400" cy="164592"/>
          </a:xfrm>
          <a:prstGeom prst="rect">
            <a:avLst/>
          </a:prstGeom>
          <a:noFill/>
          <a:ln/>
        </p:spPr>
        <p:txBody>
          <a:bodyPr wrap="square" lIns="0" tIns="0" rIns="0" bIns="0" rtlCol="0" anchor="ctr"/>
          <a:lstStyle/>
          <a:p>
            <a:pPr marL="0" indent="0">
              <a:buNone/>
            </a:pPr>
            <a:r>
              <a:rPr lang="en-US" sz="900" dirty="0">
                <a:solidFill>
                  <a:srgbClr val="6B7280"/>
                </a:solidFill>
                <a:latin typeface="Microsoft YaHei" pitchFamily="34" charset="0"/>
                <a:ea typeface="Microsoft YaHei" pitchFamily="34" charset="-122"/>
                <a:cs typeface="Microsoft YaHei" pitchFamily="34" charset="-120"/>
              </a:rPr>
              <a:t>注：低碳禀赋 = 政策前非火电装机、早期风电装机、早期风电发电三个标准化变量的均值；省份层面的煤炭暴露×低碳禀赋被省份固定效应吸收。</a:t>
            </a:r>
            <a:endParaRPr lang="en-US" sz="900" dirty="0"/>
          </a:p>
        </p:txBody>
      </p:sp>
      <p:sp>
        <p:nvSpPr>
          <p:cNvPr id="18" name="object 21">
            <a:extLst>
              <a:ext uri="{FF2B5EF4-FFF2-40B4-BE49-F238E27FC236}">
                <a16:creationId xmlns:a16="http://schemas.microsoft.com/office/drawing/2014/main" id="{3383DDFE-5ECC-690A-7732-D493FBFDF8A6}"/>
              </a:ext>
            </a:extLst>
          </p:cNvPr>
          <p:cNvSpPr/>
          <p:nvPr/>
        </p:nvSpPr>
        <p:spPr bwMode="auto">
          <a:xfrm>
            <a:off x="10232136" y="-24574"/>
            <a:ext cx="1979930" cy="1491615"/>
          </a:xfrm>
          <a:custGeom>
            <a:avLst/>
            <a:gdLst/>
            <a:ahLst/>
            <a:cxnLst/>
            <a:rect l="l" t="t" r="r" b="b"/>
            <a:pathLst>
              <a:path w="1979929" h="1491615" extrusionOk="0">
                <a:moveTo>
                  <a:pt x="1259903" y="1491615"/>
                </a:moveTo>
                <a:lnTo>
                  <a:pt x="1156551" y="1487437"/>
                </a:lnTo>
                <a:lnTo>
                  <a:pt x="1055500" y="1475121"/>
                </a:lnTo>
                <a:lnTo>
                  <a:pt x="957073" y="1454991"/>
                </a:lnTo>
                <a:lnTo>
                  <a:pt x="861596" y="1427370"/>
                </a:lnTo>
                <a:lnTo>
                  <a:pt x="769393" y="1392584"/>
                </a:lnTo>
                <a:lnTo>
                  <a:pt x="680788" y="1350957"/>
                </a:lnTo>
                <a:lnTo>
                  <a:pt x="596107" y="1302813"/>
                </a:lnTo>
                <a:lnTo>
                  <a:pt x="515689" y="1248488"/>
                </a:lnTo>
                <a:lnTo>
                  <a:pt x="439832" y="1188288"/>
                </a:lnTo>
                <a:lnTo>
                  <a:pt x="368871" y="1122545"/>
                </a:lnTo>
                <a:lnTo>
                  <a:pt x="303132" y="1051583"/>
                </a:lnTo>
                <a:lnTo>
                  <a:pt x="242939" y="975728"/>
                </a:lnTo>
                <a:lnTo>
                  <a:pt x="188617" y="895304"/>
                </a:lnTo>
                <a:lnTo>
                  <a:pt x="140490" y="810635"/>
                </a:lnTo>
                <a:lnTo>
                  <a:pt x="98883" y="722045"/>
                </a:lnTo>
                <a:lnTo>
                  <a:pt x="64120" y="629860"/>
                </a:lnTo>
                <a:lnTo>
                  <a:pt x="36525" y="534403"/>
                </a:lnTo>
                <a:lnTo>
                  <a:pt x="16424" y="435999"/>
                </a:lnTo>
                <a:lnTo>
                  <a:pt x="4141" y="334972"/>
                </a:lnTo>
                <a:lnTo>
                  <a:pt x="0" y="231647"/>
                </a:lnTo>
                <a:lnTo>
                  <a:pt x="4141" y="128269"/>
                </a:lnTo>
                <a:lnTo>
                  <a:pt x="16424" y="27193"/>
                </a:lnTo>
                <a:lnTo>
                  <a:pt x="21977" y="0"/>
                </a:lnTo>
                <a:lnTo>
                  <a:pt x="1979676" y="0"/>
                </a:lnTo>
                <a:lnTo>
                  <a:pt x="1979676" y="1264998"/>
                </a:lnTo>
                <a:lnTo>
                  <a:pt x="1923683" y="1302821"/>
                </a:lnTo>
                <a:lnTo>
                  <a:pt x="1839004" y="1350962"/>
                </a:lnTo>
                <a:lnTo>
                  <a:pt x="1750403" y="1392587"/>
                </a:lnTo>
                <a:lnTo>
                  <a:pt x="1658203" y="1427372"/>
                </a:lnTo>
                <a:lnTo>
                  <a:pt x="1562728" y="1454991"/>
                </a:lnTo>
                <a:lnTo>
                  <a:pt x="1464304" y="1475121"/>
                </a:lnTo>
                <a:lnTo>
                  <a:pt x="1363254" y="1487437"/>
                </a:lnTo>
                <a:lnTo>
                  <a:pt x="1259903" y="1491615"/>
                </a:lnTo>
                <a:close/>
              </a:path>
            </a:pathLst>
          </a:custGeom>
          <a:solidFill>
            <a:srgbClr val="091F5F"/>
          </a:solidFill>
        </p:spPr>
        <p:txBody>
          <a:bodyPr wrap="square" lIns="0" tIns="0" rIns="0" bIns="0" rtlCol="0"/>
          <a:lstStyle/>
          <a:p>
            <a:pPr>
              <a:defRPr/>
            </a:pPr>
            <a:endParaRPr/>
          </a:p>
        </p:txBody>
      </p:sp>
      <p:sp>
        <p:nvSpPr>
          <p:cNvPr id="19" name="object 22">
            <a:extLst>
              <a:ext uri="{FF2B5EF4-FFF2-40B4-BE49-F238E27FC236}">
                <a16:creationId xmlns:a16="http://schemas.microsoft.com/office/drawing/2014/main" id="{65655C23-B363-5EF4-8514-81EFC6BF11A7}"/>
              </a:ext>
            </a:extLst>
          </p:cNvPr>
          <p:cNvSpPr/>
          <p:nvPr/>
        </p:nvSpPr>
        <p:spPr bwMode="auto">
          <a:xfrm>
            <a:off x="9800844" y="233235"/>
            <a:ext cx="878840" cy="879475"/>
          </a:xfrm>
          <a:custGeom>
            <a:avLst/>
            <a:gdLst/>
            <a:ahLst/>
            <a:cxnLst/>
            <a:rect l="l" t="t" r="r" b="b"/>
            <a:pathLst>
              <a:path w="878840" h="879475" extrusionOk="0">
                <a:moveTo>
                  <a:pt x="438975" y="879474"/>
                </a:moveTo>
                <a:lnTo>
                  <a:pt x="367645" y="873719"/>
                </a:lnTo>
                <a:lnTo>
                  <a:pt x="299980" y="857057"/>
                </a:lnTo>
                <a:lnTo>
                  <a:pt x="236889" y="830392"/>
                </a:lnTo>
                <a:lnTo>
                  <a:pt x="179284" y="794631"/>
                </a:lnTo>
                <a:lnTo>
                  <a:pt x="128077" y="750679"/>
                </a:lnTo>
                <a:lnTo>
                  <a:pt x="84181" y="699441"/>
                </a:lnTo>
                <a:lnTo>
                  <a:pt x="48581" y="641975"/>
                </a:lnTo>
                <a:lnTo>
                  <a:pt x="22046" y="578956"/>
                </a:lnTo>
                <a:lnTo>
                  <a:pt x="5548" y="511389"/>
                </a:lnTo>
                <a:lnTo>
                  <a:pt x="0" y="440181"/>
                </a:lnTo>
                <a:lnTo>
                  <a:pt x="1349" y="404053"/>
                </a:lnTo>
                <a:lnTo>
                  <a:pt x="12485" y="334335"/>
                </a:lnTo>
                <a:lnTo>
                  <a:pt x="34115" y="268758"/>
                </a:lnTo>
                <a:lnTo>
                  <a:pt x="65411" y="208101"/>
                </a:lnTo>
                <a:lnTo>
                  <a:pt x="105285" y="153560"/>
                </a:lnTo>
                <a:lnTo>
                  <a:pt x="152918" y="105852"/>
                </a:lnTo>
                <a:lnTo>
                  <a:pt x="207405" y="65882"/>
                </a:lnTo>
                <a:lnTo>
                  <a:pt x="267839" y="34556"/>
                </a:lnTo>
                <a:lnTo>
                  <a:pt x="333310" y="12779"/>
                </a:lnTo>
                <a:lnTo>
                  <a:pt x="402911" y="1457"/>
                </a:lnTo>
                <a:lnTo>
                  <a:pt x="438975" y="0"/>
                </a:lnTo>
                <a:lnTo>
                  <a:pt x="475041" y="1457"/>
                </a:lnTo>
                <a:lnTo>
                  <a:pt x="544655" y="12781"/>
                </a:lnTo>
                <a:lnTo>
                  <a:pt x="610156" y="34563"/>
                </a:lnTo>
                <a:lnTo>
                  <a:pt x="670639" y="65901"/>
                </a:lnTo>
                <a:lnTo>
                  <a:pt x="725196" y="105892"/>
                </a:lnTo>
                <a:lnTo>
                  <a:pt x="772919" y="153634"/>
                </a:lnTo>
                <a:lnTo>
                  <a:pt x="812900" y="208223"/>
                </a:lnTo>
                <a:lnTo>
                  <a:pt x="844156" y="268571"/>
                </a:lnTo>
                <a:lnTo>
                  <a:pt x="865933" y="334062"/>
                </a:lnTo>
                <a:lnTo>
                  <a:pt x="877255" y="403671"/>
                </a:lnTo>
                <a:lnTo>
                  <a:pt x="878713" y="439737"/>
                </a:lnTo>
                <a:lnTo>
                  <a:pt x="877255" y="475803"/>
                </a:lnTo>
                <a:lnTo>
                  <a:pt x="865933" y="545412"/>
                </a:lnTo>
                <a:lnTo>
                  <a:pt x="844156" y="610903"/>
                </a:lnTo>
                <a:lnTo>
                  <a:pt x="812748" y="671495"/>
                </a:lnTo>
                <a:lnTo>
                  <a:pt x="772792" y="725988"/>
                </a:lnTo>
                <a:lnTo>
                  <a:pt x="725101" y="773663"/>
                </a:lnTo>
                <a:lnTo>
                  <a:pt x="670577" y="813611"/>
                </a:lnTo>
                <a:lnTo>
                  <a:pt x="610123" y="844925"/>
                </a:lnTo>
                <a:lnTo>
                  <a:pt x="544642" y="866696"/>
                </a:lnTo>
                <a:lnTo>
                  <a:pt x="475039" y="878017"/>
                </a:lnTo>
                <a:lnTo>
                  <a:pt x="438975" y="879474"/>
                </a:lnTo>
                <a:close/>
              </a:path>
            </a:pathLst>
          </a:custGeom>
          <a:solidFill>
            <a:srgbClr val="091F5F"/>
          </a:solidFill>
        </p:spPr>
        <p:txBody>
          <a:bodyPr wrap="square" lIns="0" tIns="0" rIns="0" bIns="0" rtlCol="0"/>
          <a:lstStyle/>
          <a:p>
            <a:pPr>
              <a:defRPr/>
            </a:pPr>
            <a:endParaRPr/>
          </a:p>
        </p:txBody>
      </p:sp>
      <p:pic>
        <p:nvPicPr>
          <p:cNvPr id="20" name="图片 19">
            <a:extLst>
              <a:ext uri="{FF2B5EF4-FFF2-40B4-BE49-F238E27FC236}">
                <a16:creationId xmlns:a16="http://schemas.microsoft.com/office/drawing/2014/main" id="{7016F9E5-847B-35C4-A5DA-3A78C85946C1}"/>
              </a:ext>
            </a:extLst>
          </p:cNvPr>
          <p:cNvPicPr>
            <a:picLocks noChangeAspect="1"/>
          </p:cNvPicPr>
          <p:nvPr/>
        </p:nvPicPr>
        <p:blipFill>
          <a:blip r:embed="rId3"/>
          <a:stretch/>
        </p:blipFill>
        <p:spPr bwMode="auto">
          <a:xfrm>
            <a:off x="10497121" y="371063"/>
            <a:ext cx="1483997" cy="339652"/>
          </a:xfrm>
          <a:prstGeom prst="rect">
            <a:avLst/>
          </a:prstGeom>
        </p:spPr>
      </p:pic>
      <p:sp>
        <p:nvSpPr>
          <p:cNvPr id="23" name="文本框 22">
            <a:extLst>
              <a:ext uri="{FF2B5EF4-FFF2-40B4-BE49-F238E27FC236}">
                <a16:creationId xmlns:a16="http://schemas.microsoft.com/office/drawing/2014/main" id="{34E63719-71F2-7CE8-3A8A-DD5EC8F23335}"/>
              </a:ext>
            </a:extLst>
          </p:cNvPr>
          <p:cNvSpPr txBox="1"/>
          <p:nvPr/>
        </p:nvSpPr>
        <p:spPr>
          <a:xfrm>
            <a:off x="1112017" y="5183548"/>
            <a:ext cx="9967965" cy="1477328"/>
          </a:xfrm>
          <a:prstGeom prst="rect">
            <a:avLst/>
          </a:prstGeom>
          <a:noFill/>
        </p:spPr>
        <p:txBody>
          <a:bodyPr wrap="square">
            <a:spAutoFit/>
          </a:bodyPr>
          <a:lstStyle/>
          <a:p>
            <a:r>
              <a:rPr lang="zh-CN" altLang="zh-CN" b="1" dirty="0">
                <a:solidFill>
                  <a:srgbClr val="32363A"/>
                </a:solidFill>
                <a:latin typeface="Microsoft YaHei" pitchFamily="34" charset="0"/>
                <a:ea typeface="Microsoft YaHei" pitchFamily="34" charset="-122"/>
              </a:rPr>
              <a:t>低碳禀赋提供了转型基础，但新能源替代能否形成，还取决于当地现有清洁能源基础。</a:t>
            </a:r>
            <a:endParaRPr lang="en-US" altLang="zh-CN" b="1" dirty="0">
              <a:solidFill>
                <a:srgbClr val="32363A"/>
              </a:solidFill>
              <a:latin typeface="Microsoft YaHei" pitchFamily="34" charset="0"/>
              <a:ea typeface="Microsoft YaHei" pitchFamily="34" charset="-122"/>
            </a:endParaRPr>
          </a:p>
          <a:p>
            <a:endParaRPr lang="en-US" altLang="zh-CN" b="1" dirty="0">
              <a:solidFill>
                <a:srgbClr val="32363A"/>
              </a:solidFill>
              <a:latin typeface="Microsoft YaHei" pitchFamily="34" charset="0"/>
              <a:ea typeface="Microsoft YaHei" pitchFamily="34" charset="-122"/>
            </a:endParaRPr>
          </a:p>
          <a:p>
            <a:r>
              <a:rPr lang="zh-CN" altLang="en-US" dirty="0">
                <a:solidFill>
                  <a:srgbClr val="32363A"/>
                </a:solidFill>
                <a:latin typeface="Microsoft YaHei" pitchFamily="34" charset="0"/>
                <a:ea typeface="Microsoft YaHei" pitchFamily="34" charset="-122"/>
              </a:rPr>
              <a:t>表五结果</a:t>
            </a:r>
            <a:r>
              <a:rPr lang="zh-CN" altLang="zh-CN" dirty="0">
                <a:solidFill>
                  <a:srgbClr val="32363A"/>
                </a:solidFill>
                <a:latin typeface="Microsoft YaHei" pitchFamily="34" charset="0"/>
                <a:ea typeface="Microsoft YaHei" pitchFamily="34" charset="-122"/>
              </a:rPr>
              <a:t>显示，低碳禀赋本身与后期风光发电增长存在一定关联，但三重交互项在风电发电和风光发电占比上为负且显著。这个结果说明，早期低碳基础并不会自动转化为高煤炭地区的结构性替代，新能源承接还依赖项目建设、电网消纳、外送通道和政策连续性。</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10896" y="256032"/>
            <a:ext cx="45720" cy="749808"/>
          </a:xfrm>
          <a:prstGeom prst="rect">
            <a:avLst/>
          </a:prstGeom>
          <a:solidFill>
            <a:srgbClr val="07245E"/>
          </a:solidFill>
          <a:ln w="12700">
            <a:solidFill>
              <a:srgbClr val="07245E"/>
            </a:solidFill>
            <a:prstDash val="solid"/>
          </a:ln>
        </p:spPr>
      </p:sp>
      <p:sp>
        <p:nvSpPr>
          <p:cNvPr id="6" name="Text 4"/>
          <p:cNvSpPr/>
          <p:nvPr/>
        </p:nvSpPr>
        <p:spPr>
          <a:xfrm>
            <a:off x="10287000" y="704088"/>
            <a:ext cx="1691640" cy="109728"/>
          </a:xfrm>
          <a:prstGeom prst="rect">
            <a:avLst/>
          </a:prstGeom>
          <a:noFill/>
          <a:ln/>
        </p:spPr>
        <p:txBody>
          <a:bodyPr wrap="square" lIns="0" tIns="0" rIns="0" bIns="0" rtlCol="0" anchor="ctr"/>
          <a:lstStyle/>
          <a:p>
            <a:pPr marL="0" indent="0">
              <a:buNone/>
            </a:pPr>
            <a:r>
              <a:rPr lang="en-US" sz="390" dirty="0">
                <a:solidFill>
                  <a:srgbClr val="FFFFFF"/>
                </a:solidFill>
                <a:latin typeface="Arial" pitchFamily="34" charset="0"/>
                <a:ea typeface="Arial" pitchFamily="34" charset="-122"/>
                <a:cs typeface="Arial" pitchFamily="34" charset="-120"/>
              </a:rPr>
              <a:t>BEIJING FOREIGN STUDIES UNIVERSITY</a:t>
            </a:r>
            <a:endParaRPr lang="en-US" sz="390" dirty="0"/>
          </a:p>
        </p:txBody>
      </p:sp>
      <p:sp>
        <p:nvSpPr>
          <p:cNvPr id="7" name="Text 5"/>
          <p:cNvSpPr/>
          <p:nvPr/>
        </p:nvSpPr>
        <p:spPr>
          <a:xfrm>
            <a:off x="530352" y="256032"/>
            <a:ext cx="3017520" cy="219456"/>
          </a:xfrm>
          <a:prstGeom prst="rect">
            <a:avLst/>
          </a:prstGeom>
          <a:noFill/>
          <a:ln/>
        </p:spPr>
        <p:txBody>
          <a:bodyPr wrap="square" lIns="0" tIns="0" rIns="0" bIns="0" rtlCol="0" anchor="ctr"/>
          <a:lstStyle/>
          <a:p>
            <a:pPr marL="0" indent="0">
              <a:buNone/>
            </a:pPr>
            <a:r>
              <a:rPr lang="en-US" sz="1050" dirty="0">
                <a:solidFill>
                  <a:srgbClr val="32363A"/>
                </a:solidFill>
                <a:latin typeface="Arial" pitchFamily="34" charset="0"/>
                <a:cs typeface="Arial" pitchFamily="34" charset="-120"/>
              </a:rPr>
              <a:t>EMPIRICAL RESULTS / 04</a:t>
            </a:r>
          </a:p>
        </p:txBody>
      </p:sp>
      <p:sp>
        <p:nvSpPr>
          <p:cNvPr id="9" name="Text 7"/>
          <p:cNvSpPr/>
          <p:nvPr/>
        </p:nvSpPr>
        <p:spPr>
          <a:xfrm>
            <a:off x="530352" y="512064"/>
            <a:ext cx="8686800" cy="384048"/>
          </a:xfrm>
          <a:prstGeom prst="rect">
            <a:avLst/>
          </a:prstGeom>
          <a:noFill/>
          <a:ln/>
        </p:spPr>
        <p:txBody>
          <a:bodyPr wrap="square" lIns="0" tIns="0" rIns="0" bIns="0" rtlCol="0" anchor="ctr"/>
          <a:lstStyle/>
          <a:p>
            <a:pPr marL="0" indent="0">
              <a:buNone/>
            </a:pPr>
            <a:r>
              <a:rPr lang="en-US" sz="2400" b="1" dirty="0" err="1">
                <a:solidFill>
                  <a:srgbClr val="32363A"/>
                </a:solidFill>
                <a:latin typeface="Microsoft YaHei" pitchFamily="34" charset="0"/>
                <a:ea typeface="Microsoft YaHei" pitchFamily="34" charset="-122"/>
              </a:rPr>
              <a:t>表六：政策文本证据展示两类地方承接表现</a:t>
            </a:r>
            <a:endParaRPr lang="en-US" sz="2400" b="1" dirty="0">
              <a:solidFill>
                <a:srgbClr val="32363A"/>
              </a:solidFill>
              <a:latin typeface="Microsoft YaHei" pitchFamily="34" charset="0"/>
              <a:ea typeface="Microsoft YaHei" pitchFamily="34" charset="-122"/>
            </a:endParaRPr>
          </a:p>
        </p:txBody>
      </p:sp>
      <p:sp>
        <p:nvSpPr>
          <p:cNvPr id="10" name="Text 8"/>
          <p:cNvSpPr/>
          <p:nvPr/>
        </p:nvSpPr>
        <p:spPr>
          <a:xfrm>
            <a:off x="530352" y="987552"/>
            <a:ext cx="8778240" cy="256032"/>
          </a:xfrm>
          <a:prstGeom prst="rect">
            <a:avLst/>
          </a:prstGeom>
          <a:noFill/>
          <a:ln/>
        </p:spPr>
        <p:txBody>
          <a:bodyPr wrap="square" lIns="0" tIns="0" rIns="0" bIns="0" rtlCol="0" anchor="ctr"/>
          <a:lstStyle/>
          <a:p>
            <a:r>
              <a:rPr lang="en-US" altLang="zh-CN" sz="1050" dirty="0">
                <a:solidFill>
                  <a:srgbClr val="6B7280"/>
                </a:solidFill>
                <a:latin typeface="Microsoft YaHei" pitchFamily="34" charset="0"/>
                <a:ea typeface="Microsoft YaHei" pitchFamily="34" charset="-122"/>
                <a:cs typeface="Microsoft YaHei" pitchFamily="34" charset="-120"/>
              </a:rPr>
              <a:t>先看2012年后两省文本均值，再用回归系数识别内蒙古相对山西的政策后差异。</a:t>
            </a:r>
            <a:endParaRPr lang="en-US" altLang="zh-CN" sz="1050" dirty="0"/>
          </a:p>
        </p:txBody>
      </p:sp>
      <p:sp>
        <p:nvSpPr>
          <p:cNvPr id="12" name="Text 10"/>
          <p:cNvSpPr/>
          <p:nvPr/>
        </p:nvSpPr>
        <p:spPr>
          <a:xfrm>
            <a:off x="652272" y="1413258"/>
            <a:ext cx="11411712" cy="137160"/>
          </a:xfrm>
          <a:prstGeom prst="rect">
            <a:avLst/>
          </a:prstGeom>
          <a:noFill/>
          <a:ln/>
        </p:spPr>
        <p:txBody>
          <a:bodyPr wrap="square" lIns="0" tIns="0" rIns="0" bIns="0" rtlCol="0" anchor="ctr"/>
          <a:lstStyle/>
          <a:p>
            <a:pPr marL="0" indent="0">
              <a:buNone/>
            </a:pPr>
            <a:r>
              <a:rPr lang="en-US" sz="1400" b="1" dirty="0" err="1">
                <a:solidFill>
                  <a:srgbClr val="FFFFFF"/>
                </a:solidFill>
                <a:latin typeface="Microsoft YaHei" pitchFamily="34" charset="0"/>
                <a:ea typeface="Microsoft YaHei" pitchFamily="34" charset="-122"/>
              </a:rPr>
              <a:t>表六：晋蒙政策文本路径差异</a:t>
            </a:r>
            <a:endParaRPr lang="en-US" sz="1400" b="1" dirty="0">
              <a:solidFill>
                <a:srgbClr val="FFFFFF"/>
              </a:solidFill>
              <a:latin typeface="Microsoft YaHei" pitchFamily="34" charset="0"/>
              <a:ea typeface="Microsoft YaHei" pitchFamily="34" charset="-122"/>
            </a:endParaRPr>
          </a:p>
        </p:txBody>
      </p:sp>
      <p:sp>
        <p:nvSpPr>
          <p:cNvPr id="16" name="Text 13"/>
          <p:cNvSpPr/>
          <p:nvPr/>
        </p:nvSpPr>
        <p:spPr>
          <a:xfrm>
            <a:off x="1016508" y="4595824"/>
            <a:ext cx="10158984" cy="1807723"/>
          </a:xfrm>
          <a:prstGeom prst="rect">
            <a:avLst/>
          </a:prstGeom>
          <a:noFill/>
          <a:ln/>
        </p:spPr>
        <p:txBody>
          <a:bodyPr wrap="square" lIns="0" tIns="0" rIns="0" bIns="0" rtlCol="0" anchor="t">
            <a:noAutofit/>
          </a:bodyPr>
          <a:lstStyle/>
          <a:p>
            <a:r>
              <a:rPr lang="zh-CN" altLang="zh-CN" b="1" dirty="0">
                <a:solidFill>
                  <a:srgbClr val="32363A"/>
                </a:solidFill>
                <a:latin typeface="Microsoft YaHei" pitchFamily="34" charset="0"/>
                <a:ea typeface="Microsoft YaHei" pitchFamily="34" charset="-122"/>
              </a:rPr>
              <a:t>晋蒙政策文本</a:t>
            </a:r>
            <a:r>
              <a:rPr lang="zh-CN" altLang="en-US" b="1" dirty="0">
                <a:solidFill>
                  <a:srgbClr val="32363A"/>
                </a:solidFill>
                <a:latin typeface="Microsoft YaHei" pitchFamily="34" charset="0"/>
                <a:ea typeface="Microsoft YaHei" pitchFamily="34" charset="-122"/>
              </a:rPr>
              <a:t>分析</a:t>
            </a:r>
            <a:r>
              <a:rPr lang="zh-CN" altLang="zh-CN" b="1" dirty="0">
                <a:solidFill>
                  <a:srgbClr val="32363A"/>
                </a:solidFill>
                <a:latin typeface="Microsoft YaHei" pitchFamily="34" charset="0"/>
                <a:ea typeface="Microsoft YaHei" pitchFamily="34" charset="-122"/>
              </a:rPr>
              <a:t>显示，同样面对高煤炭约束，不同地区会形成不同的政策承接路径。</a:t>
            </a:r>
            <a:endParaRPr lang="en-US" altLang="zh-CN" b="1" dirty="0">
              <a:solidFill>
                <a:srgbClr val="32363A"/>
              </a:solidFill>
              <a:latin typeface="Microsoft YaHei" pitchFamily="34" charset="0"/>
              <a:ea typeface="Microsoft YaHei" pitchFamily="34" charset="-122"/>
            </a:endParaRPr>
          </a:p>
          <a:p>
            <a:endParaRPr lang="en-US" altLang="zh-CN" b="1" dirty="0">
              <a:solidFill>
                <a:srgbClr val="32363A"/>
              </a:solidFill>
              <a:latin typeface="Microsoft YaHei" pitchFamily="34" charset="0"/>
              <a:ea typeface="Microsoft YaHei" pitchFamily="34" charset="-122"/>
            </a:endParaRPr>
          </a:p>
          <a:p>
            <a:r>
              <a:rPr lang="zh-CN" altLang="en-US" dirty="0">
                <a:solidFill>
                  <a:srgbClr val="32363A"/>
                </a:solidFill>
                <a:latin typeface="Microsoft YaHei" pitchFamily="34" charset="0"/>
                <a:ea typeface="Microsoft YaHei" pitchFamily="34" charset="-122"/>
              </a:rPr>
              <a:t>表六</a:t>
            </a:r>
            <a:r>
              <a:rPr lang="zh-CN" altLang="zh-CN" dirty="0">
                <a:solidFill>
                  <a:srgbClr val="32363A"/>
                </a:solidFill>
                <a:latin typeface="Microsoft YaHei" pitchFamily="34" charset="0"/>
                <a:ea typeface="Microsoft YaHei" pitchFamily="34" charset="-122"/>
              </a:rPr>
              <a:t>用晋蒙政策文本展示两类高煤炭地区的承接路径。2012 年后，内蒙古相对山西在绿色金融和煤炭清洁治理词频、覆盖比例上显著更高，说明内蒙古政策文本中更明显地呈现绿色金融和煤炭清洁治理议程。结合前面的结果，晋蒙差异可以作为地方承接能力和治理路径分化的案例证据：山西更偏存量煤炭体系治理，内蒙古更容易形成绿色金融与能源转型议程的衔接。</a:t>
            </a:r>
            <a:br>
              <a:rPr lang="zh-CN" altLang="zh-CN" b="1" dirty="0">
                <a:solidFill>
                  <a:srgbClr val="32363A"/>
                </a:solidFill>
                <a:latin typeface="Microsoft YaHei" pitchFamily="34" charset="0"/>
                <a:ea typeface="Microsoft YaHei" pitchFamily="34" charset="-122"/>
              </a:rPr>
            </a:br>
            <a:endParaRPr lang="zh-CN" altLang="zh-CN" b="1" dirty="0">
              <a:solidFill>
                <a:srgbClr val="32363A"/>
              </a:solidFill>
              <a:latin typeface="Microsoft YaHei" pitchFamily="34" charset="0"/>
              <a:ea typeface="Microsoft YaHei" pitchFamily="34" charset="-122"/>
            </a:endParaRPr>
          </a:p>
        </p:txBody>
      </p:sp>
      <p:sp>
        <p:nvSpPr>
          <p:cNvPr id="18" name="object 21">
            <a:extLst>
              <a:ext uri="{FF2B5EF4-FFF2-40B4-BE49-F238E27FC236}">
                <a16:creationId xmlns:a16="http://schemas.microsoft.com/office/drawing/2014/main" id="{40815277-50BC-0309-01E5-8795B7EA118E}"/>
              </a:ext>
            </a:extLst>
          </p:cNvPr>
          <p:cNvSpPr/>
          <p:nvPr/>
        </p:nvSpPr>
        <p:spPr bwMode="auto">
          <a:xfrm>
            <a:off x="10232136" y="-28575"/>
            <a:ext cx="1979930" cy="1491615"/>
          </a:xfrm>
          <a:custGeom>
            <a:avLst/>
            <a:gdLst/>
            <a:ahLst/>
            <a:cxnLst/>
            <a:rect l="l" t="t" r="r" b="b"/>
            <a:pathLst>
              <a:path w="1979929" h="1491615" extrusionOk="0">
                <a:moveTo>
                  <a:pt x="1259903" y="1491615"/>
                </a:moveTo>
                <a:lnTo>
                  <a:pt x="1156551" y="1487437"/>
                </a:lnTo>
                <a:lnTo>
                  <a:pt x="1055500" y="1475121"/>
                </a:lnTo>
                <a:lnTo>
                  <a:pt x="957073" y="1454991"/>
                </a:lnTo>
                <a:lnTo>
                  <a:pt x="861596" y="1427370"/>
                </a:lnTo>
                <a:lnTo>
                  <a:pt x="769393" y="1392584"/>
                </a:lnTo>
                <a:lnTo>
                  <a:pt x="680788" y="1350957"/>
                </a:lnTo>
                <a:lnTo>
                  <a:pt x="596107" y="1302813"/>
                </a:lnTo>
                <a:lnTo>
                  <a:pt x="515689" y="1248488"/>
                </a:lnTo>
                <a:lnTo>
                  <a:pt x="439832" y="1188288"/>
                </a:lnTo>
                <a:lnTo>
                  <a:pt x="368871" y="1122545"/>
                </a:lnTo>
                <a:lnTo>
                  <a:pt x="303132" y="1051583"/>
                </a:lnTo>
                <a:lnTo>
                  <a:pt x="242939" y="975728"/>
                </a:lnTo>
                <a:lnTo>
                  <a:pt x="188617" y="895304"/>
                </a:lnTo>
                <a:lnTo>
                  <a:pt x="140490" y="810635"/>
                </a:lnTo>
                <a:lnTo>
                  <a:pt x="98883" y="722045"/>
                </a:lnTo>
                <a:lnTo>
                  <a:pt x="64120" y="629860"/>
                </a:lnTo>
                <a:lnTo>
                  <a:pt x="36525" y="534403"/>
                </a:lnTo>
                <a:lnTo>
                  <a:pt x="16424" y="435999"/>
                </a:lnTo>
                <a:lnTo>
                  <a:pt x="4141" y="334972"/>
                </a:lnTo>
                <a:lnTo>
                  <a:pt x="0" y="231647"/>
                </a:lnTo>
                <a:lnTo>
                  <a:pt x="4141" y="128269"/>
                </a:lnTo>
                <a:lnTo>
                  <a:pt x="16424" y="27193"/>
                </a:lnTo>
                <a:lnTo>
                  <a:pt x="21977" y="0"/>
                </a:lnTo>
                <a:lnTo>
                  <a:pt x="1979676" y="0"/>
                </a:lnTo>
                <a:lnTo>
                  <a:pt x="1979676" y="1264998"/>
                </a:lnTo>
                <a:lnTo>
                  <a:pt x="1923683" y="1302821"/>
                </a:lnTo>
                <a:lnTo>
                  <a:pt x="1839004" y="1350962"/>
                </a:lnTo>
                <a:lnTo>
                  <a:pt x="1750403" y="1392587"/>
                </a:lnTo>
                <a:lnTo>
                  <a:pt x="1658203" y="1427372"/>
                </a:lnTo>
                <a:lnTo>
                  <a:pt x="1562728" y="1454991"/>
                </a:lnTo>
                <a:lnTo>
                  <a:pt x="1464304" y="1475121"/>
                </a:lnTo>
                <a:lnTo>
                  <a:pt x="1363254" y="1487437"/>
                </a:lnTo>
                <a:lnTo>
                  <a:pt x="1259903" y="1491615"/>
                </a:lnTo>
                <a:close/>
              </a:path>
            </a:pathLst>
          </a:custGeom>
          <a:solidFill>
            <a:srgbClr val="091F5F"/>
          </a:solidFill>
        </p:spPr>
        <p:txBody>
          <a:bodyPr wrap="square" lIns="0" tIns="0" rIns="0" bIns="0" rtlCol="0"/>
          <a:lstStyle/>
          <a:p>
            <a:pPr>
              <a:defRPr/>
            </a:pPr>
            <a:endParaRPr/>
          </a:p>
        </p:txBody>
      </p:sp>
      <p:sp>
        <p:nvSpPr>
          <p:cNvPr id="19" name="object 22">
            <a:extLst>
              <a:ext uri="{FF2B5EF4-FFF2-40B4-BE49-F238E27FC236}">
                <a16:creationId xmlns:a16="http://schemas.microsoft.com/office/drawing/2014/main" id="{3A07E23D-178C-26A9-6CFA-62A9508C6973}"/>
              </a:ext>
            </a:extLst>
          </p:cNvPr>
          <p:cNvSpPr/>
          <p:nvPr/>
        </p:nvSpPr>
        <p:spPr bwMode="auto">
          <a:xfrm>
            <a:off x="9800844" y="229234"/>
            <a:ext cx="878840" cy="879475"/>
          </a:xfrm>
          <a:custGeom>
            <a:avLst/>
            <a:gdLst/>
            <a:ahLst/>
            <a:cxnLst/>
            <a:rect l="l" t="t" r="r" b="b"/>
            <a:pathLst>
              <a:path w="878840" h="879475" extrusionOk="0">
                <a:moveTo>
                  <a:pt x="438975" y="879474"/>
                </a:moveTo>
                <a:lnTo>
                  <a:pt x="367645" y="873719"/>
                </a:lnTo>
                <a:lnTo>
                  <a:pt x="299980" y="857057"/>
                </a:lnTo>
                <a:lnTo>
                  <a:pt x="236889" y="830392"/>
                </a:lnTo>
                <a:lnTo>
                  <a:pt x="179284" y="794631"/>
                </a:lnTo>
                <a:lnTo>
                  <a:pt x="128077" y="750679"/>
                </a:lnTo>
                <a:lnTo>
                  <a:pt x="84181" y="699441"/>
                </a:lnTo>
                <a:lnTo>
                  <a:pt x="48581" y="641975"/>
                </a:lnTo>
                <a:lnTo>
                  <a:pt x="22046" y="578956"/>
                </a:lnTo>
                <a:lnTo>
                  <a:pt x="5548" y="511389"/>
                </a:lnTo>
                <a:lnTo>
                  <a:pt x="0" y="440181"/>
                </a:lnTo>
                <a:lnTo>
                  <a:pt x="1349" y="404053"/>
                </a:lnTo>
                <a:lnTo>
                  <a:pt x="12485" y="334335"/>
                </a:lnTo>
                <a:lnTo>
                  <a:pt x="34115" y="268758"/>
                </a:lnTo>
                <a:lnTo>
                  <a:pt x="65411" y="208101"/>
                </a:lnTo>
                <a:lnTo>
                  <a:pt x="105285" y="153560"/>
                </a:lnTo>
                <a:lnTo>
                  <a:pt x="152918" y="105852"/>
                </a:lnTo>
                <a:lnTo>
                  <a:pt x="207405" y="65882"/>
                </a:lnTo>
                <a:lnTo>
                  <a:pt x="267839" y="34556"/>
                </a:lnTo>
                <a:lnTo>
                  <a:pt x="333310" y="12779"/>
                </a:lnTo>
                <a:lnTo>
                  <a:pt x="402911" y="1457"/>
                </a:lnTo>
                <a:lnTo>
                  <a:pt x="438975" y="0"/>
                </a:lnTo>
                <a:lnTo>
                  <a:pt x="475041" y="1457"/>
                </a:lnTo>
                <a:lnTo>
                  <a:pt x="544655" y="12781"/>
                </a:lnTo>
                <a:lnTo>
                  <a:pt x="610156" y="34563"/>
                </a:lnTo>
                <a:lnTo>
                  <a:pt x="670639" y="65901"/>
                </a:lnTo>
                <a:lnTo>
                  <a:pt x="725196" y="105892"/>
                </a:lnTo>
                <a:lnTo>
                  <a:pt x="772919" y="153634"/>
                </a:lnTo>
                <a:lnTo>
                  <a:pt x="812900" y="208223"/>
                </a:lnTo>
                <a:lnTo>
                  <a:pt x="844156" y="268571"/>
                </a:lnTo>
                <a:lnTo>
                  <a:pt x="865933" y="334062"/>
                </a:lnTo>
                <a:lnTo>
                  <a:pt x="877255" y="403671"/>
                </a:lnTo>
                <a:lnTo>
                  <a:pt x="878713" y="439737"/>
                </a:lnTo>
                <a:lnTo>
                  <a:pt x="877255" y="475803"/>
                </a:lnTo>
                <a:lnTo>
                  <a:pt x="865933" y="545412"/>
                </a:lnTo>
                <a:lnTo>
                  <a:pt x="844156" y="610903"/>
                </a:lnTo>
                <a:lnTo>
                  <a:pt x="812748" y="671495"/>
                </a:lnTo>
                <a:lnTo>
                  <a:pt x="772792" y="725988"/>
                </a:lnTo>
                <a:lnTo>
                  <a:pt x="725101" y="773663"/>
                </a:lnTo>
                <a:lnTo>
                  <a:pt x="670577" y="813611"/>
                </a:lnTo>
                <a:lnTo>
                  <a:pt x="610123" y="844925"/>
                </a:lnTo>
                <a:lnTo>
                  <a:pt x="544642" y="866696"/>
                </a:lnTo>
                <a:lnTo>
                  <a:pt x="475039" y="878017"/>
                </a:lnTo>
                <a:lnTo>
                  <a:pt x="438975" y="879474"/>
                </a:lnTo>
                <a:close/>
              </a:path>
            </a:pathLst>
          </a:custGeom>
          <a:solidFill>
            <a:srgbClr val="091F5F"/>
          </a:solidFill>
        </p:spPr>
        <p:txBody>
          <a:bodyPr wrap="square" lIns="0" tIns="0" rIns="0" bIns="0" rtlCol="0"/>
          <a:lstStyle/>
          <a:p>
            <a:pPr>
              <a:defRPr/>
            </a:pPr>
            <a:endParaRPr/>
          </a:p>
        </p:txBody>
      </p:sp>
      <p:pic>
        <p:nvPicPr>
          <p:cNvPr id="20" name="图片 19">
            <a:extLst>
              <a:ext uri="{FF2B5EF4-FFF2-40B4-BE49-F238E27FC236}">
                <a16:creationId xmlns:a16="http://schemas.microsoft.com/office/drawing/2014/main" id="{46C8C39B-270D-03F5-2C3E-08079FD43793}"/>
              </a:ext>
            </a:extLst>
          </p:cNvPr>
          <p:cNvPicPr>
            <a:picLocks noChangeAspect="1"/>
          </p:cNvPicPr>
          <p:nvPr/>
        </p:nvPicPr>
        <p:blipFill>
          <a:blip r:embed="rId3"/>
          <a:stretch/>
        </p:blipFill>
        <p:spPr bwMode="auto">
          <a:xfrm>
            <a:off x="10497121" y="367062"/>
            <a:ext cx="1483997" cy="339652"/>
          </a:xfrm>
          <a:prstGeom prst="rect">
            <a:avLst/>
          </a:prstGeom>
        </p:spPr>
      </p:pic>
      <p:sp>
        <p:nvSpPr>
          <p:cNvPr id="21" name="Shape 9">
            <a:extLst>
              <a:ext uri="{FF2B5EF4-FFF2-40B4-BE49-F238E27FC236}">
                <a16:creationId xmlns:a16="http://schemas.microsoft.com/office/drawing/2014/main" id="{8F4D1FDD-0134-D217-7546-62850F891AD7}"/>
              </a:ext>
            </a:extLst>
          </p:cNvPr>
          <p:cNvSpPr/>
          <p:nvPr/>
        </p:nvSpPr>
        <p:spPr>
          <a:xfrm>
            <a:off x="652272" y="1301534"/>
            <a:ext cx="10616184" cy="409133"/>
          </a:xfrm>
          <a:prstGeom prst="roundRect">
            <a:avLst>
              <a:gd name="adj" fmla="val 18750"/>
            </a:avLst>
          </a:prstGeom>
          <a:solidFill>
            <a:srgbClr val="07245E"/>
          </a:solidFill>
          <a:ln w="12700">
            <a:solidFill>
              <a:srgbClr val="07245E"/>
            </a:solidFill>
            <a:prstDash val="solid"/>
          </a:ln>
        </p:spPr>
      </p:sp>
      <p:sp>
        <p:nvSpPr>
          <p:cNvPr id="22" name="Text 10">
            <a:extLst>
              <a:ext uri="{FF2B5EF4-FFF2-40B4-BE49-F238E27FC236}">
                <a16:creationId xmlns:a16="http://schemas.microsoft.com/office/drawing/2014/main" id="{1864C1E6-CCFB-5844-7E2B-F2917D6D3ED0}"/>
              </a:ext>
            </a:extLst>
          </p:cNvPr>
          <p:cNvSpPr/>
          <p:nvPr/>
        </p:nvSpPr>
        <p:spPr>
          <a:xfrm>
            <a:off x="762000" y="1424802"/>
            <a:ext cx="11192256" cy="137160"/>
          </a:xfrm>
          <a:prstGeom prst="rect">
            <a:avLst/>
          </a:prstGeom>
          <a:noFill/>
          <a:ln/>
        </p:spPr>
        <p:txBody>
          <a:bodyPr wrap="square" lIns="0" tIns="0" rIns="0" bIns="0" rtlCol="0" anchor="ctr"/>
          <a:lstStyle/>
          <a:p>
            <a:pPr marL="0" indent="0">
              <a:buNone/>
            </a:pPr>
            <a:r>
              <a:rPr lang="en-US" sz="1400" b="1" dirty="0">
                <a:solidFill>
                  <a:srgbClr val="FFFFFF"/>
                </a:solidFill>
                <a:latin typeface="Microsoft YaHei" pitchFamily="34" charset="0"/>
                <a:ea typeface="Microsoft YaHei" pitchFamily="34" charset="-122"/>
              </a:rPr>
              <a:t>表六A：2012年后晋蒙政策文本均值</a:t>
            </a:r>
          </a:p>
        </p:txBody>
      </p:sp>
      <p:graphicFrame>
        <p:nvGraphicFramePr>
          <p:cNvPr id="23" name="Table 0">
            <a:extLst>
              <a:ext uri="{FF2B5EF4-FFF2-40B4-BE49-F238E27FC236}">
                <a16:creationId xmlns:a16="http://schemas.microsoft.com/office/drawing/2014/main" id="{9237EC4F-D301-AED5-A44F-BED437D2C3A3}"/>
              </a:ext>
            </a:extLst>
          </p:cNvPr>
          <p:cNvGraphicFramePr>
            <a:graphicFrameLocks noGrp="1"/>
          </p:cNvGraphicFramePr>
          <p:nvPr>
            <p:extLst>
              <p:ext uri="{D42A27DB-BD31-4B8C-83A1-F6EECF244321}">
                <p14:modId xmlns:p14="http://schemas.microsoft.com/office/powerpoint/2010/main" val="3439957416"/>
              </p:ext>
            </p:extLst>
          </p:nvPr>
        </p:nvGraphicFramePr>
        <p:xfrm>
          <a:off x="652272" y="1674091"/>
          <a:ext cx="10616187" cy="1078992"/>
        </p:xfrm>
        <a:graphic>
          <a:graphicData uri="http://schemas.openxmlformats.org/drawingml/2006/table">
            <a:tbl>
              <a:tblPr/>
              <a:tblGrid>
                <a:gridCol w="1049171">
                  <a:extLst>
                    <a:ext uri="{9D8B030D-6E8A-4147-A177-3AD203B41FA5}">
                      <a16:colId xmlns:a16="http://schemas.microsoft.com/office/drawing/2014/main" val="20000"/>
                    </a:ext>
                  </a:extLst>
                </a:gridCol>
                <a:gridCol w="1049171">
                  <a:extLst>
                    <a:ext uri="{9D8B030D-6E8A-4147-A177-3AD203B41FA5}">
                      <a16:colId xmlns:a16="http://schemas.microsoft.com/office/drawing/2014/main" val="20001"/>
                    </a:ext>
                  </a:extLst>
                </a:gridCol>
                <a:gridCol w="1049171">
                  <a:extLst>
                    <a:ext uri="{9D8B030D-6E8A-4147-A177-3AD203B41FA5}">
                      <a16:colId xmlns:a16="http://schemas.microsoft.com/office/drawing/2014/main" val="20002"/>
                    </a:ext>
                  </a:extLst>
                </a:gridCol>
                <a:gridCol w="1404822">
                  <a:extLst>
                    <a:ext uri="{9D8B030D-6E8A-4147-A177-3AD203B41FA5}">
                      <a16:colId xmlns:a16="http://schemas.microsoft.com/office/drawing/2014/main" val="20003"/>
                    </a:ext>
                  </a:extLst>
                </a:gridCol>
                <a:gridCol w="1404822">
                  <a:extLst>
                    <a:ext uri="{9D8B030D-6E8A-4147-A177-3AD203B41FA5}">
                      <a16:colId xmlns:a16="http://schemas.microsoft.com/office/drawing/2014/main" val="20004"/>
                    </a:ext>
                  </a:extLst>
                </a:gridCol>
                <a:gridCol w="1049171">
                  <a:extLst>
                    <a:ext uri="{9D8B030D-6E8A-4147-A177-3AD203B41FA5}">
                      <a16:colId xmlns:a16="http://schemas.microsoft.com/office/drawing/2014/main" val="20005"/>
                    </a:ext>
                  </a:extLst>
                </a:gridCol>
                <a:gridCol w="1049171">
                  <a:extLst>
                    <a:ext uri="{9D8B030D-6E8A-4147-A177-3AD203B41FA5}">
                      <a16:colId xmlns:a16="http://schemas.microsoft.com/office/drawing/2014/main" val="20006"/>
                    </a:ext>
                  </a:extLst>
                </a:gridCol>
                <a:gridCol w="1280344">
                  <a:extLst>
                    <a:ext uri="{9D8B030D-6E8A-4147-A177-3AD203B41FA5}">
                      <a16:colId xmlns:a16="http://schemas.microsoft.com/office/drawing/2014/main" val="20007"/>
                    </a:ext>
                  </a:extLst>
                </a:gridCol>
                <a:gridCol w="1280344">
                  <a:extLst>
                    <a:ext uri="{9D8B030D-6E8A-4147-A177-3AD203B41FA5}">
                      <a16:colId xmlns:a16="http://schemas.microsoft.com/office/drawing/2014/main" val="20008"/>
                    </a:ext>
                  </a:extLst>
                </a:gridCol>
              </a:tblGrid>
              <a:tr h="359664">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省份</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绿金词频</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绿金覆盖</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煤炭清洁词频</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煤炭清洁覆盖</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污染词频</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污染覆盖</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新能源词频</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新能源覆盖</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59664">
                <a:tc>
                  <a:txBody>
                    <a:bodyPr/>
                    <a:lstStyle/>
                    <a:p>
                      <a:pPr marL="0" indent="0" algn="l">
                        <a:buNone/>
                      </a:pPr>
                      <a:r>
                        <a:rPr lang="en-US" sz="1050" b="1" dirty="0">
                          <a:solidFill>
                            <a:srgbClr val="32363A"/>
                          </a:solidFill>
                          <a:latin typeface="Microsoft YaHei" pitchFamily="34" charset="0"/>
                          <a:ea typeface="Microsoft YaHei" pitchFamily="34" charset="-122"/>
                          <a:cs typeface="Microsoft YaHei" pitchFamily="34" charset="-120"/>
                        </a:rPr>
                        <a:t>山西</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6F8FC"/>
                    </a:solidFill>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0.3420</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0.0880</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7.6351</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0.2193</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2.2880</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0.1459</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2.6417</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0.1346</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59664">
                <a:tc>
                  <a:txBody>
                    <a:bodyPr/>
                    <a:lstStyle/>
                    <a:p>
                      <a:pPr marL="0" indent="0" algn="l">
                        <a:buNone/>
                      </a:pPr>
                      <a:r>
                        <a:rPr lang="en-US" sz="1050" b="1" dirty="0">
                          <a:solidFill>
                            <a:srgbClr val="32363A"/>
                          </a:solidFill>
                          <a:latin typeface="Microsoft YaHei" pitchFamily="34" charset="0"/>
                          <a:ea typeface="Microsoft YaHei" pitchFamily="34" charset="-122"/>
                          <a:cs typeface="Microsoft YaHei" pitchFamily="34" charset="-120"/>
                        </a:rPr>
                        <a:t>内蒙古</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8FC"/>
                    </a:solidFill>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0.6212</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0.1083</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3.3468</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0.1530</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1.6384</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0.1030</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4.3503</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0.1276</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24" name="Shape 11">
            <a:extLst>
              <a:ext uri="{FF2B5EF4-FFF2-40B4-BE49-F238E27FC236}">
                <a16:creationId xmlns:a16="http://schemas.microsoft.com/office/drawing/2014/main" id="{4A2B5EE2-4278-2623-9DE7-6A2896BD2CFA}"/>
              </a:ext>
            </a:extLst>
          </p:cNvPr>
          <p:cNvSpPr/>
          <p:nvPr/>
        </p:nvSpPr>
        <p:spPr>
          <a:xfrm>
            <a:off x="652272" y="2837817"/>
            <a:ext cx="10616184" cy="367155"/>
          </a:xfrm>
          <a:prstGeom prst="roundRect">
            <a:avLst>
              <a:gd name="adj" fmla="val 18750"/>
            </a:avLst>
          </a:prstGeom>
          <a:solidFill>
            <a:srgbClr val="07245E"/>
          </a:solidFill>
          <a:ln w="12700">
            <a:solidFill>
              <a:srgbClr val="07245E"/>
            </a:solidFill>
            <a:prstDash val="solid"/>
          </a:ln>
        </p:spPr>
      </p:sp>
      <p:sp>
        <p:nvSpPr>
          <p:cNvPr id="25" name="Text 12">
            <a:extLst>
              <a:ext uri="{FF2B5EF4-FFF2-40B4-BE49-F238E27FC236}">
                <a16:creationId xmlns:a16="http://schemas.microsoft.com/office/drawing/2014/main" id="{29D73A0E-B49A-87D1-BC84-DD364F581C10}"/>
              </a:ext>
            </a:extLst>
          </p:cNvPr>
          <p:cNvSpPr/>
          <p:nvPr/>
        </p:nvSpPr>
        <p:spPr>
          <a:xfrm>
            <a:off x="762000" y="2952814"/>
            <a:ext cx="11192256" cy="137160"/>
          </a:xfrm>
          <a:prstGeom prst="rect">
            <a:avLst/>
          </a:prstGeom>
          <a:noFill/>
          <a:ln/>
        </p:spPr>
        <p:txBody>
          <a:bodyPr wrap="square" lIns="0" tIns="0" rIns="0" bIns="0" rtlCol="0" anchor="ctr"/>
          <a:lstStyle/>
          <a:p>
            <a:pPr marL="0" indent="0">
              <a:buNone/>
            </a:pPr>
            <a:r>
              <a:rPr lang="en-US" sz="1400" b="1" dirty="0" err="1">
                <a:solidFill>
                  <a:srgbClr val="FFFFFF"/>
                </a:solidFill>
                <a:latin typeface="Microsoft YaHei" pitchFamily="34" charset="0"/>
                <a:ea typeface="Microsoft YaHei" pitchFamily="34" charset="-122"/>
              </a:rPr>
              <a:t>表六B：内蒙古相对山西的政策后差异</a:t>
            </a:r>
            <a:endParaRPr lang="en-US" sz="1400" b="1" dirty="0">
              <a:solidFill>
                <a:srgbClr val="FFFFFF"/>
              </a:solidFill>
              <a:latin typeface="Microsoft YaHei" pitchFamily="34" charset="0"/>
              <a:ea typeface="Microsoft YaHei" pitchFamily="34" charset="-122"/>
            </a:endParaRPr>
          </a:p>
        </p:txBody>
      </p:sp>
      <p:graphicFrame>
        <p:nvGraphicFramePr>
          <p:cNvPr id="26" name="Table 1">
            <a:extLst>
              <a:ext uri="{FF2B5EF4-FFF2-40B4-BE49-F238E27FC236}">
                <a16:creationId xmlns:a16="http://schemas.microsoft.com/office/drawing/2014/main" id="{DFEB4D0D-A1F2-C95C-43BD-89964ADB323C}"/>
              </a:ext>
            </a:extLst>
          </p:cNvPr>
          <p:cNvGraphicFramePr>
            <a:graphicFrameLocks noGrp="1"/>
          </p:cNvGraphicFramePr>
          <p:nvPr>
            <p:extLst>
              <p:ext uri="{D42A27DB-BD31-4B8C-83A1-F6EECF244321}">
                <p14:modId xmlns:p14="http://schemas.microsoft.com/office/powerpoint/2010/main" val="1314667971"/>
              </p:ext>
            </p:extLst>
          </p:nvPr>
        </p:nvGraphicFramePr>
        <p:xfrm>
          <a:off x="652272" y="3172969"/>
          <a:ext cx="10616184" cy="1051560"/>
        </p:xfrm>
        <a:graphic>
          <a:graphicData uri="http://schemas.openxmlformats.org/drawingml/2006/table">
            <a:tbl>
              <a:tblPr/>
              <a:tblGrid>
                <a:gridCol w="1325880">
                  <a:extLst>
                    <a:ext uri="{9D8B030D-6E8A-4147-A177-3AD203B41FA5}">
                      <a16:colId xmlns:a16="http://schemas.microsoft.com/office/drawing/2014/main" val="20000"/>
                    </a:ext>
                  </a:extLst>
                </a:gridCol>
                <a:gridCol w="1024128">
                  <a:extLst>
                    <a:ext uri="{9D8B030D-6E8A-4147-A177-3AD203B41FA5}">
                      <a16:colId xmlns:a16="http://schemas.microsoft.com/office/drawing/2014/main" val="20001"/>
                    </a:ext>
                  </a:extLst>
                </a:gridCol>
                <a:gridCol w="1024128">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24128">
                  <a:extLst>
                    <a:ext uri="{9D8B030D-6E8A-4147-A177-3AD203B41FA5}">
                      <a16:colId xmlns:a16="http://schemas.microsoft.com/office/drawing/2014/main" val="20005"/>
                    </a:ext>
                  </a:extLst>
                </a:gridCol>
                <a:gridCol w="1024128">
                  <a:extLst>
                    <a:ext uri="{9D8B030D-6E8A-4147-A177-3AD203B41FA5}">
                      <a16:colId xmlns:a16="http://schemas.microsoft.com/office/drawing/2014/main" val="20006"/>
                    </a:ext>
                  </a:extLst>
                </a:gridCol>
                <a:gridCol w="1225296">
                  <a:extLst>
                    <a:ext uri="{9D8B030D-6E8A-4147-A177-3AD203B41FA5}">
                      <a16:colId xmlns:a16="http://schemas.microsoft.com/office/drawing/2014/main" val="20007"/>
                    </a:ext>
                  </a:extLst>
                </a:gridCol>
                <a:gridCol w="1225296">
                  <a:extLst>
                    <a:ext uri="{9D8B030D-6E8A-4147-A177-3AD203B41FA5}">
                      <a16:colId xmlns:a16="http://schemas.microsoft.com/office/drawing/2014/main" val="20008"/>
                    </a:ext>
                  </a:extLst>
                </a:gridCol>
              </a:tblGrid>
              <a:tr h="350520">
                <a:tc>
                  <a:txBody>
                    <a:bodyPr/>
                    <a:lstStyle/>
                    <a:p>
                      <a:pPr marL="0" indent="0" algn="ctr">
                        <a:buNone/>
                      </a:pPr>
                      <a:r>
                        <a:rPr lang="en-US" sz="1050" b="1" dirty="0">
                          <a:solidFill>
                            <a:srgbClr val="32363A"/>
                          </a:solidFill>
                          <a:latin typeface="Microsoft YaHei" pitchFamily="34" charset="0"/>
                          <a:ea typeface="Microsoft YaHei" pitchFamily="34" charset="-122"/>
                          <a:cs typeface="+mn-cs"/>
                        </a:rPr>
                        <a:t>变量</a:t>
                      </a:r>
                      <a:endParaRPr lang="en-US" sz="1050" dirty="0">
                        <a:latin typeface="Microsoft YaHei" charset="0"/>
                        <a:ea typeface="Microsoft YaHei" charset="0"/>
                        <a:cs typeface="+mn-cs"/>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n-cs"/>
                        </a:rPr>
                        <a:t>绿金词频</a:t>
                      </a:r>
                      <a:endParaRPr lang="en-US" sz="1050" dirty="0">
                        <a:latin typeface="Microsoft YaHei" charset="0"/>
                        <a:ea typeface="Microsoft YaHei" charset="0"/>
                        <a:cs typeface="+mn-cs"/>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绿金覆盖</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煤炭清洁词频</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煤炭清洁覆盖</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污染词频</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污染覆盖</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新能源词频</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a:buNone/>
                      </a:pPr>
                      <a:r>
                        <a:rPr lang="en-US" sz="1050" b="1" dirty="0">
                          <a:solidFill>
                            <a:srgbClr val="32363A"/>
                          </a:solidFill>
                          <a:latin typeface="Microsoft YaHei" pitchFamily="34" charset="0"/>
                          <a:ea typeface="Microsoft YaHei" pitchFamily="34" charset="-122"/>
                          <a:cs typeface="Microsoft YaHei" pitchFamily="34" charset="-120"/>
                        </a:rPr>
                        <a:t>新能源覆盖</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50520">
                <a:tc>
                  <a:txBody>
                    <a:bodyPr/>
                    <a:lstStyle/>
                    <a:p>
                      <a:pPr marL="0" indent="0" algn="l">
                        <a:buNone/>
                      </a:pPr>
                      <a:r>
                        <a:rPr lang="en-US" sz="1050" b="1" dirty="0">
                          <a:solidFill>
                            <a:srgbClr val="32363A"/>
                          </a:solidFill>
                          <a:latin typeface="Microsoft YaHei" pitchFamily="34" charset="0"/>
                          <a:ea typeface="Microsoft YaHei" pitchFamily="34" charset="-122"/>
                          <a:cs typeface="+mn-cs"/>
                        </a:rPr>
                        <a:t>内蒙古×2012后</a:t>
                      </a:r>
                      <a:endParaRPr lang="en-US" sz="1050" dirty="0">
                        <a:latin typeface="Microsoft YaHei" charset="0"/>
                        <a:ea typeface="Microsoft YaHei" charset="0"/>
                        <a:cs typeface="+mn-cs"/>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solidFill>
                      <a:srgbClr val="F6F8FC"/>
                    </a:solidFill>
                  </a:tcPr>
                </a:tc>
                <a:tc>
                  <a:txBody>
                    <a:bodyPr/>
                    <a:lstStyle/>
                    <a:p>
                      <a:pPr marL="0" indent="0" algn="ctr">
                        <a:buNone/>
                      </a:pPr>
                      <a:r>
                        <a:rPr lang="en-US" sz="1050" dirty="0">
                          <a:solidFill>
                            <a:srgbClr val="32363A"/>
                          </a:solidFill>
                          <a:latin typeface="Microsoft YaHei" pitchFamily="34" charset="0"/>
                          <a:ea typeface="Microsoft YaHei" pitchFamily="34" charset="-122"/>
                          <a:cs typeface="+mn-cs"/>
                        </a:rPr>
                        <a:t>0.3062*</a:t>
                      </a:r>
                      <a:endParaRPr lang="en-US" sz="1050" dirty="0">
                        <a:latin typeface="Microsoft YaHei" charset="0"/>
                        <a:ea typeface="Microsoft YaHei" charset="0"/>
                        <a:cs typeface="+mn-cs"/>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0.0382**</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9.3511***</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0.1361***</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0.1263</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0.0299</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1.2466</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0.0102</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571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50520">
                <a:tc>
                  <a:txBody>
                    <a:bodyPr/>
                    <a:lstStyle/>
                    <a:p>
                      <a:pPr marL="0" indent="0" algn="l">
                        <a:buNone/>
                      </a:pPr>
                      <a:r>
                        <a:rPr lang="en-US" sz="1050" dirty="0">
                          <a:solidFill>
                            <a:srgbClr val="32363A"/>
                          </a:solidFill>
                          <a:latin typeface="Microsoft YaHei" pitchFamily="34" charset="0"/>
                          <a:ea typeface="Microsoft YaHei" pitchFamily="34" charset="-122"/>
                          <a:cs typeface="+mn-cs"/>
                        </a:rPr>
                        <a:t>标准误</a:t>
                      </a:r>
                      <a:endParaRPr lang="en-US" sz="1050" dirty="0">
                        <a:latin typeface="Microsoft YaHei" charset="0"/>
                        <a:ea typeface="Microsoft YaHei" charset="0"/>
                        <a:cs typeface="+mn-cs"/>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n-cs"/>
                        </a:rPr>
                        <a:t>(0.1577)</a:t>
                      </a:r>
                      <a:endParaRPr lang="en-US" sz="1050" dirty="0">
                        <a:latin typeface="Microsoft YaHei" charset="0"/>
                        <a:ea typeface="Microsoft YaHei" charset="0"/>
                        <a:cs typeface="+mn-cs"/>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(0.0145)</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(2.4313)</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(0.0398)</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(0.7338)</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(0.0203)</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(1.6355)</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50" dirty="0">
                          <a:solidFill>
                            <a:srgbClr val="32363A"/>
                          </a:solidFill>
                          <a:latin typeface="Microsoft YaHei" pitchFamily="34" charset="0"/>
                          <a:ea typeface="Microsoft YaHei" pitchFamily="34" charset="-122"/>
                          <a:cs typeface="Microsoft YaHei" pitchFamily="34" charset="-120"/>
                        </a:rPr>
                        <a:t>(0.0167)</a:t>
                      </a:r>
                      <a:endParaRPr lang="en-US" sz="1050" dirty="0">
                        <a:latin typeface="Microsoft YaHei" charset="0"/>
                        <a:ea typeface="Microsoft YaHei" charset="0"/>
                        <a:cs typeface="Microsoft YaHei" charset="0"/>
                      </a:endParaRPr>
                    </a:p>
                  </a:txBody>
                  <a:tcPr marL="18288" marR="18288" marT="18288" marB="18288" anchor="ctr">
                    <a:lnL w="5715" cap="flat" cmpd="sng" algn="ctr">
                      <a:noFill/>
                      <a:prstDash val="solid"/>
                      <a:round/>
                      <a:headEnd type="none" w="med" len="med"/>
                      <a:tailEnd type="none" w="med" len="med"/>
                    </a:lnL>
                    <a:lnR w="5715" cap="flat" cmpd="sng" algn="ctr">
                      <a:noFill/>
                      <a:prstDash val="solid"/>
                      <a:round/>
                      <a:headEnd type="none" w="med" len="med"/>
                      <a:tailEnd type="none" w="med" len="med"/>
                    </a:lnR>
                    <a:lnT w="571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27" name="Text 8">
            <a:extLst>
              <a:ext uri="{FF2B5EF4-FFF2-40B4-BE49-F238E27FC236}">
                <a16:creationId xmlns:a16="http://schemas.microsoft.com/office/drawing/2014/main" id="{A2FE661B-59B9-84B7-7547-5A1948108A27}"/>
              </a:ext>
            </a:extLst>
          </p:cNvPr>
          <p:cNvSpPr/>
          <p:nvPr/>
        </p:nvSpPr>
        <p:spPr>
          <a:xfrm>
            <a:off x="682752" y="1139952"/>
            <a:ext cx="8778240" cy="256032"/>
          </a:xfrm>
          <a:prstGeom prst="rect">
            <a:avLst/>
          </a:prstGeom>
          <a:noFill/>
          <a:ln/>
        </p:spPr>
        <p:txBody>
          <a:bodyPr wrap="square" lIns="0" tIns="0" rIns="0" bIns="0" rtlCol="0" anchor="ctr"/>
          <a:lstStyle/>
          <a:p>
            <a:pPr marL="0" indent="0">
              <a:buNone/>
            </a:pP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912</Words>
  <Application>Microsoft Macintosh PowerPoint</Application>
  <PresentationFormat>宽屏</PresentationFormat>
  <Paragraphs>241</Paragraphs>
  <Slides>4</Slides>
  <Notes>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4</vt:i4>
      </vt:variant>
    </vt:vector>
  </HeadingPairs>
  <TitlesOfParts>
    <vt:vector size="7" baseType="lpstr">
      <vt:lpstr>Microsoft YaHei</vt:lpstr>
      <vt:lpstr>Arial</vt:lpstr>
      <vt:lpstr>Office Theme</vt:lpstr>
      <vt:lpstr>PowerPoint 演示文稿</vt:lpstr>
      <vt:lpstr>PowerPoint 演示文稿</vt:lpstr>
      <vt:lpstr>PowerPoint 演示文稿</vt:lpstr>
      <vt:lpstr>PowerPoint 演示文稿</vt:lpstr>
    </vt:vector>
  </TitlesOfParts>
  <Company>CUFE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实证结果汇报</dc:title>
  <dc:subject>绿色信贷实证结果汇报</dc:subject>
  <dc:creator>Codex</dc:creator>
  <cp:lastModifiedBy>娄满榆</cp:lastModifiedBy>
  <cp:revision>2</cp:revision>
  <dcterms:created xsi:type="dcterms:W3CDTF">2026-05-28T14:47:19Z</dcterms:created>
  <dcterms:modified xsi:type="dcterms:W3CDTF">2026-05-28T15:28:59Z</dcterms:modified>
</cp:coreProperties>
</file>